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y="6858000" cx="12192000"/>
  <p:notesSz cx="6858000" cy="12192000"/>
  <p:embeddedFontLst>
    <p:embeddedFont>
      <p:font typeface="Figtree"/>
      <p:regular r:id="rId26"/>
      <p:bold r:id="rId27"/>
      <p:italic r:id="rId28"/>
      <p:boldItalic r:id="rId29"/>
    </p:embeddedFont>
    <p:embeddedFont>
      <p:font typeface="DM Sans"/>
      <p:regular r:id="rId30"/>
      <p:bold r:id="rId31"/>
      <p:italic r:id="rId32"/>
      <p:boldItalic r:id="rId33"/>
    </p:embeddedFont>
    <p:embeddedFont>
      <p:font typeface="DM Mono"/>
      <p:regular r:id="rId34"/>
      <p: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Figtree-regular.fntdata"/><Relationship Id="rId25" Type="http://schemas.openxmlformats.org/officeDocument/2006/relationships/slide" Target="slides/slide21.xml"/><Relationship Id="rId28" Type="http://schemas.openxmlformats.org/officeDocument/2006/relationships/font" Target="fonts/Figtree-italic.fntdata"/><Relationship Id="rId27" Type="http://schemas.openxmlformats.org/officeDocument/2006/relationships/font" Target="fonts/Figtree-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Figtree-bold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DMSans-bold.fntdata"/><Relationship Id="rId30" Type="http://schemas.openxmlformats.org/officeDocument/2006/relationships/font" Target="fonts/DMSans-regular.fntdata"/><Relationship Id="rId11" Type="http://schemas.openxmlformats.org/officeDocument/2006/relationships/slide" Target="slides/slide7.xml"/><Relationship Id="rId33" Type="http://schemas.openxmlformats.org/officeDocument/2006/relationships/font" Target="fonts/DMSans-boldItalic.fntdata"/><Relationship Id="rId10" Type="http://schemas.openxmlformats.org/officeDocument/2006/relationships/slide" Target="slides/slide6.xml"/><Relationship Id="rId32" Type="http://schemas.openxmlformats.org/officeDocument/2006/relationships/font" Target="fonts/DMSans-italic.fntdata"/><Relationship Id="rId13" Type="http://schemas.openxmlformats.org/officeDocument/2006/relationships/slide" Target="slides/slide9.xml"/><Relationship Id="rId35" Type="http://schemas.openxmlformats.org/officeDocument/2006/relationships/font" Target="fonts/DMMono-italic.fntdata"/><Relationship Id="rId12" Type="http://schemas.openxmlformats.org/officeDocument/2006/relationships/slide" Target="slides/slide8.xml"/><Relationship Id="rId34" Type="http://schemas.openxmlformats.org/officeDocument/2006/relationships/font" Target="fonts/DMMono-regular.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olo.io"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 Hello everyone my name is Akshay .. And I am a developer.. I first started </a:t>
            </a:r>
            <a:r>
              <a:rPr lang="en-US"/>
              <a:t>coding</a:t>
            </a:r>
            <a:r>
              <a:rPr lang="en-US"/>
              <a:t> in my school in the 2000’s.. BASIC was the first </a:t>
            </a:r>
            <a:r>
              <a:rPr lang="en-US"/>
              <a:t>language</a:t>
            </a:r>
            <a:r>
              <a:rPr lang="en-US"/>
              <a:t> i learnt to code in.. In college I did my Computer Engineering .. Learnt C C++ Java..  we coded using reference books , manuals and used floppy disks I don’t know how many of u </a:t>
            </a:r>
            <a:r>
              <a:rPr lang="en-US"/>
              <a:t>remember</a:t>
            </a:r>
            <a:r>
              <a:rPr lang="en-US"/>
              <a:t> that.. Fast forward a </a:t>
            </a:r>
            <a:r>
              <a:rPr lang="en-US"/>
              <a:t>decade </a:t>
            </a:r>
            <a:r>
              <a:rPr lang="en-US"/>
              <a:t> I started coding professionally at work.. And Google was our source of truth.. We Googled everything.. If we were stuck we’d post things on Stack Overflow… Get insulted.. Then copy paste the answer and pray.” Mime two-finger typing, squinting. “For almost 20 years, nothing really changed.. I wrote code by hand .. like an animal… But then 2020 came along.. And we all know what </a:t>
            </a:r>
            <a:r>
              <a:rPr lang="en-US"/>
              <a:t>happened</a:t>
            </a:r>
            <a:r>
              <a:rPr lang="en-US"/>
              <a:t> then.. COVID!! Things changed dramatically.. Well not really  we still did exact same thing.. from home.. . Just without pants.. Pants had become extinct from my life…  </a:t>
            </a:r>
            <a:br>
              <a:rPr lang="en-US"/>
            </a:br>
            <a:r>
              <a:rPr lang="en-US"/>
              <a:t>fast forward to 2026</a:t>
            </a:r>
            <a:endParaRPr/>
          </a:p>
        </p:txBody>
      </p:sp>
      <p:sp>
        <p:nvSpPr>
          <p:cNvPr id="34" name="Google Shape;3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“Then AI changed everything. In 2026  I dont  write code anymore. I write  vibes. ‘Make it better.’ ‘Make it enterprise.’ I’m managing dozens of  agents, and none of them sleep.” “One kept failing, so it suggested: ‘Just keep retrying until it works.’ Genius. Merged.” TOKENMAXXING FTW Sound cue 2: fast-forward, 8–10 seconds of fast-motion work, freeze. “Productivity: off the charts. Tokens: also off the charts.”</a:t>
            </a:r>
            <a:endParaRPr/>
          </a:p>
        </p:txBody>
      </p:sp>
      <p:sp>
        <p:nvSpPr>
          <p:cNvPr id="60" name="Google Shape;6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Scene 4 (2:15–3:00). And then I got a ping from Rob .. our CFO… </a:t>
            </a:r>
            <a:endParaRPr/>
          </a:p>
          <a:p>
            <a:pPr indent="0" lvl="0" marL="0" rtl="0" algn="l">
              <a:spcBef>
                <a:spcPts val="0"/>
              </a:spcBef>
              <a:spcAft>
                <a:spcPts val="0"/>
              </a:spcAft>
              <a:buNone/>
            </a:pPr>
            <a:r>
              <a:rPr lang="en-US"/>
              <a:t>Sound cue 3: Slack knock. Read it out: “Who is ‘fulfillment-agent’ and why did it make forty thousand requests last night?” Beat. “…I don’t know her.”</a:t>
            </a:r>
            <a:endParaRPr/>
          </a:p>
        </p:txBody>
      </p:sp>
      <p:sp>
        <p:nvSpPr>
          <p:cNvPr id="82" name="Google Shape;8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Sound cue 4: second Slack knock. Read: “Effective immediately: no more tokens.” To the audience: “Rob had seen the  invoice and taken the one things that mattered the most to me in my life.. TOKENS”</a:t>
            </a:r>
            <a:endParaRPr/>
          </a:p>
        </p:txBody>
      </p:sp>
      <p:sp>
        <p:nvSpPr>
          <p:cNvPr id="98" name="Google Shape;9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 types on the laptop. “No no no. I was this close. ” Claude was just finishing a </a:t>
            </a:r>
            <a:r>
              <a:rPr lang="en-US"/>
              <a:t>feature</a:t>
            </a:r>
            <a:r>
              <a:rPr lang="en-US"/>
              <a:t> for me and my keys were revoked…   To the sky: “WHY.. WHY  CAN’T I HAVE MORE TOKENS, ROB?!” Advance to the title slide and collapse into the chair.</a:t>
            </a:r>
            <a:endParaRPr/>
          </a:p>
        </p:txBody>
      </p:sp>
      <p:sp>
        <p:nvSpPr>
          <p:cNvPr id="109" name="Google Shape;10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title line lands here. Akshay collapses. Handoff (3:00–3:30): Kas walks over, picks up the laptop. Kas: “Rob sent me.” Akshay (from the floor): “Is he going to give me my tokens back?” Kas: “He’s going to give you a budget.” Akshay: “That’s worse.” Kas, to the audience: “Rob’s fix was to revoke the key. Now nobody can work, including the people who weren’t burning money. Let’s do this properly.”</a:t>
            </a:r>
            <a:endParaRPr/>
          </a:p>
        </p:txBody>
      </p:sp>
      <p:sp>
        <p:nvSpPr>
          <p:cNvPr id="118" name="Google Shape;11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Kas takes over: Who spent all the tokens last </a:t>
            </a:r>
            <a:r>
              <a:rPr lang="en-US"/>
              <a:t>month</a:t>
            </a:r>
            <a:r>
              <a:rPr lang="en-US"/>
              <a:t>? For most teams the invoice is the first place they find out..</a:t>
            </a:r>
            <a:br>
              <a:rPr lang="en-US"/>
            </a:br>
            <a:br>
              <a:rPr lang="en-US"/>
            </a:br>
            <a:r>
              <a:rPr lang="en-US"/>
              <a:t> Akshay points at the invoice: “That’s the one Rob sent me.” Kas: shared keys, nobody knows who spent what, and finance finds out from the invoice a month later.</a:t>
            </a:r>
            <a:endParaRPr/>
          </a:p>
        </p:txBody>
      </p:sp>
      <p:sp>
        <p:nvSpPr>
          <p:cNvPr id="127" name="Google Shape;12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Kas: Without a gateway, provider keys live in every tool and nothing stops a runaway loop. With agentgateway, every person and agent gets one key, every request is owned and priced, and budgets are enforced in one place.</a:t>
            </a:r>
            <a:br>
              <a:rPr lang="en-US"/>
            </a:br>
            <a:br>
              <a:rPr lang="en-US"/>
            </a:br>
            <a:r>
              <a:rPr lang="en-US"/>
              <a:t>Akshay: What is the agentgateway that you speak of?</a:t>
            </a:r>
            <a:endParaRPr/>
          </a:p>
        </p:txBody>
      </p:sp>
      <p:sp>
        <p:nvSpPr>
          <p:cNvPr id="153" name="Google Shape;15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Kas:  Agentgateway is an open-source LLM MCP A2A gateway, written in Rust. It does inference routing for models you host, an LLM gateway with every major provider behind one API, MCP and A2A for tools and agents with auth and filtering, and a regular API gateway for HTTP and gRPC. Why it was built: traditional gateways put the basics first and bolted AI on; the new AI gateways put AI first and left the basics for later. agentgateway does both from day one, built by the kgateway team at </a:t>
            </a:r>
            <a:r>
              <a:rPr lang="en-US" u="sng">
                <a:solidFill>
                  <a:schemeClr val="hlink"/>
                </a:solidFill>
                <a:hlinkClick r:id="rId2"/>
              </a:rPr>
              <a:t>Solo.io</a:t>
            </a:r>
            <a:r>
              <a:rPr lang="en-US"/>
              <a:t>.</a:t>
            </a:r>
            <a:br>
              <a:rPr lang="en-US"/>
            </a:br>
            <a:br>
              <a:rPr lang="en-US"/>
            </a:br>
            <a:r>
              <a:rPr lang="en-US"/>
              <a:t>Akshay: Interesting.. But why should i use agentgateway ? There are so many other gateways out there ?</a:t>
            </a:r>
            <a:endParaRPr/>
          </a:p>
        </p:txBody>
      </p:sp>
      <p:sp>
        <p:nvSpPr>
          <p:cNvPr id="177" name="Google Shape;17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br>
              <a:rPr lang="en-US"/>
            </a:br>
            <a:r>
              <a:rPr lang="en-US"/>
              <a:t>Kas:. One: one control point for every kind of AI traffic, so you don’t run separate stacks for LLMs, MCP, agents and APIs. Two: it’s built like a production gateway, in Rust, by the team behind kgateway. Three, and pointing at the highlighted card: it’s open and vendor-neutral. Right now we have over 500 </a:t>
            </a:r>
            <a:r>
              <a:rPr lang="en-US"/>
              <a:t>contributors</a:t>
            </a:r>
            <a:r>
              <a:rPr lang="en-US"/>
              <a:t>.. From over 130 different companies contributing to the project.. That is the power of open source..  Then turn to Akshay: “Akshay, do you know about the AAIF?”</a:t>
            </a:r>
            <a:endParaRPr/>
          </a:p>
        </p:txBody>
      </p:sp>
      <p:sp>
        <p:nvSpPr>
          <p:cNvPr id="183" name="Google Shape;18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Akshay: Oh yes I do know about the Agentic AI Foundation. The Linux Foundation launched it in December 2025 as a neutral home for agentic AI. Founding projects: Anthropic’s MCP, OpenAI’s AGENTS.md, Block’s goose. So is agw part of it too?</a:t>
            </a:r>
            <a:br>
              <a:rPr lang="en-US"/>
            </a:br>
            <a:br>
              <a:rPr lang="en-US"/>
            </a:br>
            <a:r>
              <a:rPr lang="en-US"/>
              <a:t> Kas: Yes this year agentgateway joined as its fourth hosted project. Why it matters: one, it’s neutral, governed in the open, so nobody can change the license on you. Two, it sits next to the standards it handles: MCP, A2A and every provider API run through the gateway. Three, look who’s in the room: AWS, Google, Microsoft, Anthropic, OpenAI, Cloudflare and Bloomberg.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Akshay:  “Rob would love this. Neutral governance means no vendor lock-in. That’s the only open-source sentence he understands.</a:t>
            </a:r>
            <a:br>
              <a:rPr lang="en-US"/>
            </a:br>
            <a:r>
              <a:rPr lang="en-US"/>
              <a:t>Enough with the slides. Talk is cheap.. Can you pls show me this in action and also to the folks sitting here.. “</a:t>
            </a:r>
            <a:endParaRPr/>
          </a:p>
        </p:txBody>
      </p:sp>
      <p:sp>
        <p:nvSpPr>
          <p:cNvPr id="204" name="Google Shape;20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Kas introduces the demo.. . Kas: “Everything you’re about to see is in this repo. It runs on a local Kubernetes cluster with a mock LLM, so it costs nothing.” Then: “Let’s look at the agents.”</a:t>
            </a:r>
            <a:endParaRPr/>
          </a:p>
        </p:txBody>
      </p:sp>
      <p:sp>
        <p:nvSpPr>
          <p:cNvPr id="210" name="Google Shape;21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Demo (7:00–17:00). Kas drives Acme Agent and Mission Control; Akshay reacts. Beat 1: show the retry-forever commit (“Mine. The AI wrote it. I just approved it.”). Beat 2: Run locally, direct; fast-forward sound cue 5; Kill process. Beat 3: Route through agentgateway. Beat 4: Apply budget policy. Beat 5: Run again, 429; Akshay repeats “WHY CAN’T I HAVE MORE TOKENS, ROB?!” then “…that’s actually fair.” Beat 6: open the dashboard. “Can I see who spent the most?” “You.” Don’t click the Rob · CFO badge on stage: it opens the operator panel.</a:t>
            </a:r>
            <a:endParaRPr/>
          </a:p>
        </p:txBody>
      </p:sp>
      <p:sp>
        <p:nvSpPr>
          <p:cNvPr id="224" name="Google Shape;22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Akshay,: “Look, I came in here angry. I’ll be honest, I’m still a little angry. But here’s what changed for me.” Read the three before/after rows in your own words. “And I still get my agents. I just get them with a ceiling.” Kas: “That’s the developer’s side. Here’s Rob’s.”</a:t>
            </a:r>
            <a:endParaRPr/>
          </a:p>
        </p:txBody>
      </p:sp>
      <p:sp>
        <p:nvSpPr>
          <p:cNvPr id="255" name="Google Shape;25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Kas talks about what else agw can </a:t>
            </a:r>
            <a:r>
              <a:rPr lang="en-US"/>
              <a:t>provide</a:t>
            </a:r>
            <a:r>
              <a:rPr lang="en-US"/>
              <a:t>..  The demo showed routing and budgets; this names the rest. Akshay on allow-lists: “Rob put me on the mini models.” Then Akshay: “So Rob gets the receipts, I keep my agents, and the 2 a.m. loop gets stopped before the invoice shows up.”</a:t>
            </a:r>
            <a:endParaRPr/>
          </a:p>
        </p:txBody>
      </p:sp>
      <p:sp>
        <p:nvSpPr>
          <p:cNvPr id="276" name="Google Shape;27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Kas: “Your gateway should know your bill before your CFO does.” Then Akshay starts to wrap up: “So the lesson is: route through the gateway, get a budget, and never run out of tokens again.” Kas: “Actually, Akshay, you can use zero tokens.” Akshay: “Zero? How?” Advance on Kas’s answer.</a:t>
            </a:r>
            <a:endParaRPr/>
          </a:p>
        </p:txBody>
      </p:sp>
      <p:sp>
        <p:nvSpPr>
          <p:cNvPr id="300" name="Google Shape;30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Kas taps own head: “Use your brain.” Akshay looks at the audience, horrified. “…Thank you, we’ll take questions.” Q&amp;A runs 20:00–25:00.</a:t>
            </a:r>
            <a:endParaRPr/>
          </a:p>
        </p:txBody>
      </p:sp>
      <p:sp>
        <p:nvSpPr>
          <p:cNvPr id="309" name="Google Shape;30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Leave this up during Q&amp;A so people can scan it. Ask the audience to fill in the feedback form before they leave.</a:t>
            </a:r>
            <a:endParaRPr/>
          </a:p>
        </p:txBody>
      </p:sp>
      <p:sp>
        <p:nvSpPr>
          <p:cNvPr id="330" name="Google Shape;33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h7b7551a3bd29d0d1_1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h7b7551a3bd29d0d1_1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Leave this up during Q&amp;A so people can scan it. Ask the audience to fill in the feedback form before they leave.</a:t>
            </a:r>
            <a:endParaRPr/>
          </a:p>
        </p:txBody>
      </p:sp>
      <p:sp>
        <p:nvSpPr>
          <p:cNvPr id="343" name="Google Shape;343;h7b7551a3bd29d0d1_1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h7b7551a3bd29d0d1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h7b7551a3bd29d0d1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Leave this up during Q&amp;A so people can scan it. Ask the audience to fill in the feedback form before they leave.</a:t>
            </a:r>
            <a:endParaRPr/>
          </a:p>
        </p:txBody>
      </p:sp>
      <p:sp>
        <p:nvSpPr>
          <p:cNvPr id="356" name="Google Shape;356;h7b7551a3bd29d0d1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jpg"/><Relationship Id="rId4" Type="http://schemas.openxmlformats.org/officeDocument/2006/relationships/image" Target="../media/image25.png"/><Relationship Id="rId5" Type="http://schemas.openxmlformats.org/officeDocument/2006/relationships/image" Target="../media/image9.png"/><Relationship Id="rId6" Type="http://schemas.openxmlformats.org/officeDocument/2006/relationships/image" Target="../media/image21.png"/><Relationship Id="rId7"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9.png"/><Relationship Id="rId9"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29.png"/><Relationship Id="rId7" Type="http://schemas.openxmlformats.org/officeDocument/2006/relationships/image" Target="../media/image7.png"/><Relationship Id="rId8" Type="http://schemas.openxmlformats.org/officeDocument/2006/relationships/hyperlink" Target="http://drive.google.com/file/d/1z_3by5921VLeAaees4yU5ly8M4QBW24s/view"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0.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jp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7.png"/><Relationship Id="rId4" Type="http://schemas.openxmlformats.org/officeDocument/2006/relationships/image" Target="../media/image25.png"/><Relationship Id="rId5"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jpg"/><Relationship Id="rId4" Type="http://schemas.openxmlformats.org/officeDocument/2006/relationships/image" Target="../media/image28.png"/><Relationship Id="rId5"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jp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4.png"/><Relationship Id="rId4" Type="http://schemas.openxmlformats.org/officeDocument/2006/relationships/image" Target="../media/image33.png"/><Relationship Id="rId5" Type="http://schemas.openxmlformats.org/officeDocument/2006/relationships/image" Target="../media/image41.png"/><Relationship Id="rId6" Type="http://schemas.openxmlformats.org/officeDocument/2006/relationships/image" Target="../media/image39.png"/><Relationship Id="rId7"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2.jp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jpg"/><Relationship Id="rId4" Type="http://schemas.openxmlformats.org/officeDocument/2006/relationships/image" Target="../media/image38.png"/><Relationship Id="rId9" Type="http://schemas.openxmlformats.org/officeDocument/2006/relationships/image" Target="../media/image7.png"/><Relationship Id="rId5" Type="http://schemas.openxmlformats.org/officeDocument/2006/relationships/image" Target="../media/image46.png"/><Relationship Id="rId6" Type="http://schemas.openxmlformats.org/officeDocument/2006/relationships/image" Target="../media/image42.png"/><Relationship Id="rId7" Type="http://schemas.openxmlformats.org/officeDocument/2006/relationships/image" Target="../media/image43.png"/><Relationship Id="rId8" Type="http://schemas.openxmlformats.org/officeDocument/2006/relationships/image" Target="../media/image4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jpg"/><Relationship Id="rId4" Type="http://schemas.openxmlformats.org/officeDocument/2006/relationships/image" Target="../media/image7.png"/><Relationship Id="rId5" Type="http://schemas.openxmlformats.org/officeDocument/2006/relationships/image" Target="../media/image4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2.jpg"/><Relationship Id="rId4" Type="http://schemas.openxmlformats.org/officeDocument/2006/relationships/image" Target="../media/image7.png"/><Relationship Id="rId5" Type="http://schemas.openxmlformats.org/officeDocument/2006/relationships/image" Target="../media/image4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2.jpg"/><Relationship Id="rId4" Type="http://schemas.openxmlformats.org/officeDocument/2006/relationships/image" Target="../media/image45.png"/><Relationship Id="rId5"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0E27"/>
        </a:solidFill>
      </p:bgPr>
    </p:bg>
    <p:spTree>
      <p:nvGrpSpPr>
        <p:cNvPr id="15" name="Shape 15"/>
        <p:cNvGrpSpPr/>
        <p:nvPr/>
      </p:nvGrpSpPr>
      <p:grpSpPr>
        <a:xfrm>
          <a:off x="0" y="0"/>
          <a:ext cx="0" cy="0"/>
          <a:chOff x="0" y="0"/>
          <a:chExt cx="0" cy="0"/>
        </a:xfrm>
      </p:grpSpPr>
      <p:pic>
        <p:nvPicPr>
          <p:cNvPr id="16" name="Google Shape;16;p3"/>
          <p:cNvPicPr preferRelativeResize="0"/>
          <p:nvPr/>
        </p:nvPicPr>
        <p:blipFill rotWithShape="1">
          <a:blip r:embed="rId3">
            <a:alphaModFix/>
          </a:blip>
          <a:srcRect b="0" l="87" r="87" t="0"/>
          <a:stretch/>
        </p:blipFill>
        <p:spPr>
          <a:xfrm>
            <a:off x="0" y="0"/>
            <a:ext cx="12192000" cy="6858000"/>
          </a:xfrm>
          <a:prstGeom prst="rect">
            <a:avLst/>
          </a:prstGeom>
          <a:noFill/>
          <a:ln>
            <a:noFill/>
          </a:ln>
        </p:spPr>
      </p:pic>
      <p:sp>
        <p:nvSpPr>
          <p:cNvPr id="17" name="Google Shape;17;p3"/>
          <p:cNvSpPr/>
          <p:nvPr/>
        </p:nvSpPr>
        <p:spPr>
          <a:xfrm>
            <a:off x="812800" y="711200"/>
            <a:ext cx="10883392" cy="2742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98BFF"/>
              </a:buClr>
              <a:buSzPts val="1400"/>
              <a:buFont typeface="DM Mono"/>
              <a:buNone/>
            </a:pPr>
            <a:r>
              <a:rPr b="0" i="0" lang="en-US" sz="1400" u="none" cap="none" strike="noStrike">
                <a:solidFill>
                  <a:srgbClr val="B98BFF"/>
                </a:solidFill>
                <a:latin typeface="DM Mono"/>
                <a:ea typeface="DM Mono"/>
                <a:cs typeface="DM Mono"/>
                <a:sym typeface="DM Mono"/>
              </a:rPr>
              <a:t>Cloud Native AI Summit APAC · Melbourne · October 2026</a:t>
            </a:r>
            <a:endParaRPr b="0" i="0" sz="1400" u="none" cap="none" strike="noStrike">
              <a:solidFill>
                <a:schemeClr val="dk1"/>
              </a:solidFill>
              <a:latin typeface="Calibri"/>
              <a:ea typeface="Calibri"/>
              <a:cs typeface="Calibri"/>
              <a:sym typeface="Calibri"/>
            </a:endParaRPr>
          </a:p>
        </p:txBody>
      </p:sp>
      <p:pic>
        <p:nvPicPr>
          <p:cNvPr descr="agentgateway logo" id="18" name="Google Shape;18;p3"/>
          <p:cNvPicPr preferRelativeResize="0"/>
          <p:nvPr/>
        </p:nvPicPr>
        <p:blipFill rotWithShape="1">
          <a:blip r:embed="rId4">
            <a:alphaModFix/>
          </a:blip>
          <a:srcRect b="-96" l="0" r="0" t="-96"/>
          <a:stretch/>
        </p:blipFill>
        <p:spPr>
          <a:xfrm>
            <a:off x="812800" y="1137841"/>
            <a:ext cx="3302000" cy="495300"/>
          </a:xfrm>
          <a:prstGeom prst="rect">
            <a:avLst/>
          </a:prstGeom>
          <a:noFill/>
          <a:ln>
            <a:noFill/>
          </a:ln>
        </p:spPr>
      </p:pic>
      <p:sp>
        <p:nvSpPr>
          <p:cNvPr id="19" name="Google Shape;19;p3"/>
          <p:cNvSpPr/>
          <p:nvPr/>
        </p:nvSpPr>
        <p:spPr>
          <a:xfrm>
            <a:off x="812800" y="1810941"/>
            <a:ext cx="10883392" cy="1412081"/>
          </a:xfrm>
          <a:prstGeom prst="rect">
            <a:avLst/>
          </a:prstGeom>
          <a:noFill/>
          <a:ln>
            <a:noFill/>
          </a:ln>
        </p:spPr>
        <p:txBody>
          <a:bodyPr anchorCtr="0" anchor="t" bIns="0" lIns="0" spcFirstLastPara="1" rIns="0" wrap="square" tIns="0">
            <a:noAutofit/>
          </a:bodyPr>
          <a:lstStyle/>
          <a:p>
            <a:pPr indent="0" lvl="0" marL="0" marR="0" rtl="0" algn="l">
              <a:lnSpc>
                <a:spcPct val="87500"/>
              </a:lnSpc>
              <a:spcBef>
                <a:spcPts val="0"/>
              </a:spcBef>
              <a:spcAft>
                <a:spcPts val="0"/>
              </a:spcAft>
              <a:buClr>
                <a:srgbClr val="F4F2FA"/>
              </a:buClr>
              <a:buSzPts val="5200"/>
              <a:buFont typeface="Figtree"/>
              <a:buNone/>
            </a:pPr>
            <a:r>
              <a:rPr b="0" i="0" lang="en-US" sz="5200" u="none" cap="none" strike="noStrike">
                <a:solidFill>
                  <a:srgbClr val="F4F2FA"/>
                </a:solidFill>
                <a:latin typeface="Figtree"/>
                <a:ea typeface="Figtree"/>
                <a:cs typeface="Figtree"/>
                <a:sym typeface="Figtree"/>
              </a:rPr>
              <a:t>Why Can’t I Have More Tokens, Rob?</a:t>
            </a:r>
            <a:endParaRPr b="0" i="0" sz="5200" u="none" cap="none" strike="noStrike">
              <a:solidFill>
                <a:schemeClr val="dk1"/>
              </a:solidFill>
              <a:latin typeface="Calibri"/>
              <a:ea typeface="Calibri"/>
              <a:cs typeface="Calibri"/>
              <a:sym typeface="Calibri"/>
            </a:endParaRPr>
          </a:p>
        </p:txBody>
      </p:sp>
      <p:sp>
        <p:nvSpPr>
          <p:cNvPr id="20" name="Google Shape;20;p3"/>
          <p:cNvSpPr/>
          <p:nvPr/>
        </p:nvSpPr>
        <p:spPr>
          <a:xfrm>
            <a:off x="812800" y="3375422"/>
            <a:ext cx="10883392" cy="391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98BFF"/>
              </a:buClr>
              <a:buSzPts val="2400"/>
              <a:buFont typeface="DM Sans"/>
              <a:buNone/>
            </a:pPr>
            <a:r>
              <a:rPr b="0" i="0" lang="en-US" sz="2400" u="none" cap="none" strike="noStrike">
                <a:solidFill>
                  <a:srgbClr val="B98BFF"/>
                </a:solidFill>
                <a:latin typeface="DM Sans"/>
                <a:ea typeface="DM Sans"/>
                <a:cs typeface="DM Sans"/>
                <a:sym typeface="DM Sans"/>
              </a:rPr>
              <a:t>Using agentgateway to Keep Your AI Usage Under Control</a:t>
            </a:r>
            <a:endParaRPr b="0" i="0" sz="2400" u="none" cap="none" strike="noStrike">
              <a:solidFill>
                <a:schemeClr val="dk1"/>
              </a:solidFill>
              <a:latin typeface="Calibri"/>
              <a:ea typeface="Calibri"/>
              <a:cs typeface="Calibri"/>
              <a:sym typeface="Calibri"/>
            </a:endParaRPr>
          </a:p>
        </p:txBody>
      </p:sp>
      <p:sp>
        <p:nvSpPr>
          <p:cNvPr id="21" name="Google Shape;21;p3"/>
          <p:cNvSpPr/>
          <p:nvPr/>
        </p:nvSpPr>
        <p:spPr>
          <a:xfrm>
            <a:off x="812800" y="3918942"/>
            <a:ext cx="10883392" cy="30986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C9C3DB"/>
              </a:buClr>
              <a:buSzPts val="1600"/>
              <a:buFont typeface="DM Sans"/>
              <a:buNone/>
            </a:pPr>
            <a:r>
              <a:rPr b="0" i="0" lang="en-US" sz="1600" u="none" cap="none" strike="noStrike">
                <a:solidFill>
                  <a:srgbClr val="C9C3DB"/>
                </a:solidFill>
                <a:latin typeface="DM Sans"/>
                <a:ea typeface="DM Sans"/>
                <a:cs typeface="DM Sans"/>
                <a:sym typeface="DM Sans"/>
              </a:rPr>
              <a:t>Attribute every token. Price every request. Enforce every budget.</a:t>
            </a:r>
            <a:endParaRPr b="0" i="0" sz="1600" u="none" cap="none" strike="noStrike">
              <a:solidFill>
                <a:schemeClr val="dk1"/>
              </a:solidFill>
              <a:latin typeface="Calibri"/>
              <a:ea typeface="Calibri"/>
              <a:cs typeface="Calibri"/>
              <a:sym typeface="Calibri"/>
            </a:endParaRPr>
          </a:p>
        </p:txBody>
      </p:sp>
      <p:pic>
        <p:nvPicPr>
          <p:cNvPr descr="Akshay Adsul" id="22" name="Google Shape;22;p3"/>
          <p:cNvPicPr preferRelativeResize="0"/>
          <p:nvPr/>
        </p:nvPicPr>
        <p:blipFill rotWithShape="1">
          <a:blip r:embed="rId5">
            <a:alphaModFix/>
          </a:blip>
          <a:srcRect b="0" l="0" r="0" t="0"/>
          <a:stretch/>
        </p:blipFill>
        <p:spPr>
          <a:xfrm>
            <a:off x="831850" y="4400252"/>
            <a:ext cx="825500" cy="825500"/>
          </a:xfrm>
          <a:prstGeom prst="ellipse">
            <a:avLst/>
          </a:prstGeom>
          <a:noFill/>
          <a:ln>
            <a:noFill/>
          </a:ln>
        </p:spPr>
      </p:pic>
      <p:sp>
        <p:nvSpPr>
          <p:cNvPr id="23" name="Google Shape;23;p3"/>
          <p:cNvSpPr/>
          <p:nvPr/>
        </p:nvSpPr>
        <p:spPr>
          <a:xfrm>
            <a:off x="822325" y="4390727"/>
            <a:ext cx="844550" cy="844550"/>
          </a:xfrm>
          <a:prstGeom prst="ellipse">
            <a:avLst/>
          </a:prstGeom>
          <a:noFill/>
          <a:ln cap="flat" cmpd="sng" w="19050">
            <a:solidFill>
              <a:srgbClr val="8A3F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a:off x="1879600" y="4518422"/>
            <a:ext cx="2668831" cy="34538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F4F2FA"/>
              </a:buClr>
              <a:buSzPts val="1800"/>
              <a:buFont typeface="DM Sans"/>
              <a:buNone/>
            </a:pPr>
            <a:r>
              <a:rPr b="0" i="0" lang="en-US" sz="1800" u="none" cap="none" strike="noStrike">
                <a:solidFill>
                  <a:srgbClr val="F4F2FA"/>
                </a:solidFill>
                <a:latin typeface="DM Sans"/>
                <a:ea typeface="DM Sans"/>
                <a:cs typeface="DM Sans"/>
                <a:sym typeface="DM Sans"/>
              </a:rPr>
              <a:t>Akshay Adsul</a:t>
            </a:r>
            <a:endParaRPr b="0" i="0" sz="1800" u="none" cap="none" strike="noStrike">
              <a:solidFill>
                <a:schemeClr val="dk1"/>
              </a:solidFill>
              <a:latin typeface="Calibri"/>
              <a:ea typeface="Calibri"/>
              <a:cs typeface="Calibri"/>
              <a:sym typeface="Calibri"/>
            </a:endParaRPr>
          </a:p>
        </p:txBody>
      </p:sp>
      <p:sp>
        <p:nvSpPr>
          <p:cNvPr id="25" name="Google Shape;25;p3"/>
          <p:cNvSpPr/>
          <p:nvPr/>
        </p:nvSpPr>
        <p:spPr>
          <a:xfrm>
            <a:off x="1879600" y="4876502"/>
            <a:ext cx="3109317" cy="25648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C9C3DB"/>
              </a:buClr>
              <a:buSzPts val="1300"/>
              <a:buFont typeface="DM Sans"/>
              <a:buNone/>
            </a:pPr>
            <a:r>
              <a:rPr b="0" i="0" lang="en-US" sz="1300" u="none" cap="none" strike="noStrike">
                <a:solidFill>
                  <a:srgbClr val="C9C3DB"/>
                </a:solidFill>
                <a:latin typeface="DM Sans"/>
                <a:ea typeface="DM Sans"/>
                <a:cs typeface="DM Sans"/>
                <a:sym typeface="DM Sans"/>
              </a:rPr>
              <a:t>APAC Lead CS Engineering, Solo.io</a:t>
            </a:r>
            <a:endParaRPr b="0" i="0" sz="1300" u="none" cap="none" strike="noStrike">
              <a:solidFill>
                <a:schemeClr val="dk1"/>
              </a:solidFill>
              <a:latin typeface="Calibri"/>
              <a:ea typeface="Calibri"/>
              <a:cs typeface="Calibri"/>
              <a:sym typeface="Calibri"/>
            </a:endParaRPr>
          </a:p>
        </p:txBody>
      </p:sp>
      <p:pic>
        <p:nvPicPr>
          <p:cNvPr descr="Kasun Talwatta" id="26" name="Google Shape;26;p3"/>
          <p:cNvPicPr preferRelativeResize="0"/>
          <p:nvPr/>
        </p:nvPicPr>
        <p:blipFill rotWithShape="1">
          <a:blip r:embed="rId6">
            <a:alphaModFix/>
          </a:blip>
          <a:srcRect b="0" l="0" r="0" t="0"/>
          <a:stretch/>
        </p:blipFill>
        <p:spPr>
          <a:xfrm>
            <a:off x="5099348" y="4400252"/>
            <a:ext cx="825500" cy="825500"/>
          </a:xfrm>
          <a:prstGeom prst="ellipse">
            <a:avLst/>
          </a:prstGeom>
          <a:noFill/>
          <a:ln>
            <a:noFill/>
          </a:ln>
        </p:spPr>
      </p:pic>
      <p:sp>
        <p:nvSpPr>
          <p:cNvPr id="27" name="Google Shape;27;p3"/>
          <p:cNvSpPr/>
          <p:nvPr/>
        </p:nvSpPr>
        <p:spPr>
          <a:xfrm>
            <a:off x="5089823" y="4390727"/>
            <a:ext cx="844550" cy="844550"/>
          </a:xfrm>
          <a:prstGeom prst="ellipse">
            <a:avLst/>
          </a:prstGeom>
          <a:noFill/>
          <a:ln cap="flat" cmpd="sng" w="19050">
            <a:solidFill>
              <a:srgbClr val="8A3F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6147098" y="4518422"/>
            <a:ext cx="2821102" cy="34538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F4F2FA"/>
              </a:buClr>
              <a:buSzPts val="1800"/>
              <a:buFont typeface="DM Sans"/>
              <a:buNone/>
            </a:pPr>
            <a:r>
              <a:rPr b="0" i="0" lang="en-US" sz="1800" u="none" cap="none" strike="noStrike">
                <a:solidFill>
                  <a:srgbClr val="F4F2FA"/>
                </a:solidFill>
                <a:latin typeface="DM Sans"/>
                <a:ea typeface="DM Sans"/>
                <a:cs typeface="DM Sans"/>
                <a:sym typeface="DM Sans"/>
              </a:rPr>
              <a:t>Kasun Talwatta</a:t>
            </a:r>
            <a:endParaRPr b="0" i="0" sz="1800" u="none" cap="none" strike="noStrike">
              <a:solidFill>
                <a:schemeClr val="dk1"/>
              </a:solidFill>
              <a:latin typeface="Calibri"/>
              <a:ea typeface="Calibri"/>
              <a:cs typeface="Calibri"/>
              <a:sym typeface="Calibri"/>
            </a:endParaRPr>
          </a:p>
        </p:txBody>
      </p:sp>
      <p:sp>
        <p:nvSpPr>
          <p:cNvPr id="29" name="Google Shape;29;p3"/>
          <p:cNvSpPr/>
          <p:nvPr/>
        </p:nvSpPr>
        <p:spPr>
          <a:xfrm>
            <a:off x="6147098" y="4876502"/>
            <a:ext cx="3286720" cy="25648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C9C3DB"/>
              </a:buClr>
              <a:buSzPts val="1300"/>
              <a:buFont typeface="DM Sans"/>
              <a:buNone/>
            </a:pPr>
            <a:r>
              <a:rPr b="0" i="0" lang="en-US" sz="1300" u="none" cap="none" strike="noStrike">
                <a:solidFill>
                  <a:srgbClr val="C9C3DB"/>
                </a:solidFill>
                <a:latin typeface="DM Sans"/>
                <a:ea typeface="DM Sans"/>
                <a:cs typeface="DM Sans"/>
                <a:sym typeface="DM Sans"/>
              </a:rPr>
              <a:t>Principal Solutions Architect, Solo.io</a:t>
            </a:r>
            <a:endParaRPr b="0" i="0" sz="1300" u="none" cap="none" strike="noStrike">
              <a:solidFill>
                <a:schemeClr val="dk1"/>
              </a:solidFill>
              <a:latin typeface="Calibri"/>
              <a:ea typeface="Calibri"/>
              <a:cs typeface="Calibri"/>
              <a:sym typeface="Calibri"/>
            </a:endParaRPr>
          </a:p>
        </p:txBody>
      </p:sp>
      <p:pic>
        <p:nvPicPr>
          <p:cNvPr descr="Solo.io" id="30" name="Google Shape;30;p3"/>
          <p:cNvPicPr preferRelativeResize="0"/>
          <p:nvPr/>
        </p:nvPicPr>
        <p:blipFill rotWithShape="1">
          <a:blip r:embed="rId7">
            <a:alphaModFix/>
          </a:blip>
          <a:srcRect b="-179" l="0" r="0" t="-179"/>
          <a:stretch/>
        </p:blipFill>
        <p:spPr>
          <a:xfrm>
            <a:off x="812800" y="6223000"/>
            <a:ext cx="1016000" cy="228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0E27"/>
        </a:solidFill>
      </p:bgPr>
    </p:bg>
    <p:spTree>
      <p:nvGrpSpPr>
        <p:cNvPr id="35" name="Shape 35"/>
        <p:cNvGrpSpPr/>
        <p:nvPr/>
      </p:nvGrpSpPr>
      <p:grpSpPr>
        <a:xfrm>
          <a:off x="0" y="0"/>
          <a:ext cx="0" cy="0"/>
          <a:chOff x="0" y="0"/>
          <a:chExt cx="0" cy="0"/>
        </a:xfrm>
      </p:grpSpPr>
      <p:sp>
        <p:nvSpPr>
          <p:cNvPr id="36" name="Google Shape;36;p4"/>
          <p:cNvSpPr/>
          <p:nvPr/>
        </p:nvSpPr>
        <p:spPr>
          <a:xfrm>
            <a:off x="812800" y="711200"/>
            <a:ext cx="10883392" cy="2742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98BFF"/>
              </a:buClr>
              <a:buSzPts val="1400"/>
              <a:buFont typeface="DM Mono"/>
              <a:buNone/>
            </a:pPr>
            <a:r>
              <a:rPr b="0" i="0" lang="en-US" sz="1400" u="none" cap="none" strike="noStrike">
                <a:solidFill>
                  <a:srgbClr val="B98BFF"/>
                </a:solidFill>
                <a:latin typeface="DM Mono"/>
                <a:ea typeface="DM Mono"/>
                <a:cs typeface="DM Mono"/>
                <a:sym typeface="DM Mono"/>
              </a:rPr>
              <a:t>HOW WE USED TO CODE</a:t>
            </a:r>
            <a:endParaRPr b="0" i="0" sz="1400" u="none" cap="none" strike="noStrike">
              <a:solidFill>
                <a:schemeClr val="dk1"/>
              </a:solidFill>
              <a:latin typeface="Calibri"/>
              <a:ea typeface="Calibri"/>
              <a:cs typeface="Calibri"/>
              <a:sym typeface="Calibri"/>
            </a:endParaRPr>
          </a:p>
        </p:txBody>
      </p:sp>
      <p:sp>
        <p:nvSpPr>
          <p:cNvPr id="37" name="Google Shape;37;p4"/>
          <p:cNvSpPr/>
          <p:nvPr/>
        </p:nvSpPr>
        <p:spPr>
          <a:xfrm>
            <a:off x="812800" y="1087041"/>
            <a:ext cx="10883392" cy="528241"/>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F4F2FA"/>
              </a:buClr>
              <a:buSzPts val="3600"/>
              <a:buFont typeface="Figtree"/>
              <a:buNone/>
            </a:pPr>
            <a:r>
              <a:rPr b="0" i="0" lang="en-US" sz="3600" u="none" cap="none" strike="noStrike">
                <a:solidFill>
                  <a:srgbClr val="F4F2FA"/>
                </a:solidFill>
                <a:latin typeface="Figtree"/>
                <a:ea typeface="Figtree"/>
                <a:cs typeface="Figtree"/>
                <a:sym typeface="Figtree"/>
              </a:rPr>
              <a:t>200</a:t>
            </a:r>
            <a:r>
              <a:rPr lang="en-US" sz="3600">
                <a:solidFill>
                  <a:srgbClr val="F4F2FA"/>
                </a:solidFill>
                <a:latin typeface="Figtree"/>
                <a:ea typeface="Figtree"/>
                <a:cs typeface="Figtree"/>
                <a:sym typeface="Figtree"/>
              </a:rPr>
              <a:t>0</a:t>
            </a:r>
            <a:r>
              <a:rPr b="0" i="0" lang="en-US" sz="3600" u="none" cap="none" strike="noStrike">
                <a:solidFill>
                  <a:srgbClr val="F4F2FA"/>
                </a:solidFill>
                <a:latin typeface="Figtree"/>
                <a:ea typeface="Figtree"/>
                <a:cs typeface="Figtree"/>
                <a:sym typeface="Figtree"/>
              </a:rPr>
              <a:t> to 2020: same tools, same struggle</a:t>
            </a:r>
            <a:endParaRPr b="0" i="0" sz="3600" u="none" cap="none" strike="noStrike">
              <a:solidFill>
                <a:schemeClr val="dk1"/>
              </a:solidFill>
              <a:latin typeface="Calibri"/>
              <a:ea typeface="Calibri"/>
              <a:cs typeface="Calibri"/>
              <a:sym typeface="Calibri"/>
            </a:endParaRPr>
          </a:p>
        </p:txBody>
      </p:sp>
      <p:sp>
        <p:nvSpPr>
          <p:cNvPr id="38" name="Google Shape;38;p4"/>
          <p:cNvSpPr/>
          <p:nvPr/>
        </p:nvSpPr>
        <p:spPr>
          <a:xfrm>
            <a:off x="815975" y="1999456"/>
            <a:ext cx="2482850" cy="2635250"/>
          </a:xfrm>
          <a:prstGeom prst="roundRect">
            <a:avLst>
              <a:gd fmla="val 4987" name="adj"/>
            </a:avLst>
          </a:prstGeom>
          <a:solidFill>
            <a:srgbClr val="211A38"/>
          </a:solidFill>
          <a:ln cap="flat" cmpd="sng" w="9525">
            <a:solidFill>
              <a:srgbClr val="362D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loppy disk" id="39" name="Google Shape;39;p4"/>
          <p:cNvPicPr preferRelativeResize="0"/>
          <p:nvPr/>
        </p:nvPicPr>
        <p:blipFill rotWithShape="1">
          <a:blip r:embed="rId3">
            <a:alphaModFix/>
          </a:blip>
          <a:srcRect b="0" l="0" r="0" t="0"/>
          <a:stretch/>
        </p:blipFill>
        <p:spPr>
          <a:xfrm>
            <a:off x="1073150" y="2282031"/>
            <a:ext cx="609600" cy="609600"/>
          </a:xfrm>
          <a:prstGeom prst="rect">
            <a:avLst/>
          </a:prstGeom>
          <a:noFill/>
          <a:ln>
            <a:noFill/>
          </a:ln>
        </p:spPr>
      </p:pic>
      <p:sp>
        <p:nvSpPr>
          <p:cNvPr id="40" name="Google Shape;40;p4"/>
          <p:cNvSpPr/>
          <p:nvPr/>
        </p:nvSpPr>
        <p:spPr>
          <a:xfrm>
            <a:off x="1073150" y="3044031"/>
            <a:ext cx="2027555" cy="635000"/>
          </a:xfrm>
          <a:prstGeom prst="rect">
            <a:avLst/>
          </a:prstGeom>
          <a:noFill/>
          <a:ln>
            <a:noFill/>
          </a:ln>
        </p:spPr>
        <p:txBody>
          <a:bodyPr anchorCtr="0" anchor="t" bIns="0" lIns="0" spcFirstLastPara="1" rIns="0" wrap="square" tIns="0">
            <a:noAutofit/>
          </a:bodyPr>
          <a:lstStyle/>
          <a:p>
            <a:pPr indent="0" lvl="0" marL="0" marR="0" rtl="0" algn="l">
              <a:lnSpc>
                <a:spcPct val="83333"/>
              </a:lnSpc>
              <a:spcBef>
                <a:spcPts val="0"/>
              </a:spcBef>
              <a:spcAft>
                <a:spcPts val="0"/>
              </a:spcAft>
              <a:buClr>
                <a:srgbClr val="F4F2FA"/>
              </a:buClr>
              <a:buSzPts val="4800"/>
              <a:buFont typeface="Figtree"/>
              <a:buNone/>
            </a:pPr>
            <a:r>
              <a:rPr b="0" i="0" lang="en-US" sz="4800" u="none" cap="none" strike="noStrike">
                <a:solidFill>
                  <a:srgbClr val="F4F2FA"/>
                </a:solidFill>
                <a:latin typeface="Figtree"/>
                <a:ea typeface="Figtree"/>
                <a:cs typeface="Figtree"/>
                <a:sym typeface="Figtree"/>
              </a:rPr>
              <a:t>200</a:t>
            </a:r>
            <a:r>
              <a:rPr lang="en-US" sz="4800">
                <a:solidFill>
                  <a:srgbClr val="F4F2FA"/>
                </a:solidFill>
                <a:latin typeface="Figtree"/>
                <a:ea typeface="Figtree"/>
                <a:cs typeface="Figtree"/>
                <a:sym typeface="Figtree"/>
              </a:rPr>
              <a:t>0</a:t>
            </a:r>
            <a:endParaRPr b="0" i="0" sz="4800" u="none" cap="none" strike="noStrike">
              <a:solidFill>
                <a:schemeClr val="dk1"/>
              </a:solidFill>
              <a:latin typeface="Calibri"/>
              <a:ea typeface="Calibri"/>
              <a:cs typeface="Calibri"/>
              <a:sym typeface="Calibri"/>
            </a:endParaRPr>
          </a:p>
        </p:txBody>
      </p:sp>
      <p:sp>
        <p:nvSpPr>
          <p:cNvPr id="41" name="Google Shape;41;p4"/>
          <p:cNvSpPr/>
          <p:nvPr/>
        </p:nvSpPr>
        <p:spPr>
          <a:xfrm>
            <a:off x="1073150" y="3806031"/>
            <a:ext cx="2027555" cy="55880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C9C3DB"/>
              </a:buClr>
              <a:buSzPts val="1500"/>
              <a:buFont typeface="DM Sans"/>
              <a:buNone/>
            </a:pPr>
            <a:r>
              <a:rPr b="0" i="0" lang="en-US" sz="1500" u="none" cap="none" strike="noStrike">
                <a:solidFill>
                  <a:srgbClr val="C9C3DB"/>
                </a:solidFill>
                <a:latin typeface="DM Sans"/>
                <a:ea typeface="DM Sans"/>
                <a:cs typeface="DM Sans"/>
                <a:sym typeface="DM Sans"/>
              </a:rPr>
              <a:t>Manuals, floppy disks and forums</a:t>
            </a:r>
            <a:endParaRPr b="0" i="0" sz="1500" u="none" cap="none" strike="noStrike">
              <a:solidFill>
                <a:schemeClr val="dk1"/>
              </a:solidFill>
              <a:latin typeface="Calibri"/>
              <a:ea typeface="Calibri"/>
              <a:cs typeface="Calibri"/>
              <a:sym typeface="Calibri"/>
            </a:endParaRPr>
          </a:p>
        </p:txBody>
      </p:sp>
      <p:sp>
        <p:nvSpPr>
          <p:cNvPr id="42" name="Google Shape;42;p4"/>
          <p:cNvSpPr/>
          <p:nvPr/>
        </p:nvSpPr>
        <p:spPr>
          <a:xfrm>
            <a:off x="3508375" y="1999456"/>
            <a:ext cx="2482850" cy="2635250"/>
          </a:xfrm>
          <a:prstGeom prst="roundRect">
            <a:avLst>
              <a:gd fmla="val 4987" name="adj"/>
            </a:avLst>
          </a:prstGeom>
          <a:solidFill>
            <a:srgbClr val="211A38"/>
          </a:solidFill>
          <a:ln cap="flat" cmpd="sng" w="9525">
            <a:solidFill>
              <a:srgbClr val="362D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arch" id="43" name="Google Shape;43;p4"/>
          <p:cNvPicPr preferRelativeResize="0"/>
          <p:nvPr/>
        </p:nvPicPr>
        <p:blipFill rotWithShape="1">
          <a:blip r:embed="rId4">
            <a:alphaModFix/>
          </a:blip>
          <a:srcRect b="0" l="0" r="0" t="0"/>
          <a:stretch/>
        </p:blipFill>
        <p:spPr>
          <a:xfrm>
            <a:off x="3765550" y="2282031"/>
            <a:ext cx="609600" cy="609600"/>
          </a:xfrm>
          <a:prstGeom prst="rect">
            <a:avLst/>
          </a:prstGeom>
          <a:noFill/>
          <a:ln>
            <a:noFill/>
          </a:ln>
        </p:spPr>
      </p:pic>
      <p:sp>
        <p:nvSpPr>
          <p:cNvPr id="44" name="Google Shape;44;p4"/>
          <p:cNvSpPr/>
          <p:nvPr/>
        </p:nvSpPr>
        <p:spPr>
          <a:xfrm>
            <a:off x="3765550" y="3044031"/>
            <a:ext cx="2027555" cy="635000"/>
          </a:xfrm>
          <a:prstGeom prst="rect">
            <a:avLst/>
          </a:prstGeom>
          <a:noFill/>
          <a:ln>
            <a:noFill/>
          </a:ln>
        </p:spPr>
        <p:txBody>
          <a:bodyPr anchorCtr="0" anchor="t" bIns="0" lIns="0" spcFirstLastPara="1" rIns="0" wrap="square" tIns="0">
            <a:noAutofit/>
          </a:bodyPr>
          <a:lstStyle/>
          <a:p>
            <a:pPr indent="0" lvl="0" marL="0" marR="0" rtl="0" algn="l">
              <a:lnSpc>
                <a:spcPct val="83333"/>
              </a:lnSpc>
              <a:spcBef>
                <a:spcPts val="0"/>
              </a:spcBef>
              <a:spcAft>
                <a:spcPts val="0"/>
              </a:spcAft>
              <a:buClr>
                <a:srgbClr val="F4F2FA"/>
              </a:buClr>
              <a:buSzPts val="4800"/>
              <a:buFont typeface="Figtree"/>
              <a:buNone/>
            </a:pPr>
            <a:r>
              <a:rPr b="0" i="0" lang="en-US" sz="4800" u="none" cap="none" strike="noStrike">
                <a:solidFill>
                  <a:srgbClr val="F4F2FA"/>
                </a:solidFill>
                <a:latin typeface="Figtree"/>
                <a:ea typeface="Figtree"/>
                <a:cs typeface="Figtree"/>
                <a:sym typeface="Figtree"/>
              </a:rPr>
              <a:t>2010</a:t>
            </a:r>
            <a:endParaRPr b="0" i="0" sz="4800" u="none" cap="none" strike="noStrike">
              <a:solidFill>
                <a:schemeClr val="dk1"/>
              </a:solidFill>
              <a:latin typeface="Calibri"/>
              <a:ea typeface="Calibri"/>
              <a:cs typeface="Calibri"/>
              <a:sym typeface="Calibri"/>
            </a:endParaRPr>
          </a:p>
        </p:txBody>
      </p:sp>
      <p:sp>
        <p:nvSpPr>
          <p:cNvPr id="45" name="Google Shape;45;p4"/>
          <p:cNvSpPr/>
          <p:nvPr/>
        </p:nvSpPr>
        <p:spPr>
          <a:xfrm>
            <a:off x="3765550" y="3806031"/>
            <a:ext cx="2027555" cy="55880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C9C3DB"/>
              </a:buClr>
              <a:buSzPts val="1500"/>
              <a:buFont typeface="DM Sans"/>
              <a:buNone/>
            </a:pPr>
            <a:r>
              <a:rPr b="0" i="0" lang="en-US" sz="1500" u="none" cap="none" strike="noStrike">
                <a:solidFill>
                  <a:srgbClr val="C9C3DB"/>
                </a:solidFill>
                <a:latin typeface="DM Sans"/>
                <a:ea typeface="DM Sans"/>
                <a:cs typeface="DM Sans"/>
                <a:sym typeface="DM Sans"/>
              </a:rPr>
              <a:t>Google the error message</a:t>
            </a:r>
            <a:endParaRPr b="0" i="0" sz="1500" u="none" cap="none" strike="noStrike">
              <a:solidFill>
                <a:schemeClr val="dk1"/>
              </a:solidFill>
              <a:latin typeface="Calibri"/>
              <a:ea typeface="Calibri"/>
              <a:cs typeface="Calibri"/>
              <a:sym typeface="Calibri"/>
            </a:endParaRPr>
          </a:p>
        </p:txBody>
      </p:sp>
      <p:sp>
        <p:nvSpPr>
          <p:cNvPr id="46" name="Google Shape;46;p4"/>
          <p:cNvSpPr/>
          <p:nvPr/>
        </p:nvSpPr>
        <p:spPr>
          <a:xfrm>
            <a:off x="6200775" y="1999456"/>
            <a:ext cx="2482850" cy="2635250"/>
          </a:xfrm>
          <a:prstGeom prst="roundRect">
            <a:avLst>
              <a:gd fmla="val 4987" name="adj"/>
            </a:avLst>
          </a:prstGeom>
          <a:solidFill>
            <a:srgbClr val="211A38"/>
          </a:solidFill>
          <a:ln cap="flat" cmpd="sng" w="9525">
            <a:solidFill>
              <a:srgbClr val="362D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tack of answers" id="47" name="Google Shape;47;p4"/>
          <p:cNvPicPr preferRelativeResize="0"/>
          <p:nvPr/>
        </p:nvPicPr>
        <p:blipFill rotWithShape="1">
          <a:blip r:embed="rId5">
            <a:alphaModFix/>
          </a:blip>
          <a:srcRect b="0" l="0" r="0" t="0"/>
          <a:stretch/>
        </p:blipFill>
        <p:spPr>
          <a:xfrm>
            <a:off x="6457950" y="2282031"/>
            <a:ext cx="609600" cy="609600"/>
          </a:xfrm>
          <a:prstGeom prst="rect">
            <a:avLst/>
          </a:prstGeom>
          <a:noFill/>
          <a:ln>
            <a:noFill/>
          </a:ln>
        </p:spPr>
      </p:pic>
      <p:sp>
        <p:nvSpPr>
          <p:cNvPr id="48" name="Google Shape;48;p4"/>
          <p:cNvSpPr/>
          <p:nvPr/>
        </p:nvSpPr>
        <p:spPr>
          <a:xfrm>
            <a:off x="6457950" y="3044031"/>
            <a:ext cx="2027555" cy="635000"/>
          </a:xfrm>
          <a:prstGeom prst="rect">
            <a:avLst/>
          </a:prstGeom>
          <a:noFill/>
          <a:ln>
            <a:noFill/>
          </a:ln>
        </p:spPr>
        <p:txBody>
          <a:bodyPr anchorCtr="0" anchor="t" bIns="0" lIns="0" spcFirstLastPara="1" rIns="0" wrap="square" tIns="0">
            <a:noAutofit/>
          </a:bodyPr>
          <a:lstStyle/>
          <a:p>
            <a:pPr indent="0" lvl="0" marL="0" marR="0" rtl="0" algn="l">
              <a:lnSpc>
                <a:spcPct val="83333"/>
              </a:lnSpc>
              <a:spcBef>
                <a:spcPts val="0"/>
              </a:spcBef>
              <a:spcAft>
                <a:spcPts val="0"/>
              </a:spcAft>
              <a:buClr>
                <a:srgbClr val="F4F2FA"/>
              </a:buClr>
              <a:buSzPts val="4800"/>
              <a:buFont typeface="Figtree"/>
              <a:buNone/>
            </a:pPr>
            <a:r>
              <a:rPr b="0" i="0" lang="en-US" sz="4800" u="none" cap="none" strike="noStrike">
                <a:solidFill>
                  <a:srgbClr val="F4F2FA"/>
                </a:solidFill>
                <a:latin typeface="Figtree"/>
                <a:ea typeface="Figtree"/>
                <a:cs typeface="Figtree"/>
                <a:sym typeface="Figtree"/>
              </a:rPr>
              <a:t>201</a:t>
            </a:r>
            <a:r>
              <a:rPr lang="en-US" sz="4800">
                <a:solidFill>
                  <a:srgbClr val="F4F2FA"/>
                </a:solidFill>
                <a:latin typeface="Figtree"/>
                <a:ea typeface="Figtree"/>
                <a:cs typeface="Figtree"/>
                <a:sym typeface="Figtree"/>
              </a:rPr>
              <a:t>5</a:t>
            </a:r>
            <a:endParaRPr b="0" i="0" sz="4800" u="none" cap="none" strike="noStrike">
              <a:solidFill>
                <a:schemeClr val="dk1"/>
              </a:solidFill>
              <a:latin typeface="Calibri"/>
              <a:ea typeface="Calibri"/>
              <a:cs typeface="Calibri"/>
              <a:sym typeface="Calibri"/>
            </a:endParaRPr>
          </a:p>
        </p:txBody>
      </p:sp>
      <p:sp>
        <p:nvSpPr>
          <p:cNvPr id="49" name="Google Shape;49;p4"/>
          <p:cNvSpPr/>
          <p:nvPr/>
        </p:nvSpPr>
        <p:spPr>
          <a:xfrm>
            <a:off x="6457950" y="3806031"/>
            <a:ext cx="2027555" cy="55880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C9C3DB"/>
              </a:buClr>
              <a:buSzPts val="1500"/>
              <a:buFont typeface="DM Sans"/>
              <a:buNone/>
            </a:pPr>
            <a:r>
              <a:rPr b="0" i="0" lang="en-US" sz="1500" u="none" cap="none" strike="noStrike">
                <a:solidFill>
                  <a:srgbClr val="C9C3DB"/>
                </a:solidFill>
                <a:latin typeface="DM Sans"/>
                <a:ea typeface="DM Sans"/>
                <a:cs typeface="DM Sans"/>
                <a:sym typeface="DM Sans"/>
              </a:rPr>
              <a:t>Copy from Stack Overflow, paste, pray</a:t>
            </a:r>
            <a:endParaRPr b="0" i="0" sz="1500" u="none" cap="none" strike="noStrike">
              <a:solidFill>
                <a:schemeClr val="dk1"/>
              </a:solidFill>
              <a:latin typeface="Calibri"/>
              <a:ea typeface="Calibri"/>
              <a:cs typeface="Calibri"/>
              <a:sym typeface="Calibri"/>
            </a:endParaRPr>
          </a:p>
        </p:txBody>
      </p:sp>
      <p:sp>
        <p:nvSpPr>
          <p:cNvPr id="50" name="Google Shape;50;p4"/>
          <p:cNvSpPr/>
          <p:nvPr/>
        </p:nvSpPr>
        <p:spPr>
          <a:xfrm>
            <a:off x="8896350" y="2002631"/>
            <a:ext cx="2476500" cy="2628900"/>
          </a:xfrm>
          <a:prstGeom prst="roundRect">
            <a:avLst>
              <a:gd fmla="val 4872" name="adj"/>
            </a:avLst>
          </a:prstGeom>
          <a:solidFill>
            <a:srgbClr val="2A1A4A"/>
          </a:solidFill>
          <a:ln cap="flat" cmpd="sng" w="12700">
            <a:solidFill>
              <a:srgbClr val="8A3F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aptop at home" id="51" name="Google Shape;51;p4"/>
          <p:cNvPicPr preferRelativeResize="0"/>
          <p:nvPr/>
        </p:nvPicPr>
        <p:blipFill rotWithShape="1">
          <a:blip r:embed="rId6">
            <a:alphaModFix/>
          </a:blip>
          <a:srcRect b="0" l="0" r="0" t="0"/>
          <a:stretch/>
        </p:blipFill>
        <p:spPr>
          <a:xfrm>
            <a:off x="9156700" y="2288381"/>
            <a:ext cx="609600" cy="609600"/>
          </a:xfrm>
          <a:prstGeom prst="rect">
            <a:avLst/>
          </a:prstGeom>
          <a:noFill/>
          <a:ln>
            <a:noFill/>
          </a:ln>
        </p:spPr>
      </p:pic>
      <p:sp>
        <p:nvSpPr>
          <p:cNvPr id="52" name="Google Shape;52;p4"/>
          <p:cNvSpPr/>
          <p:nvPr/>
        </p:nvSpPr>
        <p:spPr>
          <a:xfrm>
            <a:off x="9156700" y="3050381"/>
            <a:ext cx="2014474" cy="635000"/>
          </a:xfrm>
          <a:prstGeom prst="rect">
            <a:avLst/>
          </a:prstGeom>
          <a:noFill/>
          <a:ln>
            <a:noFill/>
          </a:ln>
        </p:spPr>
        <p:txBody>
          <a:bodyPr anchorCtr="0" anchor="t" bIns="0" lIns="0" spcFirstLastPara="1" rIns="0" wrap="square" tIns="0">
            <a:noAutofit/>
          </a:bodyPr>
          <a:lstStyle/>
          <a:p>
            <a:pPr indent="0" lvl="0" marL="0" marR="0" rtl="0" algn="l">
              <a:lnSpc>
                <a:spcPct val="83333"/>
              </a:lnSpc>
              <a:spcBef>
                <a:spcPts val="0"/>
              </a:spcBef>
              <a:spcAft>
                <a:spcPts val="0"/>
              </a:spcAft>
              <a:buClr>
                <a:srgbClr val="F4F2FA"/>
              </a:buClr>
              <a:buSzPts val="4800"/>
              <a:buFont typeface="Figtree"/>
              <a:buNone/>
            </a:pPr>
            <a:r>
              <a:rPr b="0" i="0" lang="en-US" sz="4800" u="none" cap="none" strike="noStrike">
                <a:solidFill>
                  <a:srgbClr val="F4F2FA"/>
                </a:solidFill>
                <a:latin typeface="Figtree"/>
                <a:ea typeface="Figtree"/>
                <a:cs typeface="Figtree"/>
                <a:sym typeface="Figtree"/>
              </a:rPr>
              <a:t>2020</a:t>
            </a:r>
            <a:endParaRPr b="0" i="0" sz="4800" u="none" cap="none" strike="noStrike">
              <a:solidFill>
                <a:schemeClr val="dk1"/>
              </a:solidFill>
              <a:latin typeface="Calibri"/>
              <a:ea typeface="Calibri"/>
              <a:cs typeface="Calibri"/>
              <a:sym typeface="Calibri"/>
            </a:endParaRPr>
          </a:p>
        </p:txBody>
      </p:sp>
      <p:sp>
        <p:nvSpPr>
          <p:cNvPr id="53" name="Google Shape;53;p4"/>
          <p:cNvSpPr/>
          <p:nvPr/>
        </p:nvSpPr>
        <p:spPr>
          <a:xfrm>
            <a:off x="9156700" y="3812381"/>
            <a:ext cx="2014474" cy="55880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C9C3DB"/>
              </a:buClr>
              <a:buSzPts val="1500"/>
              <a:buFont typeface="DM Sans"/>
              <a:buNone/>
            </a:pPr>
            <a:r>
              <a:rPr b="0" i="0" lang="en-US" sz="1500" u="none" cap="none" strike="noStrike">
                <a:solidFill>
                  <a:srgbClr val="C9C3DB"/>
                </a:solidFill>
                <a:latin typeface="DM Sans"/>
                <a:ea typeface="DM Sans"/>
                <a:cs typeface="DM Sans"/>
                <a:sym typeface="DM Sans"/>
              </a:rPr>
              <a:t>The same thing, from home</a:t>
            </a:r>
            <a:endParaRPr b="0" i="0" sz="1500" u="none" cap="none" strike="noStrike">
              <a:solidFill>
                <a:schemeClr val="dk1"/>
              </a:solidFill>
              <a:latin typeface="Calibri"/>
              <a:ea typeface="Calibri"/>
              <a:cs typeface="Calibri"/>
              <a:sym typeface="Calibri"/>
            </a:endParaRPr>
          </a:p>
        </p:txBody>
      </p:sp>
      <p:sp>
        <p:nvSpPr>
          <p:cNvPr id="54" name="Google Shape;54;p4"/>
          <p:cNvSpPr/>
          <p:nvPr/>
        </p:nvSpPr>
        <p:spPr>
          <a:xfrm>
            <a:off x="812800" y="5044281"/>
            <a:ext cx="10883392" cy="2742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8E86A8"/>
              </a:buClr>
              <a:buSzPts val="1400"/>
              <a:buFont typeface="DM Mono"/>
              <a:buNone/>
            </a:pPr>
            <a:r>
              <a:rPr lang="en-US">
                <a:solidFill>
                  <a:srgbClr val="8E86A8"/>
                </a:solidFill>
                <a:latin typeface="DM Mono"/>
                <a:ea typeface="DM Mono"/>
                <a:cs typeface="DM Mono"/>
                <a:sym typeface="DM Mono"/>
              </a:rPr>
              <a:t>20</a:t>
            </a:r>
            <a:r>
              <a:rPr b="0" i="0" lang="en-US" sz="1400" u="none" cap="none" strike="noStrike">
                <a:solidFill>
                  <a:srgbClr val="8E86A8"/>
                </a:solidFill>
                <a:latin typeface="DM Mono"/>
                <a:ea typeface="DM Mono"/>
                <a:cs typeface="DM Mono"/>
                <a:sym typeface="DM Mono"/>
              </a:rPr>
              <a:t> years. Same workflow. Still typing it all by hand.</a:t>
            </a:r>
            <a:endParaRPr b="0" i="0" sz="1400" u="none" cap="none" strike="noStrike">
              <a:solidFill>
                <a:schemeClr val="dk1"/>
              </a:solidFill>
              <a:latin typeface="Calibri"/>
              <a:ea typeface="Calibri"/>
              <a:cs typeface="Calibri"/>
              <a:sym typeface="Calibri"/>
            </a:endParaRPr>
          </a:p>
        </p:txBody>
      </p:sp>
      <p:pic>
        <p:nvPicPr>
          <p:cNvPr descr="Solo.io" id="55" name="Google Shape;55;p4"/>
          <p:cNvPicPr preferRelativeResize="0"/>
          <p:nvPr/>
        </p:nvPicPr>
        <p:blipFill rotWithShape="1">
          <a:blip r:embed="rId7">
            <a:alphaModFix/>
          </a:blip>
          <a:srcRect b="-179" l="0" r="0" t="-179"/>
          <a:stretch/>
        </p:blipFill>
        <p:spPr>
          <a:xfrm>
            <a:off x="812800" y="6223000"/>
            <a:ext cx="1016000" cy="228600"/>
          </a:xfrm>
          <a:prstGeom prst="rect">
            <a:avLst/>
          </a:prstGeom>
          <a:noFill/>
          <a:ln>
            <a:noFill/>
          </a:ln>
        </p:spPr>
      </p:pic>
      <p:pic>
        <p:nvPicPr>
          <p:cNvPr id="56" name="Google Shape;56;p4" title="APACSummitaudio.mp3">
            <a:hlinkClick r:id="rId8"/>
          </p:cNvPr>
          <p:cNvPicPr preferRelativeResize="0"/>
          <p:nvPr/>
        </p:nvPicPr>
        <p:blipFill>
          <a:blip r:embed="rId9">
            <a:alphaModFix/>
          </a:blip>
          <a:stretch>
            <a:fillRect/>
          </a:stretch>
        </p:blipFill>
        <p:spPr>
          <a:xfrm>
            <a:off x="1981200" y="5470922"/>
            <a:ext cx="457200" cy="457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0E27"/>
        </a:solidFill>
      </p:bgPr>
    </p:bg>
    <p:spTree>
      <p:nvGrpSpPr>
        <p:cNvPr id="61" name="Shape 61"/>
        <p:cNvGrpSpPr/>
        <p:nvPr/>
      </p:nvGrpSpPr>
      <p:grpSpPr>
        <a:xfrm>
          <a:off x="0" y="0"/>
          <a:ext cx="0" cy="0"/>
          <a:chOff x="0" y="0"/>
          <a:chExt cx="0" cy="0"/>
        </a:xfrm>
      </p:grpSpPr>
      <p:sp>
        <p:nvSpPr>
          <p:cNvPr id="62" name="Google Shape;62;p5"/>
          <p:cNvSpPr/>
          <p:nvPr/>
        </p:nvSpPr>
        <p:spPr>
          <a:xfrm>
            <a:off x="812800" y="1774627"/>
            <a:ext cx="5180076" cy="2742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98BFF"/>
              </a:buClr>
              <a:buSzPts val="1400"/>
              <a:buFont typeface="DM Mono"/>
              <a:buNone/>
            </a:pPr>
            <a:r>
              <a:rPr b="0" i="0" lang="en-US" sz="1400" u="none" cap="none" strike="noStrike">
                <a:solidFill>
                  <a:srgbClr val="B98BFF"/>
                </a:solidFill>
                <a:latin typeface="DM Mono"/>
                <a:ea typeface="DM Mono"/>
                <a:cs typeface="DM Mono"/>
                <a:sym typeface="DM Mono"/>
              </a:rPr>
              <a:t>THEN AI HAPPENED</a:t>
            </a:r>
            <a:endParaRPr b="0" i="0" sz="1400" u="none" cap="none" strike="noStrike">
              <a:solidFill>
                <a:schemeClr val="dk1"/>
              </a:solidFill>
              <a:latin typeface="Calibri"/>
              <a:ea typeface="Calibri"/>
              <a:cs typeface="Calibri"/>
              <a:sym typeface="Calibri"/>
            </a:endParaRPr>
          </a:p>
        </p:txBody>
      </p:sp>
      <p:sp>
        <p:nvSpPr>
          <p:cNvPr id="63" name="Google Shape;63;p5"/>
          <p:cNvSpPr/>
          <p:nvPr/>
        </p:nvSpPr>
        <p:spPr>
          <a:xfrm>
            <a:off x="198300" y="2227175"/>
            <a:ext cx="5992800" cy="25461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F4F2FA"/>
              </a:buClr>
              <a:buSzPts val="4400"/>
              <a:buFont typeface="Figtree"/>
              <a:buNone/>
            </a:pPr>
            <a:r>
              <a:rPr b="0" i="0" lang="en-US" sz="4400" u="none" cap="none" strike="noStrike">
                <a:solidFill>
                  <a:srgbClr val="F4F2FA"/>
                </a:solidFill>
                <a:latin typeface="Figtree"/>
                <a:ea typeface="Figtree"/>
                <a:cs typeface="Figtree"/>
                <a:sym typeface="Figtree"/>
              </a:rPr>
              <a:t>I don’t write code anymore. I write vibes.</a:t>
            </a:r>
            <a:br>
              <a:rPr b="0" i="0" lang="en-US" sz="4400" u="none" cap="none" strike="noStrike">
                <a:solidFill>
                  <a:srgbClr val="F4F2FA"/>
                </a:solidFill>
                <a:latin typeface="Figtree"/>
                <a:ea typeface="Figtree"/>
                <a:cs typeface="Figtree"/>
                <a:sym typeface="Figtree"/>
              </a:rPr>
            </a:br>
            <a:br>
              <a:rPr b="0" i="0" lang="en-US" sz="4400" u="none" cap="none" strike="noStrike">
                <a:solidFill>
                  <a:srgbClr val="F4F2FA"/>
                </a:solidFill>
                <a:latin typeface="Figtree"/>
                <a:ea typeface="Figtree"/>
                <a:cs typeface="Figtree"/>
                <a:sym typeface="Figtree"/>
              </a:rPr>
            </a:br>
            <a:r>
              <a:rPr b="0" i="0" lang="en-US" sz="4400" u="none" cap="none" strike="noStrike">
                <a:solidFill>
                  <a:srgbClr val="F4F2FA"/>
                </a:solidFill>
                <a:latin typeface="Figtree"/>
                <a:ea typeface="Figtree"/>
                <a:cs typeface="Figtree"/>
                <a:sym typeface="Figtree"/>
              </a:rPr>
              <a:t>TOKENMAXXING FTW !</a:t>
            </a:r>
            <a:br>
              <a:rPr b="0" i="0" lang="en-US" sz="4400" u="none" cap="none" strike="noStrike">
                <a:solidFill>
                  <a:srgbClr val="F4F2FA"/>
                </a:solidFill>
                <a:latin typeface="Figtree"/>
                <a:ea typeface="Figtree"/>
                <a:cs typeface="Figtree"/>
                <a:sym typeface="Figtree"/>
              </a:rPr>
            </a:br>
            <a:endParaRPr b="0" i="0" sz="4400" u="none" cap="none" strike="noStrike">
              <a:solidFill>
                <a:schemeClr val="dk1"/>
              </a:solidFill>
              <a:latin typeface="Calibri"/>
              <a:ea typeface="Calibri"/>
              <a:cs typeface="Calibri"/>
              <a:sym typeface="Calibri"/>
            </a:endParaRPr>
          </a:p>
        </p:txBody>
      </p:sp>
      <p:sp>
        <p:nvSpPr>
          <p:cNvPr id="64" name="Google Shape;64;p5"/>
          <p:cNvSpPr/>
          <p:nvPr/>
        </p:nvSpPr>
        <p:spPr>
          <a:xfrm>
            <a:off x="50" y="4240225"/>
            <a:ext cx="5992800" cy="66540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C9C3DB"/>
              </a:buClr>
              <a:buSzPts val="1800"/>
              <a:buFont typeface="DM Sans"/>
              <a:buNone/>
            </a:pPr>
            <a:r>
              <a:t/>
            </a:r>
            <a:endParaRPr b="0" i="0" sz="1800" u="none" cap="none" strike="noStrike">
              <a:solidFill>
                <a:schemeClr val="dk1"/>
              </a:solidFill>
              <a:latin typeface="Calibri"/>
              <a:ea typeface="Calibri"/>
              <a:cs typeface="Calibri"/>
              <a:sym typeface="Calibri"/>
            </a:endParaRPr>
          </a:p>
        </p:txBody>
      </p:sp>
      <p:sp>
        <p:nvSpPr>
          <p:cNvPr id="65" name="Google Shape;65;p5"/>
          <p:cNvSpPr/>
          <p:nvPr/>
        </p:nvSpPr>
        <p:spPr>
          <a:xfrm>
            <a:off x="6353175" y="1756668"/>
            <a:ext cx="5022850" cy="3141464"/>
          </a:xfrm>
          <a:prstGeom prst="roundRect">
            <a:avLst>
              <a:gd fmla="val 3942" name="adj"/>
            </a:avLst>
          </a:prstGeom>
          <a:solidFill>
            <a:srgbClr val="0E0A1C"/>
          </a:solidFill>
          <a:ln cap="flat" cmpd="sng" w="9525">
            <a:solidFill>
              <a:srgbClr val="362D52"/>
            </a:solidFill>
            <a:prstDash val="solid"/>
            <a:round/>
            <a:headEnd len="sm" w="sm" type="none"/>
            <a:tailEnd len="sm" w="sm" type="none"/>
          </a:ln>
          <a:effectLst>
            <a:outerShdw blurRad="508000" rotWithShape="0" algn="bl">
              <a:srgbClr val="8A3FFC">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5"/>
          <p:cNvSpPr/>
          <p:nvPr/>
        </p:nvSpPr>
        <p:spPr>
          <a:xfrm>
            <a:off x="6356350" y="1759843"/>
            <a:ext cx="5016500" cy="467320"/>
          </a:xfrm>
          <a:custGeom>
            <a:rect b="b" l="l" r="r" t="t"/>
            <a:pathLst>
              <a:path extrusionOk="0" h="467320" w="5016500">
                <a:moveTo>
                  <a:pt x="0" y="120650"/>
                </a:moveTo>
                <a:cubicBezTo>
                  <a:pt x="0" y="54017"/>
                  <a:pt x="54017" y="0"/>
                  <a:pt x="120650" y="0"/>
                </a:cubicBezTo>
                <a:lnTo>
                  <a:pt x="4895850" y="0"/>
                </a:lnTo>
                <a:cubicBezTo>
                  <a:pt x="4927848" y="0"/>
                  <a:pt x="4958536" y="12711"/>
                  <a:pt x="4981162" y="35338"/>
                </a:cubicBezTo>
                <a:cubicBezTo>
                  <a:pt x="5003789" y="57964"/>
                  <a:pt x="5016500" y="88652"/>
                  <a:pt x="5016500" y="120650"/>
                </a:cubicBezTo>
                <a:lnTo>
                  <a:pt x="5016500" y="467320"/>
                </a:lnTo>
                <a:lnTo>
                  <a:pt x="0" y="467320"/>
                </a:lnTo>
                <a:close/>
              </a:path>
            </a:pathLst>
          </a:custGeom>
          <a:solidFill>
            <a:srgbClr val="1C153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p:nvPr/>
        </p:nvSpPr>
        <p:spPr>
          <a:xfrm>
            <a:off x="6534150" y="1936353"/>
            <a:ext cx="114300" cy="114300"/>
          </a:xfrm>
          <a:prstGeom prst="roundRect">
            <a:avLst>
              <a:gd fmla="val 50000" name="adj"/>
            </a:avLst>
          </a:prstGeom>
          <a:solidFill>
            <a:srgbClr val="FF5F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p:cNvSpPr/>
          <p:nvPr/>
        </p:nvSpPr>
        <p:spPr>
          <a:xfrm>
            <a:off x="6724650" y="1936353"/>
            <a:ext cx="114300" cy="114300"/>
          </a:xfrm>
          <a:prstGeom prst="roundRect">
            <a:avLst>
              <a:gd fmla="val 50000" name="adj"/>
            </a:avLst>
          </a:prstGeom>
          <a:solidFill>
            <a:srgbClr val="FEBC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6915150" y="1936353"/>
            <a:ext cx="114300" cy="114300"/>
          </a:xfrm>
          <a:prstGeom prst="roundRect">
            <a:avLst>
              <a:gd fmla="val 50000" name="adj"/>
            </a:avLst>
          </a:prstGeom>
          <a:solidFill>
            <a:srgbClr val="28C8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5"/>
          <p:cNvSpPr/>
          <p:nvPr/>
        </p:nvSpPr>
        <p:spPr>
          <a:xfrm>
            <a:off x="7207250" y="1886843"/>
            <a:ext cx="3511391" cy="23872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8E86A8"/>
              </a:buClr>
              <a:buSzPts val="1200"/>
              <a:buFont typeface="DM Mono"/>
              <a:buNone/>
            </a:pPr>
            <a:r>
              <a:rPr b="0" i="0" lang="en-US" sz="1200" u="none" cap="none" strike="noStrike">
                <a:solidFill>
                  <a:srgbClr val="8E86A8"/>
                </a:solidFill>
                <a:latin typeface="DM Mono"/>
                <a:ea typeface="DM Mono"/>
                <a:cs typeface="DM Mono"/>
                <a:sym typeface="DM Mono"/>
              </a:rPr>
              <a:t>akshay@home-office: ~/everything</a:t>
            </a:r>
            <a:endParaRPr b="0" i="0" sz="1200" u="none" cap="none" strike="noStrike">
              <a:solidFill>
                <a:schemeClr val="dk1"/>
              </a:solidFill>
              <a:latin typeface="Calibri"/>
              <a:ea typeface="Calibri"/>
              <a:cs typeface="Calibri"/>
              <a:sym typeface="Calibri"/>
            </a:endParaRPr>
          </a:p>
        </p:txBody>
      </p:sp>
      <p:sp>
        <p:nvSpPr>
          <p:cNvPr id="71" name="Google Shape;71;p5"/>
          <p:cNvSpPr/>
          <p:nvPr/>
        </p:nvSpPr>
        <p:spPr>
          <a:xfrm>
            <a:off x="6584950" y="2455763"/>
            <a:ext cx="4696079" cy="2742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98BFF"/>
              </a:buClr>
              <a:buSzPts val="1400"/>
              <a:buFont typeface="DM Mono"/>
              <a:buNone/>
            </a:pPr>
            <a:r>
              <a:rPr b="0" i="0" lang="en-US" sz="1400" u="none" cap="none" strike="noStrike">
                <a:solidFill>
                  <a:srgbClr val="B98BFF"/>
                </a:solidFill>
                <a:latin typeface="DM Mono"/>
                <a:ea typeface="DM Mono"/>
                <a:cs typeface="DM Mono"/>
                <a:sym typeface="DM Mono"/>
              </a:rPr>
              <a:t>agent-1</a:t>
            </a:r>
            <a:r>
              <a:rPr b="0" i="0" lang="en-US" sz="1400" u="none" cap="none" strike="noStrike">
                <a:solidFill>
                  <a:srgbClr val="C9C3DB"/>
                </a:solidFill>
                <a:latin typeface="DM Mono"/>
                <a:ea typeface="DM Mono"/>
                <a:cs typeface="DM Mono"/>
                <a:sym typeface="DM Mono"/>
              </a:rPr>
              <a:t> writing the code</a:t>
            </a:r>
            <a:endParaRPr b="0" i="0" sz="1400" u="none" cap="none" strike="noStrike">
              <a:solidFill>
                <a:schemeClr val="dk1"/>
              </a:solidFill>
              <a:latin typeface="Calibri"/>
              <a:ea typeface="Calibri"/>
              <a:cs typeface="Calibri"/>
              <a:sym typeface="Calibri"/>
            </a:endParaRPr>
          </a:p>
        </p:txBody>
      </p:sp>
      <p:sp>
        <p:nvSpPr>
          <p:cNvPr id="72" name="Google Shape;72;p5"/>
          <p:cNvSpPr/>
          <p:nvPr/>
        </p:nvSpPr>
        <p:spPr>
          <a:xfrm>
            <a:off x="6584950" y="2818904"/>
            <a:ext cx="4696079" cy="2742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98BFF"/>
              </a:buClr>
              <a:buSzPts val="1400"/>
              <a:buFont typeface="DM Mono"/>
              <a:buNone/>
            </a:pPr>
            <a:r>
              <a:rPr b="0" i="0" lang="en-US" sz="1400" u="none" cap="none" strike="noStrike">
                <a:solidFill>
                  <a:srgbClr val="B98BFF"/>
                </a:solidFill>
                <a:latin typeface="DM Mono"/>
                <a:ea typeface="DM Mono"/>
                <a:cs typeface="DM Mono"/>
                <a:sym typeface="DM Mono"/>
              </a:rPr>
              <a:t>agent-2</a:t>
            </a:r>
            <a:r>
              <a:rPr b="0" i="0" lang="en-US" sz="1400" u="none" cap="none" strike="noStrike">
                <a:solidFill>
                  <a:srgbClr val="C9C3DB"/>
                </a:solidFill>
                <a:latin typeface="DM Mono"/>
                <a:ea typeface="DM Mono"/>
                <a:cs typeface="DM Mono"/>
                <a:sym typeface="DM Mono"/>
              </a:rPr>
              <a:t> reviewing agent-1</a:t>
            </a:r>
            <a:endParaRPr b="0" i="0" sz="1400" u="none" cap="none" strike="noStrike">
              <a:solidFill>
                <a:schemeClr val="dk1"/>
              </a:solidFill>
              <a:latin typeface="Calibri"/>
              <a:ea typeface="Calibri"/>
              <a:cs typeface="Calibri"/>
              <a:sym typeface="Calibri"/>
            </a:endParaRPr>
          </a:p>
        </p:txBody>
      </p:sp>
      <p:sp>
        <p:nvSpPr>
          <p:cNvPr id="73" name="Google Shape;73;p5"/>
          <p:cNvSpPr/>
          <p:nvPr/>
        </p:nvSpPr>
        <p:spPr>
          <a:xfrm>
            <a:off x="6584950" y="3182045"/>
            <a:ext cx="4696079" cy="2742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98BFF"/>
              </a:buClr>
              <a:buSzPts val="1400"/>
              <a:buFont typeface="DM Mono"/>
              <a:buNone/>
            </a:pPr>
            <a:r>
              <a:rPr b="0" i="0" lang="en-US" sz="1400" u="none" cap="none" strike="noStrike">
                <a:solidFill>
                  <a:srgbClr val="B98BFF"/>
                </a:solidFill>
                <a:latin typeface="DM Mono"/>
                <a:ea typeface="DM Mono"/>
                <a:cs typeface="DM Mono"/>
                <a:sym typeface="DM Mono"/>
              </a:rPr>
              <a:t>agent-3</a:t>
            </a:r>
            <a:r>
              <a:rPr b="0" i="0" lang="en-US" sz="1400" u="none" cap="none" strike="noStrike">
                <a:solidFill>
                  <a:srgbClr val="C9C3DB"/>
                </a:solidFill>
                <a:latin typeface="DM Mono"/>
                <a:ea typeface="DM Mono"/>
                <a:cs typeface="DM Mono"/>
                <a:sym typeface="DM Mono"/>
              </a:rPr>
              <a:t> writing the README</a:t>
            </a:r>
            <a:endParaRPr b="0" i="0" sz="1400" u="none" cap="none" strike="noStrike">
              <a:solidFill>
                <a:schemeClr val="dk1"/>
              </a:solidFill>
              <a:latin typeface="Calibri"/>
              <a:ea typeface="Calibri"/>
              <a:cs typeface="Calibri"/>
              <a:sym typeface="Calibri"/>
            </a:endParaRPr>
          </a:p>
        </p:txBody>
      </p:sp>
      <p:sp>
        <p:nvSpPr>
          <p:cNvPr id="74" name="Google Shape;74;p5"/>
          <p:cNvSpPr/>
          <p:nvPr/>
        </p:nvSpPr>
        <p:spPr>
          <a:xfrm>
            <a:off x="6584950" y="3545185"/>
            <a:ext cx="4696079" cy="2742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98BFF"/>
              </a:buClr>
              <a:buSzPts val="1400"/>
              <a:buFont typeface="DM Mono"/>
              <a:buNone/>
            </a:pPr>
            <a:r>
              <a:rPr b="0" i="0" lang="en-US" sz="1400" u="none" cap="none" strike="noStrike">
                <a:solidFill>
                  <a:srgbClr val="B98BFF"/>
                </a:solidFill>
                <a:latin typeface="DM Mono"/>
                <a:ea typeface="DM Mono"/>
                <a:cs typeface="DM Mono"/>
                <a:sym typeface="DM Mono"/>
              </a:rPr>
              <a:t>agent-4</a:t>
            </a:r>
            <a:r>
              <a:rPr b="0" i="0" lang="en-US" sz="1400" u="none" cap="none" strike="noStrike">
                <a:solidFill>
                  <a:srgbClr val="C9C3DB"/>
                </a:solidFill>
                <a:latin typeface="DM Mono"/>
                <a:ea typeface="DM Mono"/>
                <a:cs typeface="DM Mono"/>
                <a:sym typeface="DM Mono"/>
              </a:rPr>
              <a:t> arguing with agent-3</a:t>
            </a:r>
            <a:endParaRPr b="0" i="0" sz="1400" u="none" cap="none" strike="noStrike">
              <a:solidFill>
                <a:schemeClr val="dk1"/>
              </a:solidFill>
              <a:latin typeface="Calibri"/>
              <a:ea typeface="Calibri"/>
              <a:cs typeface="Calibri"/>
              <a:sym typeface="Calibri"/>
            </a:endParaRPr>
          </a:p>
        </p:txBody>
      </p:sp>
      <p:sp>
        <p:nvSpPr>
          <p:cNvPr id="75" name="Google Shape;75;p5"/>
          <p:cNvSpPr/>
          <p:nvPr/>
        </p:nvSpPr>
        <p:spPr>
          <a:xfrm>
            <a:off x="6584950" y="3908326"/>
            <a:ext cx="4696079" cy="2742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98BFF"/>
              </a:buClr>
              <a:buSzPts val="1400"/>
              <a:buFont typeface="DM Mono"/>
              <a:buNone/>
            </a:pPr>
            <a:r>
              <a:rPr b="0" i="0" lang="en-US" sz="1400" u="none" cap="none" strike="noStrike">
                <a:solidFill>
                  <a:srgbClr val="B98BFF"/>
                </a:solidFill>
                <a:latin typeface="DM Mono"/>
                <a:ea typeface="DM Mono"/>
                <a:cs typeface="DM Mono"/>
                <a:sym typeface="DM Mono"/>
              </a:rPr>
              <a:t>fulfillment-agent</a:t>
            </a:r>
            <a:r>
              <a:rPr b="0" i="0" lang="en-US" sz="1400" u="none" cap="none" strike="noStrike">
                <a:solidFill>
                  <a:srgbClr val="C9C3DB"/>
                </a:solidFill>
                <a:latin typeface="DM Mono"/>
                <a:ea typeface="DM Mono"/>
                <a:cs typeface="DM Mono"/>
                <a:sym typeface="DM Mono"/>
              </a:rPr>
              <a:t> retrying… attempt 4,812</a:t>
            </a:r>
            <a:endParaRPr b="0" i="0" sz="1400" u="none" cap="none" strike="noStrike">
              <a:solidFill>
                <a:schemeClr val="dk1"/>
              </a:solidFill>
              <a:latin typeface="Calibri"/>
              <a:ea typeface="Calibri"/>
              <a:cs typeface="Calibri"/>
              <a:sym typeface="Calibri"/>
            </a:endParaRPr>
          </a:p>
        </p:txBody>
      </p:sp>
      <p:pic>
        <p:nvPicPr>
          <p:cNvPr descr="line" id="76" name="Google Shape;76;p5"/>
          <p:cNvPicPr preferRelativeResize="0"/>
          <p:nvPr/>
        </p:nvPicPr>
        <p:blipFill rotWithShape="1">
          <a:blip r:embed="rId3">
            <a:alphaModFix/>
          </a:blip>
          <a:srcRect b="0" l="0" r="0" t="0"/>
          <a:stretch/>
        </p:blipFill>
        <p:spPr>
          <a:xfrm>
            <a:off x="6584950" y="4271466"/>
            <a:ext cx="4559300" cy="6350"/>
          </a:xfrm>
          <a:prstGeom prst="rect">
            <a:avLst/>
          </a:prstGeom>
          <a:noFill/>
          <a:ln>
            <a:noFill/>
          </a:ln>
        </p:spPr>
      </p:pic>
      <p:sp>
        <p:nvSpPr>
          <p:cNvPr id="77" name="Google Shape;77;p5"/>
          <p:cNvSpPr/>
          <p:nvPr/>
        </p:nvSpPr>
        <p:spPr>
          <a:xfrm>
            <a:off x="6584950" y="4392116"/>
            <a:ext cx="4696079" cy="2742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F4F2FA"/>
              </a:buClr>
              <a:buSzPts val="1400"/>
              <a:buFont typeface="DM Mono"/>
              <a:buNone/>
            </a:pPr>
            <a:r>
              <a:rPr b="0" i="0" lang="en-US" sz="1400" u="none" cap="none" strike="noStrike">
                <a:solidFill>
                  <a:srgbClr val="F4F2FA"/>
                </a:solidFill>
                <a:latin typeface="DM Mono"/>
                <a:ea typeface="DM Mono"/>
                <a:cs typeface="DM Mono"/>
                <a:sym typeface="DM Mono"/>
              </a:rPr>
              <a:t>tokens today </a:t>
            </a:r>
            <a:r>
              <a:rPr b="0" i="0" lang="en-US" sz="1400" u="none" cap="none" strike="noStrike">
                <a:solidFill>
                  <a:srgbClr val="FF5C7A"/>
                </a:solidFill>
                <a:latin typeface="DM Mono"/>
                <a:ea typeface="DM Mono"/>
                <a:cs typeface="DM Mono"/>
                <a:sym typeface="DM Mono"/>
              </a:rPr>
              <a:t>18,402,113 ↑</a:t>
            </a:r>
            <a:endParaRPr b="0" i="0" sz="1400" u="none" cap="none" strike="noStrike">
              <a:solidFill>
                <a:schemeClr val="dk1"/>
              </a:solidFill>
              <a:latin typeface="Calibri"/>
              <a:ea typeface="Calibri"/>
              <a:cs typeface="Calibri"/>
              <a:sym typeface="Calibri"/>
            </a:endParaRPr>
          </a:p>
        </p:txBody>
      </p:sp>
      <p:pic>
        <p:nvPicPr>
          <p:cNvPr descr="Solo.io" id="78" name="Google Shape;78;p5"/>
          <p:cNvPicPr preferRelativeResize="0"/>
          <p:nvPr/>
        </p:nvPicPr>
        <p:blipFill rotWithShape="1">
          <a:blip r:embed="rId4">
            <a:alphaModFix/>
          </a:blip>
          <a:srcRect b="-179" l="0" r="0" t="-179"/>
          <a:stretch/>
        </p:blipFill>
        <p:spPr>
          <a:xfrm>
            <a:off x="812800" y="6223000"/>
            <a:ext cx="1016000" cy="228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0E27"/>
        </a:solidFill>
      </p:bgPr>
    </p:bg>
    <p:spTree>
      <p:nvGrpSpPr>
        <p:cNvPr id="83" name="Shape 83"/>
        <p:cNvGrpSpPr/>
        <p:nvPr/>
      </p:nvGrpSpPr>
      <p:grpSpPr>
        <a:xfrm>
          <a:off x="0" y="0"/>
          <a:ext cx="0" cy="0"/>
          <a:chOff x="0" y="0"/>
          <a:chExt cx="0" cy="0"/>
        </a:xfrm>
      </p:grpSpPr>
      <p:sp>
        <p:nvSpPr>
          <p:cNvPr id="84" name="Google Shape;84;p6"/>
          <p:cNvSpPr/>
          <p:nvPr/>
        </p:nvSpPr>
        <p:spPr>
          <a:xfrm>
            <a:off x="2162175" y="1230114"/>
            <a:ext cx="7867650" cy="4194572"/>
          </a:xfrm>
          <a:prstGeom prst="roundRect">
            <a:avLst>
              <a:gd fmla="val 2952" name="adj"/>
            </a:avLst>
          </a:prstGeom>
          <a:solidFill>
            <a:srgbClr val="211A38"/>
          </a:solidFill>
          <a:ln cap="flat" cmpd="sng" w="9525">
            <a:solidFill>
              <a:srgbClr val="362D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6"/>
          <p:cNvSpPr/>
          <p:nvPr/>
        </p:nvSpPr>
        <p:spPr>
          <a:xfrm>
            <a:off x="2520950" y="1554559"/>
            <a:ext cx="508000" cy="508000"/>
          </a:xfrm>
          <a:prstGeom prst="roundRect">
            <a:avLst>
              <a:gd fmla="val 20000" name="adj"/>
            </a:avLst>
          </a:prstGeom>
          <a:solidFill>
            <a:srgbClr val="8A3FFC"/>
          </a:solidFill>
          <a:ln>
            <a:noFill/>
          </a:ln>
        </p:spPr>
        <p:txBody>
          <a:bodyPr anchorCtr="0" anchor="ctr" bIns="0" lIns="0" spcFirstLastPara="1" rIns="0" wrap="square" tIns="0">
            <a:noAutofit/>
          </a:bodyPr>
          <a:lstStyle/>
          <a:p>
            <a:pPr indent="0" lvl="0" marL="0" marR="0" rtl="0" algn="ctr">
              <a:lnSpc>
                <a:spcPct val="116667"/>
              </a:lnSpc>
              <a:spcBef>
                <a:spcPts val="0"/>
              </a:spcBef>
              <a:spcAft>
                <a:spcPts val="0"/>
              </a:spcAft>
              <a:buClr>
                <a:srgbClr val="F4F2FA"/>
              </a:buClr>
              <a:buSzPts val="2000"/>
              <a:buFont typeface="Figtree"/>
              <a:buNone/>
            </a:pPr>
            <a:r>
              <a:rPr b="1" i="0" lang="en-US" sz="2000" u="none" cap="none" strike="noStrike">
                <a:solidFill>
                  <a:srgbClr val="F4F2FA"/>
                </a:solidFill>
                <a:latin typeface="Figtree"/>
                <a:ea typeface="Figtree"/>
                <a:cs typeface="Figtree"/>
                <a:sym typeface="Figtree"/>
              </a:rPr>
              <a:t>R</a:t>
            </a:r>
            <a:endParaRPr b="0" i="0" sz="2000" u="none" cap="none" strike="noStrike">
              <a:solidFill>
                <a:schemeClr val="dk1"/>
              </a:solidFill>
              <a:latin typeface="Calibri"/>
              <a:ea typeface="Calibri"/>
              <a:cs typeface="Calibri"/>
              <a:sym typeface="Calibri"/>
            </a:endParaRPr>
          </a:p>
        </p:txBody>
      </p:sp>
      <p:sp>
        <p:nvSpPr>
          <p:cNvPr id="86" name="Google Shape;86;p6"/>
          <p:cNvSpPr/>
          <p:nvPr/>
        </p:nvSpPr>
        <p:spPr>
          <a:xfrm>
            <a:off x="3181350" y="1538089"/>
            <a:ext cx="2260458" cy="32762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F4F2FA"/>
              </a:buClr>
              <a:buSzPts val="1700"/>
              <a:buFont typeface="DM Sans"/>
              <a:buNone/>
            </a:pPr>
            <a:r>
              <a:rPr b="1" i="0" lang="en-US" sz="1700" u="none" cap="none" strike="noStrike">
                <a:solidFill>
                  <a:srgbClr val="F4F2FA"/>
                </a:solidFill>
                <a:latin typeface="DM Sans"/>
                <a:ea typeface="DM Sans"/>
                <a:cs typeface="DM Sans"/>
                <a:sym typeface="DM Sans"/>
              </a:rPr>
              <a:t>Rob (CFO)</a:t>
            </a:r>
            <a:endParaRPr b="0" i="0" sz="1700" u="none" cap="none" strike="noStrike">
              <a:solidFill>
                <a:schemeClr val="dk1"/>
              </a:solidFill>
              <a:latin typeface="Calibri"/>
              <a:ea typeface="Calibri"/>
              <a:cs typeface="Calibri"/>
              <a:sym typeface="Calibri"/>
            </a:endParaRPr>
          </a:p>
        </p:txBody>
      </p:sp>
      <p:sp>
        <p:nvSpPr>
          <p:cNvPr id="87" name="Google Shape;87;p6"/>
          <p:cNvSpPr/>
          <p:nvPr/>
        </p:nvSpPr>
        <p:spPr>
          <a:xfrm>
            <a:off x="3181350" y="1865709"/>
            <a:ext cx="2633543" cy="23872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8E86A8"/>
              </a:buClr>
              <a:buSzPts val="1200"/>
              <a:buFont typeface="DM Mono"/>
              <a:buNone/>
            </a:pPr>
            <a:r>
              <a:rPr b="0" i="0" lang="en-US" sz="1200" u="none" cap="none" strike="noStrike">
                <a:solidFill>
                  <a:srgbClr val="8E86A8"/>
                </a:solidFill>
                <a:latin typeface="DM Mono"/>
                <a:ea typeface="DM Mono"/>
                <a:cs typeface="DM Mono"/>
                <a:sym typeface="DM Mono"/>
              </a:rPr>
              <a:t>Direct message · 7:02 AM</a:t>
            </a:r>
            <a:endParaRPr b="0" i="0" sz="1200" u="none" cap="none" strike="noStrike">
              <a:solidFill>
                <a:schemeClr val="dk1"/>
              </a:solidFill>
              <a:latin typeface="Calibri"/>
              <a:ea typeface="Calibri"/>
              <a:cs typeface="Calibri"/>
              <a:sym typeface="Calibri"/>
            </a:endParaRPr>
          </a:p>
        </p:txBody>
      </p:sp>
      <p:sp>
        <p:nvSpPr>
          <p:cNvPr id="88" name="Google Shape;88;p6"/>
          <p:cNvSpPr/>
          <p:nvPr/>
        </p:nvSpPr>
        <p:spPr>
          <a:xfrm>
            <a:off x="2520950" y="2256830"/>
            <a:ext cx="7364603" cy="779661"/>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F4F2FA"/>
              </a:buClr>
              <a:buSzPts val="2200"/>
              <a:buFont typeface="DM Sans"/>
              <a:buNone/>
            </a:pPr>
            <a:r>
              <a:rPr b="0" i="0" lang="en-US" sz="2200" u="none" cap="none" strike="noStrike">
                <a:solidFill>
                  <a:srgbClr val="F4F2FA"/>
                </a:solidFill>
                <a:latin typeface="DM Sans"/>
                <a:ea typeface="DM Sans"/>
                <a:cs typeface="DM Sans"/>
                <a:sym typeface="DM Sans"/>
              </a:rPr>
              <a:t>Akshay. Who is </a:t>
            </a:r>
            <a:r>
              <a:rPr b="1" i="0" lang="en-US" sz="2200" u="none" cap="none" strike="noStrike">
                <a:solidFill>
                  <a:srgbClr val="F4F2FA"/>
                </a:solidFill>
                <a:latin typeface="DM Sans"/>
                <a:ea typeface="DM Sans"/>
                <a:cs typeface="DM Sans"/>
                <a:sym typeface="DM Sans"/>
              </a:rPr>
              <a:t>fulfillment-agent</a:t>
            </a:r>
            <a:r>
              <a:rPr b="0" i="0" lang="en-US" sz="2200" u="none" cap="none" strike="noStrike">
                <a:solidFill>
                  <a:srgbClr val="F4F2FA"/>
                </a:solidFill>
                <a:latin typeface="DM Sans"/>
                <a:ea typeface="DM Sans"/>
                <a:cs typeface="DM Sans"/>
                <a:sym typeface="DM Sans"/>
              </a:rPr>
              <a:t> and why did it make </a:t>
            </a:r>
            <a:r>
              <a:rPr b="1" i="0" lang="en-US" sz="2200" u="none" cap="none" strike="noStrike">
                <a:solidFill>
                  <a:srgbClr val="F4F2FA"/>
                </a:solidFill>
                <a:latin typeface="DM Sans"/>
                <a:ea typeface="DM Sans"/>
                <a:cs typeface="DM Sans"/>
                <a:sym typeface="DM Sans"/>
              </a:rPr>
              <a:t>40,000 requests</a:t>
            </a:r>
            <a:r>
              <a:rPr b="0" i="0" lang="en-US" sz="2200" u="none" cap="none" strike="noStrike">
                <a:solidFill>
                  <a:srgbClr val="F4F2FA"/>
                </a:solidFill>
                <a:latin typeface="DM Sans"/>
                <a:ea typeface="DM Sans"/>
                <a:cs typeface="DM Sans"/>
                <a:sym typeface="DM Sans"/>
              </a:rPr>
              <a:t> last night?</a:t>
            </a:r>
            <a:endParaRPr b="0" i="0" sz="2200" u="none" cap="none" strike="noStrike">
              <a:solidFill>
                <a:schemeClr val="dk1"/>
              </a:solidFill>
              <a:latin typeface="Calibri"/>
              <a:ea typeface="Calibri"/>
              <a:cs typeface="Calibri"/>
              <a:sym typeface="Calibri"/>
            </a:endParaRPr>
          </a:p>
        </p:txBody>
      </p:sp>
      <p:sp>
        <p:nvSpPr>
          <p:cNvPr id="89" name="Google Shape;89;p6"/>
          <p:cNvSpPr/>
          <p:nvPr/>
        </p:nvSpPr>
        <p:spPr>
          <a:xfrm>
            <a:off x="2520950" y="3188891"/>
            <a:ext cx="7150100" cy="1927820"/>
          </a:xfrm>
          <a:prstGeom prst="roundRect">
            <a:avLst>
              <a:gd fmla="val 4611" name="adj"/>
            </a:avLst>
          </a:prstGeom>
          <a:solidFill>
            <a:srgbClr val="F6F4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p:nvPr/>
        </p:nvSpPr>
        <p:spPr>
          <a:xfrm>
            <a:off x="2774950" y="3392091"/>
            <a:ext cx="2533531" cy="30986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1B1530"/>
              </a:buClr>
              <a:buSzPts val="1600"/>
              <a:buFont typeface="DM Sans"/>
              <a:buNone/>
            </a:pPr>
            <a:r>
              <a:rPr b="1" i="0" lang="en-US" sz="1600" u="none" cap="none" strike="noStrike">
                <a:solidFill>
                  <a:srgbClr val="1B1530"/>
                </a:solidFill>
                <a:latin typeface="DM Sans"/>
                <a:ea typeface="DM Sans"/>
                <a:cs typeface="DM Sans"/>
                <a:sym typeface="DM Sans"/>
              </a:rPr>
              <a:t>Anthropic · API usage</a:t>
            </a:r>
            <a:endParaRPr b="0" i="0" sz="1600" u="none" cap="none" strike="noStrike">
              <a:solidFill>
                <a:schemeClr val="dk1"/>
              </a:solidFill>
              <a:latin typeface="Calibri"/>
              <a:ea typeface="Calibri"/>
              <a:cs typeface="Calibri"/>
              <a:sym typeface="Calibri"/>
            </a:endParaRPr>
          </a:p>
        </p:txBody>
      </p:sp>
      <p:sp>
        <p:nvSpPr>
          <p:cNvPr id="91" name="Google Shape;91;p6"/>
          <p:cNvSpPr/>
          <p:nvPr/>
        </p:nvSpPr>
        <p:spPr>
          <a:xfrm>
            <a:off x="8584922" y="3392091"/>
            <a:ext cx="832128" cy="309860"/>
          </a:xfrm>
          <a:prstGeom prst="rect">
            <a:avLst/>
          </a:prstGeom>
          <a:noFill/>
          <a:ln>
            <a:noFill/>
          </a:ln>
        </p:spPr>
        <p:txBody>
          <a:bodyPr anchorCtr="0" anchor="t" bIns="0" lIns="0" spcFirstLastPara="1" rIns="0" wrap="square" tIns="0">
            <a:noAutofit/>
          </a:bodyPr>
          <a:lstStyle/>
          <a:p>
            <a:pPr indent="0" lvl="0" marL="0" marR="0" rtl="0" algn="r">
              <a:lnSpc>
                <a:spcPct val="116667"/>
              </a:lnSpc>
              <a:spcBef>
                <a:spcPts val="0"/>
              </a:spcBef>
              <a:spcAft>
                <a:spcPts val="0"/>
              </a:spcAft>
              <a:buClr>
                <a:srgbClr val="6B6585"/>
              </a:buClr>
              <a:buSzPts val="1300"/>
              <a:buFont typeface="DM Mono"/>
              <a:buNone/>
            </a:pPr>
            <a:r>
              <a:rPr b="0" i="0" lang="en-US" sz="1300" u="none" cap="none" strike="noStrike">
                <a:solidFill>
                  <a:srgbClr val="6B6585"/>
                </a:solidFill>
                <a:latin typeface="DM Mono"/>
                <a:ea typeface="DM Mono"/>
                <a:cs typeface="DM Mono"/>
                <a:sym typeface="DM Mono"/>
              </a:rPr>
              <a:t>INVOICE</a:t>
            </a:r>
            <a:endParaRPr b="0" i="0" sz="1300" u="none" cap="none" strike="noStrike">
              <a:solidFill>
                <a:schemeClr val="dk1"/>
              </a:solidFill>
              <a:latin typeface="Calibri"/>
              <a:ea typeface="Calibri"/>
              <a:cs typeface="Calibri"/>
              <a:sym typeface="Calibri"/>
            </a:endParaRPr>
          </a:p>
        </p:txBody>
      </p:sp>
      <p:sp>
        <p:nvSpPr>
          <p:cNvPr id="92" name="Google Shape;92;p6"/>
          <p:cNvSpPr/>
          <p:nvPr/>
        </p:nvSpPr>
        <p:spPr>
          <a:xfrm>
            <a:off x="2774950" y="3778151"/>
            <a:ext cx="6841363" cy="66546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1B1530"/>
              </a:buClr>
              <a:buSzPts val="3600"/>
              <a:buFont typeface="Figtree"/>
              <a:buNone/>
            </a:pPr>
            <a:r>
              <a:rPr b="0" i="0" lang="en-US" sz="3600" u="none" cap="none" strike="noStrike">
                <a:solidFill>
                  <a:srgbClr val="1B1530"/>
                </a:solidFill>
                <a:latin typeface="Figtree"/>
                <a:ea typeface="Figtree"/>
                <a:cs typeface="Figtree"/>
                <a:sym typeface="Figtree"/>
              </a:rPr>
              <a:t>$22,917.40</a:t>
            </a:r>
            <a:endParaRPr b="0" i="0" sz="3600" u="none" cap="none" strike="noStrike">
              <a:solidFill>
                <a:schemeClr val="dk1"/>
              </a:solidFill>
              <a:latin typeface="Calibri"/>
              <a:ea typeface="Calibri"/>
              <a:cs typeface="Calibri"/>
              <a:sym typeface="Calibri"/>
            </a:endParaRPr>
          </a:p>
        </p:txBody>
      </p:sp>
      <p:sp>
        <p:nvSpPr>
          <p:cNvPr id="93" name="Google Shape;93;p6"/>
          <p:cNvSpPr/>
          <p:nvPr/>
        </p:nvSpPr>
        <p:spPr>
          <a:xfrm>
            <a:off x="2774950" y="4583311"/>
            <a:ext cx="950218" cy="29210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4A4462"/>
              </a:buClr>
              <a:buSzPts val="1500"/>
              <a:buFont typeface="DM Sans"/>
              <a:buNone/>
            </a:pPr>
            <a:r>
              <a:rPr b="0" i="0" lang="en-US" sz="1500" u="none" cap="none" strike="noStrike">
                <a:solidFill>
                  <a:srgbClr val="4A4462"/>
                </a:solidFill>
                <a:latin typeface="DM Sans"/>
                <a:ea typeface="DM Sans"/>
                <a:cs typeface="DM Sans"/>
                <a:sym typeface="DM Sans"/>
              </a:rPr>
              <a:t>Top user:</a:t>
            </a:r>
            <a:endParaRPr b="0" i="0" sz="1500" u="none" cap="none" strike="noStrike">
              <a:solidFill>
                <a:schemeClr val="dk1"/>
              </a:solidFill>
              <a:latin typeface="Calibri"/>
              <a:ea typeface="Calibri"/>
              <a:cs typeface="Calibri"/>
              <a:sym typeface="Calibri"/>
            </a:endParaRPr>
          </a:p>
        </p:txBody>
      </p:sp>
      <p:sp>
        <p:nvSpPr>
          <p:cNvPr id="94" name="Google Shape;94;p6"/>
          <p:cNvSpPr/>
          <p:nvPr/>
        </p:nvSpPr>
        <p:spPr>
          <a:xfrm>
            <a:off x="3737868" y="4532511"/>
            <a:ext cx="1066800" cy="368300"/>
          </a:xfrm>
          <a:prstGeom prst="roundRect">
            <a:avLst>
              <a:gd fmla="val 50000" name="adj"/>
            </a:avLst>
          </a:prstGeom>
          <a:noFill/>
          <a:ln cap="flat" cmpd="sng" w="25400">
            <a:solidFill>
              <a:srgbClr val="D6264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16667"/>
              </a:lnSpc>
              <a:spcBef>
                <a:spcPts val="0"/>
              </a:spcBef>
              <a:spcAft>
                <a:spcPts val="0"/>
              </a:spcAft>
              <a:buClr>
                <a:srgbClr val="D6264B"/>
              </a:buClr>
              <a:buSzPts val="1500"/>
              <a:buFont typeface="DM Mono"/>
              <a:buNone/>
            </a:pPr>
            <a:r>
              <a:rPr b="0" i="0" lang="en-US" sz="1500" u="none" cap="none" strike="noStrike">
                <a:solidFill>
                  <a:srgbClr val="D6264B"/>
                </a:solidFill>
                <a:latin typeface="DM Mono"/>
                <a:ea typeface="DM Mono"/>
                <a:cs typeface="DM Mono"/>
                <a:sym typeface="DM Mono"/>
              </a:rPr>
              <a:t>akshay</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0E27"/>
        </a:solidFill>
      </p:bgPr>
    </p:bg>
    <p:spTree>
      <p:nvGrpSpPr>
        <p:cNvPr id="99" name="Shape 99"/>
        <p:cNvGrpSpPr/>
        <p:nvPr/>
      </p:nvGrpSpPr>
      <p:grpSpPr>
        <a:xfrm>
          <a:off x="0" y="0"/>
          <a:ext cx="0" cy="0"/>
          <a:chOff x="0" y="0"/>
          <a:chExt cx="0" cy="0"/>
        </a:xfrm>
      </p:grpSpPr>
      <p:sp>
        <p:nvSpPr>
          <p:cNvPr id="100" name="Google Shape;100;p7"/>
          <p:cNvSpPr/>
          <p:nvPr/>
        </p:nvSpPr>
        <p:spPr>
          <a:xfrm>
            <a:off x="2162175" y="1896765"/>
            <a:ext cx="7867650" cy="2861171"/>
          </a:xfrm>
          <a:prstGeom prst="roundRect">
            <a:avLst>
              <a:gd fmla="val 4328" name="adj"/>
            </a:avLst>
          </a:prstGeom>
          <a:solidFill>
            <a:srgbClr val="211A38"/>
          </a:solidFill>
          <a:ln cap="flat" cmpd="sng" w="9525">
            <a:solidFill>
              <a:srgbClr val="362D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7"/>
          <p:cNvSpPr/>
          <p:nvPr/>
        </p:nvSpPr>
        <p:spPr>
          <a:xfrm>
            <a:off x="2520950" y="2221210"/>
            <a:ext cx="508000" cy="508000"/>
          </a:xfrm>
          <a:prstGeom prst="roundRect">
            <a:avLst>
              <a:gd fmla="val 20000" name="adj"/>
            </a:avLst>
          </a:prstGeom>
          <a:solidFill>
            <a:srgbClr val="8A3FFC"/>
          </a:solidFill>
          <a:ln>
            <a:noFill/>
          </a:ln>
        </p:spPr>
        <p:txBody>
          <a:bodyPr anchorCtr="0" anchor="ctr" bIns="0" lIns="0" spcFirstLastPara="1" rIns="0" wrap="square" tIns="0">
            <a:noAutofit/>
          </a:bodyPr>
          <a:lstStyle/>
          <a:p>
            <a:pPr indent="0" lvl="0" marL="0" marR="0" rtl="0" algn="ctr">
              <a:lnSpc>
                <a:spcPct val="116667"/>
              </a:lnSpc>
              <a:spcBef>
                <a:spcPts val="0"/>
              </a:spcBef>
              <a:spcAft>
                <a:spcPts val="0"/>
              </a:spcAft>
              <a:buClr>
                <a:srgbClr val="F4F2FA"/>
              </a:buClr>
              <a:buSzPts val="2000"/>
              <a:buFont typeface="Figtree"/>
              <a:buNone/>
            </a:pPr>
            <a:r>
              <a:rPr b="1" i="0" lang="en-US" sz="2000" u="none" cap="none" strike="noStrike">
                <a:solidFill>
                  <a:srgbClr val="F4F2FA"/>
                </a:solidFill>
                <a:latin typeface="Figtree"/>
                <a:ea typeface="Figtree"/>
                <a:cs typeface="Figtree"/>
                <a:sym typeface="Figtree"/>
              </a:rPr>
              <a:t>R</a:t>
            </a:r>
            <a:endParaRPr b="0" i="0" sz="2000" u="none" cap="none" strike="noStrike">
              <a:solidFill>
                <a:schemeClr val="dk1"/>
              </a:solidFill>
              <a:latin typeface="Calibri"/>
              <a:ea typeface="Calibri"/>
              <a:cs typeface="Calibri"/>
              <a:sym typeface="Calibri"/>
            </a:endParaRPr>
          </a:p>
        </p:txBody>
      </p:sp>
      <p:sp>
        <p:nvSpPr>
          <p:cNvPr id="102" name="Google Shape;102;p7"/>
          <p:cNvSpPr/>
          <p:nvPr/>
        </p:nvSpPr>
        <p:spPr>
          <a:xfrm>
            <a:off x="3181350" y="2204740"/>
            <a:ext cx="2260458" cy="32762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F4F2FA"/>
              </a:buClr>
              <a:buSzPts val="1700"/>
              <a:buFont typeface="DM Sans"/>
              <a:buNone/>
            </a:pPr>
            <a:r>
              <a:rPr b="1" i="0" lang="en-US" sz="1700" u="none" cap="none" strike="noStrike">
                <a:solidFill>
                  <a:srgbClr val="F4F2FA"/>
                </a:solidFill>
                <a:latin typeface="DM Sans"/>
                <a:ea typeface="DM Sans"/>
                <a:cs typeface="DM Sans"/>
                <a:sym typeface="DM Sans"/>
              </a:rPr>
              <a:t>Rob (CFO)</a:t>
            </a:r>
            <a:endParaRPr b="0" i="0" sz="1700" u="none" cap="none" strike="noStrike">
              <a:solidFill>
                <a:schemeClr val="dk1"/>
              </a:solidFill>
              <a:latin typeface="Calibri"/>
              <a:ea typeface="Calibri"/>
              <a:cs typeface="Calibri"/>
              <a:sym typeface="Calibri"/>
            </a:endParaRPr>
          </a:p>
        </p:txBody>
      </p:sp>
      <p:sp>
        <p:nvSpPr>
          <p:cNvPr id="103" name="Google Shape;103;p7"/>
          <p:cNvSpPr/>
          <p:nvPr/>
        </p:nvSpPr>
        <p:spPr>
          <a:xfrm>
            <a:off x="3181350" y="2532360"/>
            <a:ext cx="2633543" cy="23872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8E86A8"/>
              </a:buClr>
              <a:buSzPts val="1200"/>
              <a:buFont typeface="DM Mono"/>
              <a:buNone/>
            </a:pPr>
            <a:r>
              <a:rPr b="0" i="0" lang="en-US" sz="1200" u="none" cap="none" strike="noStrike">
                <a:solidFill>
                  <a:srgbClr val="8E86A8"/>
                </a:solidFill>
                <a:latin typeface="DM Mono"/>
                <a:ea typeface="DM Mono"/>
                <a:cs typeface="DM Mono"/>
                <a:sym typeface="DM Mono"/>
              </a:rPr>
              <a:t>Direct message · 7:03 AM</a:t>
            </a:r>
            <a:endParaRPr b="0" i="0" sz="1200" u="none" cap="none" strike="noStrike">
              <a:solidFill>
                <a:schemeClr val="dk1"/>
              </a:solidFill>
              <a:latin typeface="Calibri"/>
              <a:ea typeface="Calibri"/>
              <a:cs typeface="Calibri"/>
              <a:sym typeface="Calibri"/>
            </a:endParaRPr>
          </a:p>
        </p:txBody>
      </p:sp>
      <p:sp>
        <p:nvSpPr>
          <p:cNvPr id="104" name="Google Shape;104;p7"/>
          <p:cNvSpPr/>
          <p:nvPr/>
        </p:nvSpPr>
        <p:spPr>
          <a:xfrm>
            <a:off x="2520950" y="2923480"/>
            <a:ext cx="7364603" cy="1143000"/>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F4F2FA"/>
              </a:buClr>
              <a:buSzPts val="4000"/>
              <a:buFont typeface="Figtree"/>
              <a:buNone/>
            </a:pPr>
            <a:r>
              <a:rPr b="0" i="0" lang="en-US" sz="4000" u="none" cap="none" strike="noStrike">
                <a:solidFill>
                  <a:srgbClr val="F4F2FA"/>
                </a:solidFill>
                <a:latin typeface="Figtree"/>
                <a:ea typeface="Figtree"/>
                <a:cs typeface="Figtree"/>
                <a:sym typeface="Figtree"/>
              </a:rPr>
              <a:t>Effective immediately: no more tokens.</a:t>
            </a:r>
            <a:endParaRPr b="0" i="0" sz="4000" u="none" cap="none" strike="noStrike">
              <a:solidFill>
                <a:schemeClr val="dk1"/>
              </a:solidFill>
              <a:latin typeface="Calibri"/>
              <a:ea typeface="Calibri"/>
              <a:cs typeface="Calibri"/>
              <a:sym typeface="Calibri"/>
            </a:endParaRPr>
          </a:p>
        </p:txBody>
      </p:sp>
      <p:sp>
        <p:nvSpPr>
          <p:cNvPr id="105" name="Google Shape;105;p7"/>
          <p:cNvSpPr/>
          <p:nvPr/>
        </p:nvSpPr>
        <p:spPr>
          <a:xfrm>
            <a:off x="2520950" y="4218880"/>
            <a:ext cx="7364603" cy="25648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8E86A8"/>
              </a:buClr>
              <a:buSzPts val="1300"/>
              <a:buFont typeface="DM Mono"/>
              <a:buNone/>
            </a:pPr>
            <a:r>
              <a:rPr b="0" i="0" lang="en-US" sz="1300" u="none" cap="none" strike="noStrike">
                <a:solidFill>
                  <a:srgbClr val="8E86A8"/>
                </a:solidFill>
                <a:latin typeface="DM Mono"/>
                <a:ea typeface="DM Mono"/>
                <a:cs typeface="DM Mono"/>
                <a:sym typeface="DM Mono"/>
              </a:rPr>
              <a:t>Rob has never seen a token. Only the invoice.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0A1C"/>
        </a:solidFill>
      </p:bgPr>
    </p:bg>
    <p:spTree>
      <p:nvGrpSpPr>
        <p:cNvPr id="110" name="Shape 110"/>
        <p:cNvGrpSpPr/>
        <p:nvPr/>
      </p:nvGrpSpPr>
      <p:grpSpPr>
        <a:xfrm>
          <a:off x="0" y="0"/>
          <a:ext cx="0" cy="0"/>
          <a:chOff x="0" y="0"/>
          <a:chExt cx="0" cy="0"/>
        </a:xfrm>
      </p:grpSpPr>
      <p:sp>
        <p:nvSpPr>
          <p:cNvPr id="111" name="Google Shape;111;p8"/>
          <p:cNvSpPr/>
          <p:nvPr/>
        </p:nvSpPr>
        <p:spPr>
          <a:xfrm>
            <a:off x="812800" y="2114649"/>
            <a:ext cx="10883392" cy="34538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8E86A8"/>
              </a:buClr>
              <a:buSzPts val="1800"/>
              <a:buFont typeface="DM Mono"/>
              <a:buNone/>
            </a:pPr>
            <a:r>
              <a:rPr b="0" i="0" lang="en-US" sz="1800" u="none" cap="none" strike="noStrike">
                <a:solidFill>
                  <a:srgbClr val="8E86A8"/>
                </a:solidFill>
                <a:latin typeface="DM Mono"/>
                <a:ea typeface="DM Mono"/>
                <a:cs typeface="DM Mono"/>
                <a:sym typeface="DM Mono"/>
              </a:rPr>
              <a:t>akshay@home-office:~/everything$ </a:t>
            </a:r>
            <a:r>
              <a:rPr b="0" i="0" lang="en-US" sz="1800" u="none" cap="none" strike="noStrike">
                <a:solidFill>
                  <a:srgbClr val="F4F2FA"/>
                </a:solidFill>
                <a:latin typeface="DM Mono"/>
                <a:ea typeface="DM Mono"/>
                <a:cs typeface="DM Mono"/>
                <a:sym typeface="DM Mono"/>
              </a:rPr>
              <a:t>claude "finish the feature"</a:t>
            </a:r>
            <a:endParaRPr b="0" i="0" sz="1800" u="none" cap="none" strike="noStrike">
              <a:solidFill>
                <a:schemeClr val="dk1"/>
              </a:solidFill>
              <a:latin typeface="Calibri"/>
              <a:ea typeface="Calibri"/>
              <a:cs typeface="Calibri"/>
              <a:sym typeface="Calibri"/>
            </a:endParaRPr>
          </a:p>
        </p:txBody>
      </p:sp>
      <p:sp>
        <p:nvSpPr>
          <p:cNvPr id="112" name="Google Shape;112;p8"/>
          <p:cNvSpPr/>
          <p:nvPr/>
        </p:nvSpPr>
        <p:spPr>
          <a:xfrm>
            <a:off x="812800" y="2612430"/>
            <a:ext cx="10883392" cy="34538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C9C3DB"/>
              </a:buClr>
              <a:buSzPts val="1800"/>
              <a:buFont typeface="DM Mono"/>
              <a:buNone/>
            </a:pPr>
            <a:r>
              <a:rPr b="0" i="0" lang="en-US" sz="1800" u="none" cap="none" strike="noStrike">
                <a:solidFill>
                  <a:srgbClr val="C9C3DB"/>
                </a:solidFill>
                <a:latin typeface="DM Mono"/>
                <a:ea typeface="DM Mono"/>
                <a:cs typeface="DM Mono"/>
                <a:sym typeface="DM Mono"/>
              </a:rPr>
              <a:t>Thinking…</a:t>
            </a:r>
            <a:endParaRPr b="0" i="0" sz="1800" u="none" cap="none" strike="noStrike">
              <a:solidFill>
                <a:schemeClr val="dk1"/>
              </a:solidFill>
              <a:latin typeface="Calibri"/>
              <a:ea typeface="Calibri"/>
              <a:cs typeface="Calibri"/>
              <a:sym typeface="Calibri"/>
            </a:endParaRPr>
          </a:p>
        </p:txBody>
      </p:sp>
      <p:sp>
        <p:nvSpPr>
          <p:cNvPr id="113" name="Google Shape;113;p8"/>
          <p:cNvSpPr/>
          <p:nvPr/>
        </p:nvSpPr>
        <p:spPr>
          <a:xfrm>
            <a:off x="822325" y="3119735"/>
            <a:ext cx="10547350" cy="913110"/>
          </a:xfrm>
          <a:prstGeom prst="roundRect">
            <a:avLst>
              <a:gd fmla="val 8693" name="adj"/>
            </a:avLst>
          </a:prstGeom>
          <a:solidFill>
            <a:srgbClr val="2A1022"/>
          </a:solidFill>
          <a:ln cap="flat" cmpd="sng" w="19050">
            <a:solidFill>
              <a:srgbClr val="FF5C7A"/>
            </a:solidFill>
            <a:prstDash val="solid"/>
            <a:round/>
            <a:headEnd len="sm" w="sm" type="none"/>
            <a:tailEnd len="sm" w="sm" type="none"/>
          </a:ln>
        </p:spPr>
        <p:txBody>
          <a:bodyPr anchorCtr="0" anchor="t" bIns="164075" lIns="265675" spcFirstLastPara="1" rIns="0" wrap="square" tIns="189475">
            <a:noAutofit/>
          </a:bodyPr>
          <a:lstStyle/>
          <a:p>
            <a:pPr indent="0" lvl="0" marL="0" marR="0" rtl="0" algn="l">
              <a:lnSpc>
                <a:spcPct val="100000"/>
              </a:lnSpc>
              <a:spcBef>
                <a:spcPts val="0"/>
              </a:spcBef>
              <a:spcAft>
                <a:spcPts val="0"/>
              </a:spcAft>
              <a:buClr>
                <a:srgbClr val="FF5C7A"/>
              </a:buClr>
              <a:buSzPts val="3200"/>
              <a:buFont typeface="DM Mono"/>
              <a:buNone/>
            </a:pPr>
            <a:r>
              <a:rPr b="0" i="0" lang="en-US" sz="3200" u="none" cap="none" strike="noStrike">
                <a:solidFill>
                  <a:srgbClr val="FF5C7A"/>
                </a:solidFill>
                <a:latin typeface="DM Mono"/>
                <a:ea typeface="DM Mono"/>
                <a:cs typeface="DM Mono"/>
                <a:sym typeface="DM Mono"/>
              </a:rPr>
              <a:t>401 invalid_api_key: key revoked</a:t>
            </a:r>
            <a:endParaRPr b="0" i="0" sz="3200" u="none" cap="none" strike="noStrike">
              <a:solidFill>
                <a:schemeClr val="dk1"/>
              </a:solidFill>
              <a:latin typeface="Calibri"/>
              <a:ea typeface="Calibri"/>
              <a:cs typeface="Calibri"/>
              <a:sym typeface="Calibri"/>
            </a:endParaRPr>
          </a:p>
        </p:txBody>
      </p:sp>
      <p:sp>
        <p:nvSpPr>
          <p:cNvPr id="114" name="Google Shape;114;p8"/>
          <p:cNvSpPr/>
          <p:nvPr/>
        </p:nvSpPr>
        <p:spPr>
          <a:xfrm>
            <a:off x="812800" y="4220170"/>
            <a:ext cx="10883392" cy="34538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8E86A8"/>
              </a:buClr>
              <a:buSzPts val="1800"/>
              <a:buFont typeface="DM Mono"/>
              <a:buNone/>
            </a:pPr>
            <a:r>
              <a:rPr b="0" i="0" lang="en-US" sz="1800" u="none" cap="none" strike="noStrike">
                <a:solidFill>
                  <a:srgbClr val="8E86A8"/>
                </a:solidFill>
                <a:latin typeface="DM Mono"/>
                <a:ea typeface="DM Mono"/>
                <a:cs typeface="DM Mono"/>
                <a:sym typeface="DM Mono"/>
              </a:rPr>
              <a:t>akshay@home-office:~/everything$</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0E27"/>
        </a:solidFill>
      </p:bgPr>
    </p:bg>
    <p:spTree>
      <p:nvGrpSpPr>
        <p:cNvPr id="119" name="Shape 119"/>
        <p:cNvGrpSpPr/>
        <p:nvPr/>
      </p:nvGrpSpPr>
      <p:grpSpPr>
        <a:xfrm>
          <a:off x="0" y="0"/>
          <a:ext cx="0" cy="0"/>
          <a:chOff x="0" y="0"/>
          <a:chExt cx="0" cy="0"/>
        </a:xfrm>
      </p:grpSpPr>
      <p:pic>
        <p:nvPicPr>
          <p:cNvPr id="120" name="Google Shape;120;p9"/>
          <p:cNvPicPr preferRelativeResize="0"/>
          <p:nvPr/>
        </p:nvPicPr>
        <p:blipFill rotWithShape="1">
          <a:blip r:embed="rId3">
            <a:alphaModFix/>
          </a:blip>
          <a:srcRect b="0" l="87" r="87" t="0"/>
          <a:stretch/>
        </p:blipFill>
        <p:spPr>
          <a:xfrm>
            <a:off x="0" y="0"/>
            <a:ext cx="12192000" cy="6858000"/>
          </a:xfrm>
          <a:prstGeom prst="rect">
            <a:avLst/>
          </a:prstGeom>
          <a:noFill/>
          <a:ln>
            <a:noFill/>
          </a:ln>
        </p:spPr>
      </p:pic>
      <p:sp>
        <p:nvSpPr>
          <p:cNvPr id="121" name="Google Shape;121;p9"/>
          <p:cNvSpPr/>
          <p:nvPr/>
        </p:nvSpPr>
        <p:spPr>
          <a:xfrm>
            <a:off x="812800" y="2028527"/>
            <a:ext cx="10883392" cy="1942505"/>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4F2FA"/>
              </a:buClr>
              <a:buSzPts val="7400"/>
              <a:buFont typeface="Figtree"/>
              <a:buNone/>
            </a:pPr>
            <a:r>
              <a:rPr b="0" i="0" lang="en-US" sz="7400" u="none" cap="none" strike="noStrike">
                <a:solidFill>
                  <a:srgbClr val="F4F2FA"/>
                </a:solidFill>
                <a:latin typeface="Figtree"/>
                <a:ea typeface="Figtree"/>
                <a:cs typeface="Figtree"/>
                <a:sym typeface="Figtree"/>
              </a:rPr>
              <a:t>Why can’t I have more tokens, Rob?!</a:t>
            </a:r>
            <a:endParaRPr b="0" i="0" sz="7400" u="none" cap="none" strike="noStrike">
              <a:solidFill>
                <a:schemeClr val="dk1"/>
              </a:solidFill>
              <a:latin typeface="Calibri"/>
              <a:ea typeface="Calibri"/>
              <a:cs typeface="Calibri"/>
              <a:sym typeface="Calibri"/>
            </a:endParaRPr>
          </a:p>
        </p:txBody>
      </p:sp>
      <p:sp>
        <p:nvSpPr>
          <p:cNvPr id="122" name="Google Shape;122;p9"/>
          <p:cNvSpPr/>
          <p:nvPr/>
        </p:nvSpPr>
        <p:spPr>
          <a:xfrm>
            <a:off x="812800" y="4199632"/>
            <a:ext cx="10883392" cy="4520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98BFF"/>
              </a:buClr>
              <a:buSzPts val="2400"/>
              <a:buFont typeface="DM Sans"/>
              <a:buNone/>
            </a:pPr>
            <a:r>
              <a:rPr b="0" i="0" lang="en-US" sz="2400" u="none" cap="none" strike="noStrike">
                <a:solidFill>
                  <a:srgbClr val="B98BFF"/>
                </a:solidFill>
                <a:latin typeface="DM Sans"/>
                <a:ea typeface="DM Sans"/>
                <a:cs typeface="DM Sans"/>
                <a:sym typeface="DM Sans"/>
              </a:rPr>
              <a:t>Using agentgateway to keep your AI usage under control</a:t>
            </a:r>
            <a:endParaRPr b="0" i="0" sz="2400" u="none" cap="none" strike="noStrike">
              <a:solidFill>
                <a:schemeClr val="dk1"/>
              </a:solidFill>
              <a:latin typeface="Calibri"/>
              <a:ea typeface="Calibri"/>
              <a:cs typeface="Calibri"/>
              <a:sym typeface="Calibri"/>
            </a:endParaRPr>
          </a:p>
        </p:txBody>
      </p:sp>
      <p:pic>
        <p:nvPicPr>
          <p:cNvPr descr="Solo.io" id="123" name="Google Shape;123;p9"/>
          <p:cNvPicPr preferRelativeResize="0"/>
          <p:nvPr/>
        </p:nvPicPr>
        <p:blipFill rotWithShape="1">
          <a:blip r:embed="rId4">
            <a:alphaModFix/>
          </a:blip>
          <a:srcRect b="-179" l="0" r="0" t="-179"/>
          <a:stretch/>
        </p:blipFill>
        <p:spPr>
          <a:xfrm>
            <a:off x="812800" y="6223000"/>
            <a:ext cx="1016000" cy="228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0E27"/>
        </a:solidFill>
      </p:bgPr>
    </p:bg>
    <p:spTree>
      <p:nvGrpSpPr>
        <p:cNvPr id="128" name="Shape 128"/>
        <p:cNvGrpSpPr/>
        <p:nvPr/>
      </p:nvGrpSpPr>
      <p:grpSpPr>
        <a:xfrm>
          <a:off x="0" y="0"/>
          <a:ext cx="0" cy="0"/>
          <a:chOff x="0" y="0"/>
          <a:chExt cx="0" cy="0"/>
        </a:xfrm>
      </p:grpSpPr>
      <p:sp>
        <p:nvSpPr>
          <p:cNvPr id="129" name="Google Shape;129;p10"/>
          <p:cNvSpPr/>
          <p:nvPr/>
        </p:nvSpPr>
        <p:spPr>
          <a:xfrm>
            <a:off x="812800" y="1723330"/>
            <a:ext cx="5284724" cy="2742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98BFF"/>
              </a:buClr>
              <a:buSzPts val="1400"/>
              <a:buFont typeface="DM Mono"/>
              <a:buNone/>
            </a:pPr>
            <a:r>
              <a:rPr b="0" i="0" lang="en-US" sz="1400" u="none" cap="none" strike="noStrike">
                <a:solidFill>
                  <a:srgbClr val="B98BFF"/>
                </a:solidFill>
                <a:latin typeface="DM Mono"/>
                <a:ea typeface="DM Mono"/>
                <a:cs typeface="DM Mono"/>
                <a:sym typeface="DM Mono"/>
              </a:rPr>
              <a:t>QUICK QUESTION</a:t>
            </a:r>
            <a:endParaRPr b="0" i="0" sz="1400" u="none" cap="none" strike="noStrike">
              <a:solidFill>
                <a:schemeClr val="dk1"/>
              </a:solidFill>
              <a:latin typeface="Calibri"/>
              <a:ea typeface="Calibri"/>
              <a:cs typeface="Calibri"/>
              <a:sym typeface="Calibri"/>
            </a:endParaRPr>
          </a:p>
        </p:txBody>
      </p:sp>
      <p:sp>
        <p:nvSpPr>
          <p:cNvPr id="130" name="Google Shape;130;p10"/>
          <p:cNvSpPr/>
          <p:nvPr/>
        </p:nvSpPr>
        <p:spPr>
          <a:xfrm>
            <a:off x="812800" y="2200771"/>
            <a:ext cx="5284724" cy="1232297"/>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F4F2FA"/>
              </a:buClr>
              <a:buSzPts val="4400"/>
              <a:buFont typeface="Figtree"/>
              <a:buNone/>
            </a:pPr>
            <a:r>
              <a:rPr b="0" i="0" lang="en-US" sz="4400" u="none" cap="none" strike="noStrike">
                <a:solidFill>
                  <a:srgbClr val="F4F2FA"/>
                </a:solidFill>
                <a:latin typeface="Figtree"/>
                <a:ea typeface="Figtree"/>
                <a:cs typeface="Figtree"/>
                <a:sym typeface="Figtree"/>
              </a:rPr>
              <a:t>Who spent all the tokens last month?</a:t>
            </a:r>
            <a:endParaRPr b="0" i="0" sz="4400" u="none" cap="none" strike="noStrike">
              <a:solidFill>
                <a:schemeClr val="dk1"/>
              </a:solidFill>
              <a:latin typeface="Calibri"/>
              <a:ea typeface="Calibri"/>
              <a:cs typeface="Calibri"/>
              <a:sym typeface="Calibri"/>
            </a:endParaRPr>
          </a:p>
        </p:txBody>
      </p:sp>
      <p:sp>
        <p:nvSpPr>
          <p:cNvPr id="131" name="Google Shape;131;p10"/>
          <p:cNvSpPr/>
          <p:nvPr/>
        </p:nvSpPr>
        <p:spPr>
          <a:xfrm>
            <a:off x="812800" y="3636268"/>
            <a:ext cx="5284724" cy="66536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C9C3DB"/>
              </a:buClr>
              <a:buSzPts val="1800"/>
              <a:buFont typeface="DM Sans"/>
              <a:buNone/>
            </a:pPr>
            <a:r>
              <a:rPr b="0" i="0" lang="en-US" sz="1800" u="none" cap="none" strike="noStrike">
                <a:solidFill>
                  <a:srgbClr val="C9C3DB"/>
                </a:solidFill>
                <a:latin typeface="DM Sans"/>
                <a:ea typeface="DM Sans"/>
                <a:cs typeface="DM Sans"/>
                <a:sym typeface="DM Sans"/>
              </a:rPr>
              <a:t>For most teams, the invoice is the first place they find out.</a:t>
            </a:r>
            <a:endParaRPr b="0" i="0" sz="1800" u="none" cap="none" strike="noStrike">
              <a:solidFill>
                <a:schemeClr val="dk1"/>
              </a:solidFill>
              <a:latin typeface="Calibri"/>
              <a:ea typeface="Calibri"/>
              <a:cs typeface="Calibri"/>
              <a:sym typeface="Calibri"/>
            </a:endParaRPr>
          </a:p>
        </p:txBody>
      </p:sp>
      <p:sp>
        <p:nvSpPr>
          <p:cNvPr id="132" name="Google Shape;132;p10"/>
          <p:cNvSpPr/>
          <p:nvPr/>
        </p:nvSpPr>
        <p:spPr>
          <a:xfrm>
            <a:off x="819150" y="4511179"/>
            <a:ext cx="1503859" cy="413941"/>
          </a:xfrm>
          <a:prstGeom prst="roundRect">
            <a:avLst>
              <a:gd fmla="val 50000" name="adj"/>
            </a:avLst>
          </a:prstGeom>
          <a:solidFill>
            <a:srgbClr val="2A1A4A"/>
          </a:solidFill>
          <a:ln cap="flat" cmpd="sng" w="12700">
            <a:solidFill>
              <a:srgbClr val="8A3FFC"/>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16667"/>
              </a:lnSpc>
              <a:spcBef>
                <a:spcPts val="0"/>
              </a:spcBef>
              <a:spcAft>
                <a:spcPts val="0"/>
              </a:spcAft>
              <a:buClr>
                <a:srgbClr val="D9C2FF"/>
              </a:buClr>
              <a:buSzPts val="1400"/>
              <a:buFont typeface="DM Sans"/>
              <a:buNone/>
            </a:pPr>
            <a:r>
              <a:rPr b="0" i="0" lang="en-US" sz="1400" u="none" cap="none" strike="noStrike">
                <a:solidFill>
                  <a:srgbClr val="D9C2FF"/>
                </a:solidFill>
                <a:latin typeface="DM Sans"/>
                <a:ea typeface="DM Sans"/>
                <a:cs typeface="DM Sans"/>
                <a:sym typeface="DM Sans"/>
              </a:rPr>
              <a:t>Which team?</a:t>
            </a:r>
            <a:endParaRPr b="0" i="0" sz="1400" u="none" cap="none" strike="noStrike">
              <a:solidFill>
                <a:schemeClr val="dk1"/>
              </a:solidFill>
              <a:latin typeface="Calibri"/>
              <a:ea typeface="Calibri"/>
              <a:cs typeface="Calibri"/>
              <a:sym typeface="Calibri"/>
            </a:endParaRPr>
          </a:p>
        </p:txBody>
      </p:sp>
      <p:sp>
        <p:nvSpPr>
          <p:cNvPr id="133" name="Google Shape;133;p10"/>
          <p:cNvSpPr/>
          <p:nvPr/>
        </p:nvSpPr>
        <p:spPr>
          <a:xfrm>
            <a:off x="2462709" y="4511179"/>
            <a:ext cx="1545729" cy="413941"/>
          </a:xfrm>
          <a:prstGeom prst="roundRect">
            <a:avLst>
              <a:gd fmla="val 50000" name="adj"/>
            </a:avLst>
          </a:prstGeom>
          <a:solidFill>
            <a:srgbClr val="2A1A4A"/>
          </a:solidFill>
          <a:ln cap="flat" cmpd="sng" w="12700">
            <a:solidFill>
              <a:srgbClr val="8A3FFC"/>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16667"/>
              </a:lnSpc>
              <a:spcBef>
                <a:spcPts val="0"/>
              </a:spcBef>
              <a:spcAft>
                <a:spcPts val="0"/>
              </a:spcAft>
              <a:buClr>
                <a:srgbClr val="D9C2FF"/>
              </a:buClr>
              <a:buSzPts val="1400"/>
              <a:buFont typeface="DM Sans"/>
              <a:buNone/>
            </a:pPr>
            <a:r>
              <a:rPr b="0" i="0" lang="en-US" sz="1400" u="none" cap="none" strike="noStrike">
                <a:solidFill>
                  <a:srgbClr val="D9C2FF"/>
                </a:solidFill>
                <a:latin typeface="DM Sans"/>
                <a:ea typeface="DM Sans"/>
                <a:cs typeface="DM Sans"/>
                <a:sym typeface="DM Sans"/>
              </a:rPr>
              <a:t>Which agent?</a:t>
            </a:r>
            <a:endParaRPr b="0" i="0" sz="1400" u="none" cap="none" strike="noStrike">
              <a:solidFill>
                <a:schemeClr val="dk1"/>
              </a:solidFill>
              <a:latin typeface="Calibri"/>
              <a:ea typeface="Calibri"/>
              <a:cs typeface="Calibri"/>
              <a:sym typeface="Calibri"/>
            </a:endParaRPr>
          </a:p>
        </p:txBody>
      </p:sp>
      <p:sp>
        <p:nvSpPr>
          <p:cNvPr id="134" name="Google Shape;134;p10"/>
          <p:cNvSpPr/>
          <p:nvPr/>
        </p:nvSpPr>
        <p:spPr>
          <a:xfrm>
            <a:off x="4148137" y="4511179"/>
            <a:ext cx="1596529" cy="413941"/>
          </a:xfrm>
          <a:prstGeom prst="roundRect">
            <a:avLst>
              <a:gd fmla="val 50000" name="adj"/>
            </a:avLst>
          </a:prstGeom>
          <a:solidFill>
            <a:srgbClr val="2A1A4A"/>
          </a:solidFill>
          <a:ln cap="flat" cmpd="sng" w="12700">
            <a:solidFill>
              <a:srgbClr val="8A3FFC"/>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16667"/>
              </a:lnSpc>
              <a:spcBef>
                <a:spcPts val="0"/>
              </a:spcBef>
              <a:spcAft>
                <a:spcPts val="0"/>
              </a:spcAft>
              <a:buClr>
                <a:srgbClr val="D9C2FF"/>
              </a:buClr>
              <a:buSzPts val="1400"/>
              <a:buFont typeface="DM Sans"/>
              <a:buNone/>
            </a:pPr>
            <a:r>
              <a:rPr b="0" i="0" lang="en-US" sz="1400" u="none" cap="none" strike="noStrike">
                <a:solidFill>
                  <a:srgbClr val="D9C2FF"/>
                </a:solidFill>
                <a:latin typeface="DM Sans"/>
                <a:ea typeface="DM Sans"/>
                <a:cs typeface="DM Sans"/>
                <a:sym typeface="DM Sans"/>
              </a:rPr>
              <a:t>Which model?</a:t>
            </a:r>
            <a:endParaRPr b="0" i="0" sz="1400" u="none" cap="none" strike="noStrike">
              <a:solidFill>
                <a:schemeClr val="dk1"/>
              </a:solidFill>
              <a:latin typeface="Calibri"/>
              <a:ea typeface="Calibri"/>
              <a:cs typeface="Calibri"/>
              <a:sym typeface="Calibri"/>
            </a:endParaRPr>
          </a:p>
        </p:txBody>
      </p:sp>
      <p:sp>
        <p:nvSpPr>
          <p:cNvPr id="135" name="Google Shape;135;p10"/>
          <p:cNvSpPr/>
          <p:nvPr/>
        </p:nvSpPr>
        <p:spPr>
          <a:xfrm>
            <a:off x="6553200" y="1472704"/>
            <a:ext cx="4826000" cy="3709392"/>
          </a:xfrm>
          <a:prstGeom prst="roundRect">
            <a:avLst>
              <a:gd fmla="val 3424" name="adj"/>
            </a:avLst>
          </a:prstGeom>
          <a:solidFill>
            <a:srgbClr val="F6F4FB"/>
          </a:solidFill>
          <a:ln>
            <a:noFill/>
          </a:ln>
          <a:effectLst>
            <a:outerShdw blurRad="508000" rotWithShape="0" algn="bl">
              <a:srgbClr val="8A3FFC">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0"/>
          <p:cNvSpPr/>
          <p:nvPr/>
        </p:nvSpPr>
        <p:spPr>
          <a:xfrm>
            <a:off x="6883400" y="1777504"/>
            <a:ext cx="1350883" cy="34538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1B1530"/>
              </a:buClr>
              <a:buSzPts val="1800"/>
              <a:buFont typeface="DM Sans"/>
              <a:buNone/>
            </a:pPr>
            <a:r>
              <a:rPr b="1" i="0" lang="en-US" sz="1800" u="none" cap="none" strike="noStrike">
                <a:solidFill>
                  <a:srgbClr val="1B1530"/>
                </a:solidFill>
                <a:latin typeface="DM Sans"/>
                <a:ea typeface="DM Sans"/>
                <a:cs typeface="DM Sans"/>
                <a:sym typeface="DM Sans"/>
              </a:rPr>
              <a:t>Anthropic</a:t>
            </a:r>
            <a:endParaRPr b="0" i="0" sz="1800" u="none" cap="none" strike="noStrike">
              <a:solidFill>
                <a:schemeClr val="dk1"/>
              </a:solidFill>
              <a:latin typeface="Calibri"/>
              <a:ea typeface="Calibri"/>
              <a:cs typeface="Calibri"/>
              <a:sym typeface="Calibri"/>
            </a:endParaRPr>
          </a:p>
        </p:txBody>
      </p:sp>
      <p:sp>
        <p:nvSpPr>
          <p:cNvPr id="137" name="Google Shape;137;p10"/>
          <p:cNvSpPr/>
          <p:nvPr/>
        </p:nvSpPr>
        <p:spPr>
          <a:xfrm>
            <a:off x="10216872" y="1777504"/>
            <a:ext cx="832128" cy="345380"/>
          </a:xfrm>
          <a:prstGeom prst="rect">
            <a:avLst/>
          </a:prstGeom>
          <a:noFill/>
          <a:ln>
            <a:noFill/>
          </a:ln>
        </p:spPr>
        <p:txBody>
          <a:bodyPr anchorCtr="0" anchor="t" bIns="0" lIns="0" spcFirstLastPara="1" rIns="0" wrap="square" tIns="0">
            <a:noAutofit/>
          </a:bodyPr>
          <a:lstStyle/>
          <a:p>
            <a:pPr indent="0" lvl="0" marL="0" marR="0" rtl="0" algn="r">
              <a:lnSpc>
                <a:spcPct val="116667"/>
              </a:lnSpc>
              <a:spcBef>
                <a:spcPts val="0"/>
              </a:spcBef>
              <a:spcAft>
                <a:spcPts val="0"/>
              </a:spcAft>
              <a:buClr>
                <a:srgbClr val="6B6585"/>
              </a:buClr>
              <a:buSzPts val="1300"/>
              <a:buFont typeface="DM Mono"/>
              <a:buNone/>
            </a:pPr>
            <a:r>
              <a:rPr b="0" i="0" lang="en-US" sz="1300" u="none" cap="none" strike="noStrike">
                <a:solidFill>
                  <a:srgbClr val="6B6585"/>
                </a:solidFill>
                <a:latin typeface="DM Mono"/>
                <a:ea typeface="DM Mono"/>
                <a:cs typeface="DM Mono"/>
                <a:sym typeface="DM Mono"/>
              </a:rPr>
              <a:t>INVOICE</a:t>
            </a:r>
            <a:endParaRPr b="0" i="0" sz="1300" u="none" cap="none" strike="noStrike">
              <a:solidFill>
                <a:schemeClr val="dk1"/>
              </a:solidFill>
              <a:latin typeface="Calibri"/>
              <a:ea typeface="Calibri"/>
              <a:cs typeface="Calibri"/>
              <a:sym typeface="Calibri"/>
            </a:endParaRPr>
          </a:p>
        </p:txBody>
      </p:sp>
      <p:sp>
        <p:nvSpPr>
          <p:cNvPr id="138" name="Google Shape;138;p10"/>
          <p:cNvSpPr/>
          <p:nvPr/>
        </p:nvSpPr>
        <p:spPr>
          <a:xfrm>
            <a:off x="6883400" y="2224484"/>
            <a:ext cx="4290568" cy="2742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6B6585"/>
              </a:buClr>
              <a:buSzPts val="1400"/>
              <a:buFont typeface="DM Sans"/>
              <a:buNone/>
            </a:pPr>
            <a:r>
              <a:rPr b="0" i="0" lang="en-US" sz="1400" u="none" cap="none" strike="noStrike">
                <a:solidFill>
                  <a:srgbClr val="6B6585"/>
                </a:solidFill>
                <a:latin typeface="DM Sans"/>
                <a:ea typeface="DM Sans"/>
                <a:cs typeface="DM Sans"/>
                <a:sym typeface="DM Sans"/>
              </a:rPr>
              <a:t>API usage · September 2026</a:t>
            </a:r>
            <a:endParaRPr b="0" i="0" sz="1400" u="none" cap="none" strike="noStrike">
              <a:solidFill>
                <a:schemeClr val="dk1"/>
              </a:solidFill>
              <a:latin typeface="Calibri"/>
              <a:ea typeface="Calibri"/>
              <a:cs typeface="Calibri"/>
              <a:sym typeface="Calibri"/>
            </a:endParaRPr>
          </a:p>
        </p:txBody>
      </p:sp>
      <p:sp>
        <p:nvSpPr>
          <p:cNvPr id="139" name="Google Shape;139;p10"/>
          <p:cNvSpPr/>
          <p:nvPr/>
        </p:nvSpPr>
        <p:spPr>
          <a:xfrm>
            <a:off x="6883400" y="2600325"/>
            <a:ext cx="4290568" cy="2742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6B6585"/>
              </a:buClr>
              <a:buSzPts val="1400"/>
              <a:buFont typeface="DM Sans"/>
              <a:buNone/>
            </a:pPr>
            <a:r>
              <a:rPr b="0" i="0" lang="en-US" sz="1400" u="none" cap="none" strike="noStrike">
                <a:solidFill>
                  <a:srgbClr val="6B6585"/>
                </a:solidFill>
                <a:latin typeface="DM Sans"/>
                <a:ea typeface="DM Sans"/>
                <a:cs typeface="DM Sans"/>
                <a:sym typeface="DM Sans"/>
              </a:rPr>
              <a:t>Amount due</a:t>
            </a:r>
            <a:endParaRPr b="0" i="0" sz="1400" u="none" cap="none" strike="noStrike">
              <a:solidFill>
                <a:schemeClr val="dk1"/>
              </a:solidFill>
              <a:latin typeface="Calibri"/>
              <a:ea typeface="Calibri"/>
              <a:cs typeface="Calibri"/>
              <a:sym typeface="Calibri"/>
            </a:endParaRPr>
          </a:p>
        </p:txBody>
      </p:sp>
      <p:sp>
        <p:nvSpPr>
          <p:cNvPr id="140" name="Google Shape;140;p10"/>
          <p:cNvSpPr/>
          <p:nvPr/>
        </p:nvSpPr>
        <p:spPr>
          <a:xfrm>
            <a:off x="6883400" y="2976166"/>
            <a:ext cx="4290568" cy="612080"/>
          </a:xfrm>
          <a:prstGeom prst="rect">
            <a:avLst/>
          </a:prstGeom>
          <a:noFill/>
          <a:ln>
            <a:noFill/>
          </a:ln>
        </p:spPr>
        <p:txBody>
          <a:bodyPr anchorCtr="0" anchor="t" bIns="0" lIns="0" spcFirstLastPara="1" rIns="0" wrap="square" tIns="0">
            <a:noAutofit/>
          </a:bodyPr>
          <a:lstStyle/>
          <a:p>
            <a:pPr indent="0" lvl="0" marL="0" marR="0" rtl="0" algn="l">
              <a:lnSpc>
                <a:spcPct val="87500"/>
              </a:lnSpc>
              <a:spcBef>
                <a:spcPts val="0"/>
              </a:spcBef>
              <a:spcAft>
                <a:spcPts val="0"/>
              </a:spcAft>
              <a:buClr>
                <a:srgbClr val="1B1530"/>
              </a:buClr>
              <a:buSzPts val="4400"/>
              <a:buFont typeface="Figtree"/>
              <a:buNone/>
            </a:pPr>
            <a:r>
              <a:rPr b="0" i="0" lang="en-US" sz="4400" u="none" cap="none" strike="noStrike">
                <a:solidFill>
                  <a:srgbClr val="1B1530"/>
                </a:solidFill>
                <a:latin typeface="Figtree"/>
                <a:ea typeface="Figtree"/>
                <a:cs typeface="Figtree"/>
                <a:sym typeface="Figtree"/>
              </a:rPr>
              <a:t>$22,917.40</a:t>
            </a:r>
            <a:endParaRPr b="0" i="0" sz="4400" u="none" cap="none" strike="noStrike">
              <a:solidFill>
                <a:schemeClr val="dk1"/>
              </a:solidFill>
              <a:latin typeface="Calibri"/>
              <a:ea typeface="Calibri"/>
              <a:cs typeface="Calibri"/>
              <a:sym typeface="Calibri"/>
            </a:endParaRPr>
          </a:p>
        </p:txBody>
      </p:sp>
      <p:pic>
        <p:nvPicPr>
          <p:cNvPr descr="line" id="141" name="Google Shape;141;p10"/>
          <p:cNvPicPr preferRelativeResize="0"/>
          <p:nvPr/>
        </p:nvPicPr>
        <p:blipFill rotWithShape="1">
          <a:blip r:embed="rId3">
            <a:alphaModFix/>
          </a:blip>
          <a:srcRect b="0" l="0" r="0" t="0"/>
          <a:stretch/>
        </p:blipFill>
        <p:spPr>
          <a:xfrm>
            <a:off x="6883400" y="3689846"/>
            <a:ext cx="4165600" cy="6350"/>
          </a:xfrm>
          <a:prstGeom prst="rect">
            <a:avLst/>
          </a:prstGeom>
          <a:noFill/>
          <a:ln>
            <a:noFill/>
          </a:ln>
        </p:spPr>
      </p:pic>
      <p:sp>
        <p:nvSpPr>
          <p:cNvPr id="142" name="Google Shape;142;p10"/>
          <p:cNvSpPr/>
          <p:nvPr/>
        </p:nvSpPr>
        <p:spPr>
          <a:xfrm>
            <a:off x="6883400" y="3823196"/>
            <a:ext cx="2086451" cy="29210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4A4462"/>
              </a:buClr>
              <a:buSzPts val="1500"/>
              <a:buFont typeface="DM Sans"/>
              <a:buNone/>
            </a:pPr>
            <a:r>
              <a:rPr b="0" i="0" lang="en-US" sz="1500" u="none" cap="none" strike="noStrike">
                <a:solidFill>
                  <a:srgbClr val="4A4462"/>
                </a:solidFill>
                <a:latin typeface="DM Sans"/>
                <a:ea typeface="DM Sans"/>
                <a:cs typeface="DM Sans"/>
                <a:sym typeface="DM Sans"/>
              </a:rPr>
              <a:t>Breakdown by team</a:t>
            </a:r>
            <a:endParaRPr b="0" i="0" sz="1500" u="none" cap="none" strike="noStrike">
              <a:solidFill>
                <a:schemeClr val="dk1"/>
              </a:solidFill>
              <a:latin typeface="Calibri"/>
              <a:ea typeface="Calibri"/>
              <a:cs typeface="Calibri"/>
              <a:sym typeface="Calibri"/>
            </a:endParaRPr>
          </a:p>
        </p:txBody>
      </p:sp>
      <p:sp>
        <p:nvSpPr>
          <p:cNvPr id="143" name="Google Shape;143;p10"/>
          <p:cNvSpPr/>
          <p:nvPr/>
        </p:nvSpPr>
        <p:spPr>
          <a:xfrm>
            <a:off x="10895409" y="3823196"/>
            <a:ext cx="153591" cy="292100"/>
          </a:xfrm>
          <a:prstGeom prst="rect">
            <a:avLst/>
          </a:prstGeom>
          <a:noFill/>
          <a:ln>
            <a:noFill/>
          </a:ln>
        </p:spPr>
        <p:txBody>
          <a:bodyPr anchorCtr="0" anchor="t" bIns="0" lIns="0" spcFirstLastPara="1" rIns="0" wrap="square" tIns="0">
            <a:noAutofit/>
          </a:bodyPr>
          <a:lstStyle/>
          <a:p>
            <a:pPr indent="0" lvl="0" marL="0" marR="0" rtl="0" algn="r">
              <a:lnSpc>
                <a:spcPct val="116667"/>
              </a:lnSpc>
              <a:spcBef>
                <a:spcPts val="0"/>
              </a:spcBef>
              <a:spcAft>
                <a:spcPts val="0"/>
              </a:spcAft>
              <a:buClr>
                <a:srgbClr val="D6264B"/>
              </a:buClr>
              <a:buSzPts val="1500"/>
              <a:buFont typeface="DM Sans"/>
              <a:buNone/>
            </a:pPr>
            <a:r>
              <a:rPr b="1" i="0" lang="en-US" sz="1500" u="none" cap="none" strike="noStrike">
                <a:solidFill>
                  <a:srgbClr val="D6264B"/>
                </a:solidFill>
                <a:latin typeface="DM Sans"/>
                <a:ea typeface="DM Sans"/>
                <a:cs typeface="DM Sans"/>
                <a:sym typeface="DM Sans"/>
              </a:rPr>
              <a:t>?</a:t>
            </a:r>
            <a:endParaRPr b="0" i="0" sz="1500" u="none" cap="none" strike="noStrike">
              <a:solidFill>
                <a:schemeClr val="dk1"/>
              </a:solidFill>
              <a:latin typeface="Calibri"/>
              <a:ea typeface="Calibri"/>
              <a:cs typeface="Calibri"/>
              <a:sym typeface="Calibri"/>
            </a:endParaRPr>
          </a:p>
        </p:txBody>
      </p:sp>
      <p:sp>
        <p:nvSpPr>
          <p:cNvPr id="144" name="Google Shape;144;p10"/>
          <p:cNvSpPr/>
          <p:nvPr/>
        </p:nvSpPr>
        <p:spPr>
          <a:xfrm>
            <a:off x="6883400" y="4216896"/>
            <a:ext cx="2140268" cy="29210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4A4462"/>
              </a:buClr>
              <a:buSzPts val="1500"/>
              <a:buFont typeface="DM Sans"/>
              <a:buNone/>
            </a:pPr>
            <a:r>
              <a:rPr b="0" i="0" lang="en-US" sz="1500" u="none" cap="none" strike="noStrike">
                <a:solidFill>
                  <a:srgbClr val="4A4462"/>
                </a:solidFill>
                <a:latin typeface="DM Sans"/>
                <a:ea typeface="DM Sans"/>
                <a:cs typeface="DM Sans"/>
                <a:sym typeface="DM Sans"/>
              </a:rPr>
              <a:t>Breakdown by agent</a:t>
            </a:r>
            <a:endParaRPr b="0" i="0" sz="1500" u="none" cap="none" strike="noStrike">
              <a:solidFill>
                <a:schemeClr val="dk1"/>
              </a:solidFill>
              <a:latin typeface="Calibri"/>
              <a:ea typeface="Calibri"/>
              <a:cs typeface="Calibri"/>
              <a:sym typeface="Calibri"/>
            </a:endParaRPr>
          </a:p>
        </p:txBody>
      </p:sp>
      <p:sp>
        <p:nvSpPr>
          <p:cNvPr id="145" name="Google Shape;145;p10"/>
          <p:cNvSpPr/>
          <p:nvPr/>
        </p:nvSpPr>
        <p:spPr>
          <a:xfrm>
            <a:off x="10895409" y="4216896"/>
            <a:ext cx="153591" cy="292100"/>
          </a:xfrm>
          <a:prstGeom prst="rect">
            <a:avLst/>
          </a:prstGeom>
          <a:noFill/>
          <a:ln>
            <a:noFill/>
          </a:ln>
        </p:spPr>
        <p:txBody>
          <a:bodyPr anchorCtr="0" anchor="t" bIns="0" lIns="0" spcFirstLastPara="1" rIns="0" wrap="square" tIns="0">
            <a:noAutofit/>
          </a:bodyPr>
          <a:lstStyle/>
          <a:p>
            <a:pPr indent="0" lvl="0" marL="0" marR="0" rtl="0" algn="r">
              <a:lnSpc>
                <a:spcPct val="116667"/>
              </a:lnSpc>
              <a:spcBef>
                <a:spcPts val="0"/>
              </a:spcBef>
              <a:spcAft>
                <a:spcPts val="0"/>
              </a:spcAft>
              <a:buClr>
                <a:srgbClr val="D6264B"/>
              </a:buClr>
              <a:buSzPts val="1500"/>
              <a:buFont typeface="DM Sans"/>
              <a:buNone/>
            </a:pPr>
            <a:r>
              <a:rPr b="1" i="0" lang="en-US" sz="1500" u="none" cap="none" strike="noStrike">
                <a:solidFill>
                  <a:srgbClr val="D6264B"/>
                </a:solidFill>
                <a:latin typeface="DM Sans"/>
                <a:ea typeface="DM Sans"/>
                <a:cs typeface="DM Sans"/>
                <a:sym typeface="DM Sans"/>
              </a:rPr>
              <a:t>?</a:t>
            </a:r>
            <a:endParaRPr b="0" i="0" sz="1500" u="none" cap="none" strike="noStrike">
              <a:solidFill>
                <a:schemeClr val="dk1"/>
              </a:solidFill>
              <a:latin typeface="Calibri"/>
              <a:ea typeface="Calibri"/>
              <a:cs typeface="Calibri"/>
              <a:sym typeface="Calibri"/>
            </a:endParaRPr>
          </a:p>
        </p:txBody>
      </p:sp>
      <p:sp>
        <p:nvSpPr>
          <p:cNvPr id="146" name="Google Shape;146;p10"/>
          <p:cNvSpPr/>
          <p:nvPr/>
        </p:nvSpPr>
        <p:spPr>
          <a:xfrm>
            <a:off x="6883400" y="4610596"/>
            <a:ext cx="2205633" cy="29210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4A4462"/>
              </a:buClr>
              <a:buSzPts val="1500"/>
              <a:buFont typeface="DM Sans"/>
              <a:buNone/>
            </a:pPr>
            <a:r>
              <a:rPr b="0" i="0" lang="en-US" sz="1500" u="none" cap="none" strike="noStrike">
                <a:solidFill>
                  <a:srgbClr val="4A4462"/>
                </a:solidFill>
                <a:latin typeface="DM Sans"/>
                <a:ea typeface="DM Sans"/>
                <a:cs typeface="DM Sans"/>
                <a:sym typeface="DM Sans"/>
              </a:rPr>
              <a:t>Breakdown by model</a:t>
            </a:r>
            <a:endParaRPr b="0" i="0" sz="1500" u="none" cap="none" strike="noStrike">
              <a:solidFill>
                <a:schemeClr val="dk1"/>
              </a:solidFill>
              <a:latin typeface="Calibri"/>
              <a:ea typeface="Calibri"/>
              <a:cs typeface="Calibri"/>
              <a:sym typeface="Calibri"/>
            </a:endParaRPr>
          </a:p>
        </p:txBody>
      </p:sp>
      <p:sp>
        <p:nvSpPr>
          <p:cNvPr id="147" name="Google Shape;147;p10"/>
          <p:cNvSpPr/>
          <p:nvPr/>
        </p:nvSpPr>
        <p:spPr>
          <a:xfrm>
            <a:off x="10895409" y="4610596"/>
            <a:ext cx="153591" cy="292100"/>
          </a:xfrm>
          <a:prstGeom prst="rect">
            <a:avLst/>
          </a:prstGeom>
          <a:noFill/>
          <a:ln>
            <a:noFill/>
          </a:ln>
        </p:spPr>
        <p:txBody>
          <a:bodyPr anchorCtr="0" anchor="t" bIns="0" lIns="0" spcFirstLastPara="1" rIns="0" wrap="square" tIns="0">
            <a:noAutofit/>
          </a:bodyPr>
          <a:lstStyle/>
          <a:p>
            <a:pPr indent="0" lvl="0" marL="0" marR="0" rtl="0" algn="r">
              <a:lnSpc>
                <a:spcPct val="116667"/>
              </a:lnSpc>
              <a:spcBef>
                <a:spcPts val="0"/>
              </a:spcBef>
              <a:spcAft>
                <a:spcPts val="0"/>
              </a:spcAft>
              <a:buClr>
                <a:srgbClr val="D6264B"/>
              </a:buClr>
              <a:buSzPts val="1500"/>
              <a:buFont typeface="DM Sans"/>
              <a:buNone/>
            </a:pPr>
            <a:r>
              <a:rPr b="1" i="0" lang="en-US" sz="1500" u="none" cap="none" strike="noStrike">
                <a:solidFill>
                  <a:srgbClr val="D6264B"/>
                </a:solidFill>
                <a:latin typeface="DM Sans"/>
                <a:ea typeface="DM Sans"/>
                <a:cs typeface="DM Sans"/>
                <a:sym typeface="DM Sans"/>
              </a:rPr>
              <a:t>?</a:t>
            </a:r>
            <a:endParaRPr b="0" i="0" sz="1500" u="none" cap="none" strike="noStrike">
              <a:solidFill>
                <a:schemeClr val="dk1"/>
              </a:solidFill>
              <a:latin typeface="Calibri"/>
              <a:ea typeface="Calibri"/>
              <a:cs typeface="Calibri"/>
              <a:sym typeface="Calibri"/>
            </a:endParaRPr>
          </a:p>
        </p:txBody>
      </p:sp>
      <p:pic>
        <p:nvPicPr>
          <p:cNvPr descr="Solo.io" id="148" name="Google Shape;148;p10"/>
          <p:cNvPicPr preferRelativeResize="0"/>
          <p:nvPr/>
        </p:nvPicPr>
        <p:blipFill rotWithShape="1">
          <a:blip r:embed="rId4">
            <a:alphaModFix/>
          </a:blip>
          <a:srcRect b="-179" l="0" r="0" t="-179"/>
          <a:stretch/>
        </p:blipFill>
        <p:spPr>
          <a:xfrm>
            <a:off x="812800" y="6223000"/>
            <a:ext cx="1016000" cy="228600"/>
          </a:xfrm>
          <a:prstGeom prst="rect">
            <a:avLst/>
          </a:prstGeom>
          <a:noFill/>
          <a:ln>
            <a:noFill/>
          </a:ln>
        </p:spPr>
      </p:pic>
      <p:sp>
        <p:nvSpPr>
          <p:cNvPr id="149" name="Google Shape;149;p10"/>
          <p:cNvSpPr/>
          <p:nvPr/>
        </p:nvSpPr>
        <p:spPr>
          <a:xfrm>
            <a:off x="8763000" y="6238280"/>
            <a:ext cx="2616200" cy="238720"/>
          </a:xfrm>
          <a:prstGeom prst="rect">
            <a:avLst/>
          </a:prstGeom>
          <a:noFill/>
          <a:ln>
            <a:noFill/>
          </a:ln>
        </p:spPr>
        <p:txBody>
          <a:bodyPr anchorCtr="0" anchor="t" bIns="0" lIns="0" spcFirstLastPara="1" rIns="0" wrap="square" tIns="0">
            <a:noAutofit/>
          </a:bodyPr>
          <a:lstStyle/>
          <a:p>
            <a:pPr indent="0" lvl="0" marL="0" marR="0" rtl="0" algn="r">
              <a:lnSpc>
                <a:spcPct val="116667"/>
              </a:lnSpc>
              <a:spcBef>
                <a:spcPts val="0"/>
              </a:spcBef>
              <a:spcAft>
                <a:spcPts val="0"/>
              </a:spcAft>
              <a:buClr>
                <a:srgbClr val="B98BFF"/>
              </a:buClr>
              <a:buSzPts val="1200"/>
              <a:buFont typeface="DM Mono"/>
              <a:buNone/>
            </a:pPr>
            <a:r>
              <a:rPr b="0" i="0" lang="en-US" sz="1200" u="none" cap="none" strike="noStrike">
                <a:solidFill>
                  <a:srgbClr val="B98BFF"/>
                </a:solidFill>
                <a:latin typeface="DM Mono"/>
                <a:ea typeface="DM Mono"/>
                <a:cs typeface="DM Mono"/>
                <a:sym typeface="DM Mono"/>
              </a:rPr>
              <a:t>agentgateway.dev</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0E27"/>
        </a:solidFill>
      </p:bgPr>
    </p:bg>
    <p:spTree>
      <p:nvGrpSpPr>
        <p:cNvPr id="154" name="Shape 154"/>
        <p:cNvGrpSpPr/>
        <p:nvPr/>
      </p:nvGrpSpPr>
      <p:grpSpPr>
        <a:xfrm>
          <a:off x="0" y="0"/>
          <a:ext cx="0" cy="0"/>
          <a:chOff x="0" y="0"/>
          <a:chExt cx="0" cy="0"/>
        </a:xfrm>
      </p:grpSpPr>
      <p:sp>
        <p:nvSpPr>
          <p:cNvPr id="155" name="Google Shape;155;p11"/>
          <p:cNvSpPr/>
          <p:nvPr/>
        </p:nvSpPr>
        <p:spPr>
          <a:xfrm>
            <a:off x="812800" y="711200"/>
            <a:ext cx="10883392" cy="2742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98BFF"/>
              </a:buClr>
              <a:buSzPts val="1400"/>
              <a:buFont typeface="DM Mono"/>
              <a:buNone/>
            </a:pPr>
            <a:r>
              <a:rPr b="0" i="0" lang="en-US" sz="1400" u="none" cap="none" strike="noStrike">
                <a:solidFill>
                  <a:srgbClr val="B98BFF"/>
                </a:solidFill>
                <a:latin typeface="DM Mono"/>
                <a:ea typeface="DM Mono"/>
                <a:cs typeface="DM Mono"/>
                <a:sym typeface="DM Mono"/>
              </a:rPr>
              <a:t>WITH AGENTGATEWAY</a:t>
            </a:r>
            <a:endParaRPr b="0" i="0" sz="1400" u="none" cap="none" strike="noStrike">
              <a:solidFill>
                <a:schemeClr val="dk1"/>
              </a:solidFill>
              <a:latin typeface="Calibri"/>
              <a:ea typeface="Calibri"/>
              <a:cs typeface="Calibri"/>
              <a:sym typeface="Calibri"/>
            </a:endParaRPr>
          </a:p>
        </p:txBody>
      </p:sp>
      <p:sp>
        <p:nvSpPr>
          <p:cNvPr id="156" name="Google Shape;156;p11"/>
          <p:cNvSpPr/>
          <p:nvPr/>
        </p:nvSpPr>
        <p:spPr>
          <a:xfrm>
            <a:off x="812800" y="1087041"/>
            <a:ext cx="10883392" cy="528241"/>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F4F2FA"/>
              </a:buClr>
              <a:buSzPts val="3600"/>
              <a:buFont typeface="Figtree"/>
              <a:buNone/>
            </a:pPr>
            <a:r>
              <a:rPr b="0" i="0" lang="en-US" sz="3600" u="none" cap="none" strike="noStrike">
                <a:solidFill>
                  <a:srgbClr val="F4F2FA"/>
                </a:solidFill>
                <a:latin typeface="Figtree"/>
                <a:ea typeface="Figtree"/>
                <a:cs typeface="Figtree"/>
                <a:sym typeface="Figtree"/>
              </a:rPr>
              <a:t>One front door for every token</a:t>
            </a:r>
            <a:endParaRPr b="0" i="0" sz="3600" u="none" cap="none" strike="noStrike">
              <a:solidFill>
                <a:schemeClr val="dk1"/>
              </a:solidFill>
              <a:latin typeface="Calibri"/>
              <a:ea typeface="Calibri"/>
              <a:cs typeface="Calibri"/>
              <a:sym typeface="Calibri"/>
            </a:endParaRPr>
          </a:p>
        </p:txBody>
      </p:sp>
      <p:sp>
        <p:nvSpPr>
          <p:cNvPr id="157" name="Google Shape;157;p11"/>
          <p:cNvSpPr/>
          <p:nvPr/>
        </p:nvSpPr>
        <p:spPr>
          <a:xfrm>
            <a:off x="812800" y="2233712"/>
            <a:ext cx="2877820" cy="23872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8E86A8"/>
              </a:buClr>
              <a:buSzPts val="1200"/>
              <a:buFont typeface="DM Mono"/>
              <a:buNone/>
            </a:pPr>
            <a:r>
              <a:rPr b="0" i="0" lang="en-US" sz="1200" u="none" cap="none" strike="noStrike">
                <a:solidFill>
                  <a:srgbClr val="8E86A8"/>
                </a:solidFill>
                <a:latin typeface="DM Mono"/>
                <a:ea typeface="DM Mono"/>
                <a:cs typeface="DM Mono"/>
                <a:sym typeface="DM Mono"/>
              </a:rPr>
              <a:t>PEOPLE AND AGENTS</a:t>
            </a:r>
            <a:endParaRPr b="0" i="0" sz="1200" u="none" cap="none" strike="noStrike">
              <a:solidFill>
                <a:schemeClr val="dk1"/>
              </a:solidFill>
              <a:latin typeface="Calibri"/>
              <a:ea typeface="Calibri"/>
              <a:cs typeface="Calibri"/>
              <a:sym typeface="Calibri"/>
            </a:endParaRPr>
          </a:p>
        </p:txBody>
      </p:sp>
      <p:sp>
        <p:nvSpPr>
          <p:cNvPr id="158" name="Google Shape;158;p11"/>
          <p:cNvSpPr/>
          <p:nvPr/>
        </p:nvSpPr>
        <p:spPr>
          <a:xfrm>
            <a:off x="815975" y="2577207"/>
            <a:ext cx="2787650" cy="501650"/>
          </a:xfrm>
          <a:prstGeom prst="roundRect">
            <a:avLst>
              <a:gd fmla="val 17089" name="adj"/>
            </a:avLst>
          </a:prstGeom>
          <a:solidFill>
            <a:srgbClr val="211A38"/>
          </a:solidFill>
          <a:ln cap="flat" cmpd="sng" w="9525">
            <a:solidFill>
              <a:srgbClr val="362D52"/>
            </a:solidFill>
            <a:prstDash val="solid"/>
            <a:round/>
            <a:headEnd len="sm" w="sm" type="none"/>
            <a:tailEnd len="sm" w="sm" type="none"/>
          </a:ln>
        </p:spPr>
        <p:txBody>
          <a:bodyPr anchorCtr="0" anchor="t" bIns="66950" lIns="155850" spcFirstLastPara="1" rIns="83075" wrap="square" tIns="92350">
            <a:noAutofit/>
          </a:bodyPr>
          <a:lstStyle/>
          <a:p>
            <a:pPr indent="0" lvl="0" marL="0" marR="0" rtl="0" algn="l">
              <a:lnSpc>
                <a:spcPct val="116667"/>
              </a:lnSpc>
              <a:spcBef>
                <a:spcPts val="0"/>
              </a:spcBef>
              <a:spcAft>
                <a:spcPts val="0"/>
              </a:spcAft>
              <a:buClr>
                <a:srgbClr val="F4F2FA"/>
              </a:buClr>
              <a:buSzPts val="1500"/>
              <a:buFont typeface="DM Sans"/>
              <a:buNone/>
            </a:pPr>
            <a:r>
              <a:rPr b="0" i="0" lang="en-US" sz="1500" u="none" cap="none" strike="noStrike">
                <a:solidFill>
                  <a:srgbClr val="F4F2FA"/>
                </a:solidFill>
                <a:latin typeface="DM Sans"/>
                <a:ea typeface="DM Sans"/>
                <a:cs typeface="DM Sans"/>
                <a:sym typeface="DM Sans"/>
              </a:rPr>
              <a:t>Akshay · developer</a:t>
            </a:r>
            <a:endParaRPr b="0" i="0" sz="1500" u="none" cap="none" strike="noStrike">
              <a:solidFill>
                <a:schemeClr val="dk1"/>
              </a:solidFill>
              <a:latin typeface="Calibri"/>
              <a:ea typeface="Calibri"/>
              <a:cs typeface="Calibri"/>
              <a:sym typeface="Calibri"/>
            </a:endParaRPr>
          </a:p>
        </p:txBody>
      </p:sp>
      <p:sp>
        <p:nvSpPr>
          <p:cNvPr id="159" name="Google Shape;159;p11"/>
          <p:cNvSpPr/>
          <p:nvPr/>
        </p:nvSpPr>
        <p:spPr>
          <a:xfrm>
            <a:off x="815975" y="3212207"/>
            <a:ext cx="2787650" cy="501650"/>
          </a:xfrm>
          <a:prstGeom prst="roundRect">
            <a:avLst>
              <a:gd fmla="val 17089" name="adj"/>
            </a:avLst>
          </a:prstGeom>
          <a:solidFill>
            <a:srgbClr val="211A38"/>
          </a:solidFill>
          <a:ln cap="flat" cmpd="sng" w="9525">
            <a:solidFill>
              <a:srgbClr val="362D52"/>
            </a:solidFill>
            <a:prstDash val="solid"/>
            <a:round/>
            <a:headEnd len="sm" w="sm" type="none"/>
            <a:tailEnd len="sm" w="sm" type="none"/>
          </a:ln>
        </p:spPr>
        <p:txBody>
          <a:bodyPr anchorCtr="0" anchor="t" bIns="66950" lIns="155850" spcFirstLastPara="1" rIns="83075" wrap="square" tIns="92350">
            <a:noAutofit/>
          </a:bodyPr>
          <a:lstStyle/>
          <a:p>
            <a:pPr indent="0" lvl="0" marL="0" marR="0" rtl="0" algn="l">
              <a:lnSpc>
                <a:spcPct val="116667"/>
              </a:lnSpc>
              <a:spcBef>
                <a:spcPts val="0"/>
              </a:spcBef>
              <a:spcAft>
                <a:spcPts val="0"/>
              </a:spcAft>
              <a:buClr>
                <a:srgbClr val="F4F2FA"/>
              </a:buClr>
              <a:buSzPts val="1500"/>
              <a:buFont typeface="DM Sans"/>
              <a:buNone/>
            </a:pPr>
            <a:r>
              <a:rPr b="0" i="0" lang="en-US" sz="1500" u="none" cap="none" strike="noStrike">
                <a:solidFill>
                  <a:srgbClr val="F4F2FA"/>
                </a:solidFill>
                <a:latin typeface="DM Sans"/>
                <a:ea typeface="DM Sans"/>
                <a:cs typeface="DM Sans"/>
                <a:sym typeface="DM Sans"/>
              </a:rPr>
              <a:t>Support team</a:t>
            </a:r>
            <a:endParaRPr b="0" i="0" sz="1500" u="none" cap="none" strike="noStrike">
              <a:solidFill>
                <a:schemeClr val="dk1"/>
              </a:solidFill>
              <a:latin typeface="Calibri"/>
              <a:ea typeface="Calibri"/>
              <a:cs typeface="Calibri"/>
              <a:sym typeface="Calibri"/>
            </a:endParaRPr>
          </a:p>
        </p:txBody>
      </p:sp>
      <p:sp>
        <p:nvSpPr>
          <p:cNvPr id="160" name="Google Shape;160;p11"/>
          <p:cNvSpPr/>
          <p:nvPr/>
        </p:nvSpPr>
        <p:spPr>
          <a:xfrm>
            <a:off x="815975" y="3847207"/>
            <a:ext cx="2787650" cy="501650"/>
          </a:xfrm>
          <a:prstGeom prst="roundRect">
            <a:avLst>
              <a:gd fmla="val 17089" name="adj"/>
            </a:avLst>
          </a:prstGeom>
          <a:solidFill>
            <a:srgbClr val="211A38"/>
          </a:solidFill>
          <a:ln cap="flat" cmpd="sng" w="9525">
            <a:solidFill>
              <a:srgbClr val="362D52"/>
            </a:solidFill>
            <a:prstDash val="solid"/>
            <a:round/>
            <a:headEnd len="sm" w="sm" type="none"/>
            <a:tailEnd len="sm" w="sm" type="none"/>
          </a:ln>
        </p:spPr>
        <p:txBody>
          <a:bodyPr anchorCtr="0" anchor="t" bIns="66950" lIns="155850" spcFirstLastPara="1" rIns="83075" wrap="square" tIns="92350">
            <a:noAutofit/>
          </a:bodyPr>
          <a:lstStyle/>
          <a:p>
            <a:pPr indent="0" lvl="0" marL="0" marR="0" rtl="0" algn="l">
              <a:lnSpc>
                <a:spcPct val="116667"/>
              </a:lnSpc>
              <a:spcBef>
                <a:spcPts val="0"/>
              </a:spcBef>
              <a:spcAft>
                <a:spcPts val="0"/>
              </a:spcAft>
              <a:buClr>
                <a:srgbClr val="F4F2FA"/>
              </a:buClr>
              <a:buSzPts val="1500"/>
              <a:buFont typeface="DM Sans"/>
              <a:buNone/>
            </a:pPr>
            <a:r>
              <a:rPr b="0" i="0" lang="en-US" sz="1500" u="none" cap="none" strike="noStrike">
                <a:solidFill>
                  <a:srgbClr val="F4F2FA"/>
                </a:solidFill>
                <a:latin typeface="DM Sans"/>
                <a:ea typeface="DM Sans"/>
                <a:cs typeface="DM Sans"/>
                <a:sym typeface="DM Sans"/>
              </a:rPr>
              <a:t>fulfillment-agent</a:t>
            </a:r>
            <a:endParaRPr b="0" i="0" sz="1500" u="none" cap="none" strike="noStrike">
              <a:solidFill>
                <a:schemeClr val="dk1"/>
              </a:solidFill>
              <a:latin typeface="Calibri"/>
              <a:ea typeface="Calibri"/>
              <a:cs typeface="Calibri"/>
              <a:sym typeface="Calibri"/>
            </a:endParaRPr>
          </a:p>
        </p:txBody>
      </p:sp>
      <p:pic>
        <p:nvPicPr>
          <p:cNvPr descr="arrow-right" id="161" name="Google Shape;161;p11"/>
          <p:cNvPicPr preferRelativeResize="0"/>
          <p:nvPr/>
        </p:nvPicPr>
        <p:blipFill rotWithShape="1">
          <a:blip r:embed="rId3">
            <a:alphaModFix/>
          </a:blip>
          <a:srcRect b="0" l="0" r="0" t="0"/>
          <a:stretch/>
        </p:blipFill>
        <p:spPr>
          <a:xfrm>
            <a:off x="3911600" y="3140472"/>
            <a:ext cx="609600" cy="304800"/>
          </a:xfrm>
          <a:prstGeom prst="rect">
            <a:avLst/>
          </a:prstGeom>
          <a:noFill/>
          <a:ln>
            <a:noFill/>
          </a:ln>
        </p:spPr>
      </p:pic>
      <p:sp>
        <p:nvSpPr>
          <p:cNvPr id="162" name="Google Shape;162;p11"/>
          <p:cNvSpPr/>
          <p:nvPr/>
        </p:nvSpPr>
        <p:spPr>
          <a:xfrm>
            <a:off x="4832350" y="1951831"/>
            <a:ext cx="2908300" cy="2682180"/>
          </a:xfrm>
          <a:prstGeom prst="roundRect">
            <a:avLst>
              <a:gd fmla="val 4498" name="adj"/>
            </a:avLst>
          </a:prstGeom>
          <a:solidFill>
            <a:srgbClr val="2A1A4A"/>
          </a:solidFill>
          <a:ln cap="flat" cmpd="sng" w="12700">
            <a:solidFill>
              <a:srgbClr val="8A3FFC"/>
            </a:solidFill>
            <a:prstDash val="solid"/>
            <a:round/>
            <a:headEnd len="sm" w="sm" type="none"/>
            <a:tailEnd len="sm" w="sm" type="none"/>
          </a:ln>
          <a:effectLst>
            <a:outerShdw blurRad="508000" rotWithShape="0" algn="bl">
              <a:srgbClr val="8A3FFC">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gentgateway" id="163" name="Google Shape;163;p11"/>
          <p:cNvPicPr preferRelativeResize="0"/>
          <p:nvPr/>
        </p:nvPicPr>
        <p:blipFill rotWithShape="1">
          <a:blip r:embed="rId4">
            <a:alphaModFix/>
          </a:blip>
          <a:srcRect b="-1079" l="0" r="0" t="-1079"/>
          <a:stretch/>
        </p:blipFill>
        <p:spPr>
          <a:xfrm>
            <a:off x="5067300" y="2186781"/>
            <a:ext cx="2159000" cy="330200"/>
          </a:xfrm>
          <a:prstGeom prst="rect">
            <a:avLst/>
          </a:prstGeom>
          <a:noFill/>
          <a:ln>
            <a:noFill/>
          </a:ln>
        </p:spPr>
      </p:pic>
      <p:sp>
        <p:nvSpPr>
          <p:cNvPr id="164" name="Google Shape;164;p11"/>
          <p:cNvSpPr/>
          <p:nvPr/>
        </p:nvSpPr>
        <p:spPr>
          <a:xfrm>
            <a:off x="5070475" y="2647156"/>
            <a:ext cx="2432050" cy="494010"/>
          </a:xfrm>
          <a:prstGeom prst="roundRect">
            <a:avLst>
              <a:gd fmla="val 14782" name="adj"/>
            </a:avLst>
          </a:prstGeom>
          <a:solidFill>
            <a:srgbClr val="150E27"/>
          </a:solidFill>
          <a:ln cap="flat" cmpd="sng" w="9525">
            <a:solidFill>
              <a:srgbClr val="8A3FFC"/>
            </a:solidFill>
            <a:prstDash val="solid"/>
            <a:round/>
            <a:headEnd len="sm" w="sm" type="none"/>
            <a:tailEnd len="sm" w="sm" type="none"/>
          </a:ln>
        </p:spPr>
        <p:txBody>
          <a:bodyPr anchorCtr="0" anchor="t" bIns="57975" lIns="134175" spcFirstLastPara="1" rIns="70550" wrap="square" tIns="83375">
            <a:noAutofit/>
          </a:bodyPr>
          <a:lstStyle/>
          <a:p>
            <a:pPr indent="0" lvl="0" marL="0" marR="0" rtl="0" algn="l">
              <a:lnSpc>
                <a:spcPct val="116667"/>
              </a:lnSpc>
              <a:spcBef>
                <a:spcPts val="0"/>
              </a:spcBef>
              <a:spcAft>
                <a:spcPts val="0"/>
              </a:spcAft>
              <a:buClr>
                <a:srgbClr val="F4F2FA"/>
              </a:buClr>
              <a:buSzPts val="1600"/>
              <a:buFont typeface="DM Sans"/>
              <a:buNone/>
            </a:pPr>
            <a:r>
              <a:rPr b="0" i="0" lang="en-US" sz="1600" u="none" cap="none" strike="noStrike">
                <a:solidFill>
                  <a:srgbClr val="F4F2FA"/>
                </a:solidFill>
                <a:latin typeface="DM Sans"/>
                <a:ea typeface="DM Sans"/>
                <a:cs typeface="DM Sans"/>
                <a:sym typeface="DM Sans"/>
              </a:rPr>
              <a:t>Attribute</a:t>
            </a:r>
            <a:endParaRPr b="0" i="0" sz="1600" u="none" cap="none" strike="noStrike">
              <a:solidFill>
                <a:schemeClr val="dk1"/>
              </a:solidFill>
              <a:latin typeface="Calibri"/>
              <a:ea typeface="Calibri"/>
              <a:cs typeface="Calibri"/>
              <a:sym typeface="Calibri"/>
            </a:endParaRPr>
          </a:p>
        </p:txBody>
      </p:sp>
      <p:sp>
        <p:nvSpPr>
          <p:cNvPr id="165" name="Google Shape;165;p11"/>
          <p:cNvSpPr/>
          <p:nvPr/>
        </p:nvSpPr>
        <p:spPr>
          <a:xfrm>
            <a:off x="5070475" y="3274516"/>
            <a:ext cx="2432050" cy="494010"/>
          </a:xfrm>
          <a:prstGeom prst="roundRect">
            <a:avLst>
              <a:gd fmla="val 14782" name="adj"/>
            </a:avLst>
          </a:prstGeom>
          <a:solidFill>
            <a:srgbClr val="150E27"/>
          </a:solidFill>
          <a:ln cap="flat" cmpd="sng" w="9525">
            <a:solidFill>
              <a:srgbClr val="8A3FFC"/>
            </a:solidFill>
            <a:prstDash val="solid"/>
            <a:round/>
            <a:headEnd len="sm" w="sm" type="none"/>
            <a:tailEnd len="sm" w="sm" type="none"/>
          </a:ln>
        </p:spPr>
        <p:txBody>
          <a:bodyPr anchorCtr="0" anchor="t" bIns="57975" lIns="134175" spcFirstLastPara="1" rIns="70550" wrap="square" tIns="83375">
            <a:noAutofit/>
          </a:bodyPr>
          <a:lstStyle/>
          <a:p>
            <a:pPr indent="0" lvl="0" marL="0" marR="0" rtl="0" algn="l">
              <a:lnSpc>
                <a:spcPct val="116667"/>
              </a:lnSpc>
              <a:spcBef>
                <a:spcPts val="0"/>
              </a:spcBef>
              <a:spcAft>
                <a:spcPts val="0"/>
              </a:spcAft>
              <a:buClr>
                <a:srgbClr val="F4F2FA"/>
              </a:buClr>
              <a:buSzPts val="1600"/>
              <a:buFont typeface="DM Sans"/>
              <a:buNone/>
            </a:pPr>
            <a:r>
              <a:rPr b="0" i="0" lang="en-US" sz="1600" u="none" cap="none" strike="noStrike">
                <a:solidFill>
                  <a:srgbClr val="F4F2FA"/>
                </a:solidFill>
                <a:latin typeface="DM Sans"/>
                <a:ea typeface="DM Sans"/>
                <a:cs typeface="DM Sans"/>
                <a:sym typeface="DM Sans"/>
              </a:rPr>
              <a:t>Price</a:t>
            </a:r>
            <a:endParaRPr b="0" i="0" sz="1600" u="none" cap="none" strike="noStrike">
              <a:solidFill>
                <a:schemeClr val="dk1"/>
              </a:solidFill>
              <a:latin typeface="Calibri"/>
              <a:ea typeface="Calibri"/>
              <a:cs typeface="Calibri"/>
              <a:sym typeface="Calibri"/>
            </a:endParaRPr>
          </a:p>
        </p:txBody>
      </p:sp>
      <p:sp>
        <p:nvSpPr>
          <p:cNvPr id="166" name="Google Shape;166;p11"/>
          <p:cNvSpPr/>
          <p:nvPr/>
        </p:nvSpPr>
        <p:spPr>
          <a:xfrm>
            <a:off x="5070475" y="3901877"/>
            <a:ext cx="2432050" cy="494010"/>
          </a:xfrm>
          <a:prstGeom prst="roundRect">
            <a:avLst>
              <a:gd fmla="val 14782" name="adj"/>
            </a:avLst>
          </a:prstGeom>
          <a:solidFill>
            <a:srgbClr val="150E27"/>
          </a:solidFill>
          <a:ln cap="flat" cmpd="sng" w="9525">
            <a:solidFill>
              <a:srgbClr val="8A3FFC"/>
            </a:solidFill>
            <a:prstDash val="solid"/>
            <a:round/>
            <a:headEnd len="sm" w="sm" type="none"/>
            <a:tailEnd len="sm" w="sm" type="none"/>
          </a:ln>
        </p:spPr>
        <p:txBody>
          <a:bodyPr anchorCtr="0" anchor="t" bIns="57975" lIns="134175" spcFirstLastPara="1" rIns="70550" wrap="square" tIns="83375">
            <a:noAutofit/>
          </a:bodyPr>
          <a:lstStyle/>
          <a:p>
            <a:pPr indent="0" lvl="0" marL="0" marR="0" rtl="0" algn="l">
              <a:lnSpc>
                <a:spcPct val="116667"/>
              </a:lnSpc>
              <a:spcBef>
                <a:spcPts val="0"/>
              </a:spcBef>
              <a:spcAft>
                <a:spcPts val="0"/>
              </a:spcAft>
              <a:buClr>
                <a:srgbClr val="F4F2FA"/>
              </a:buClr>
              <a:buSzPts val="1600"/>
              <a:buFont typeface="DM Sans"/>
              <a:buNone/>
            </a:pPr>
            <a:r>
              <a:rPr b="0" i="0" lang="en-US" sz="1600" u="none" cap="none" strike="noStrike">
                <a:solidFill>
                  <a:srgbClr val="F4F2FA"/>
                </a:solidFill>
                <a:latin typeface="DM Sans"/>
                <a:ea typeface="DM Sans"/>
                <a:cs typeface="DM Sans"/>
                <a:sym typeface="DM Sans"/>
              </a:rPr>
              <a:t>Enforce</a:t>
            </a:r>
            <a:endParaRPr b="0" i="0" sz="1600" u="none" cap="none" strike="noStrike">
              <a:solidFill>
                <a:schemeClr val="dk1"/>
              </a:solidFill>
              <a:latin typeface="Calibri"/>
              <a:ea typeface="Calibri"/>
              <a:cs typeface="Calibri"/>
              <a:sym typeface="Calibri"/>
            </a:endParaRPr>
          </a:p>
        </p:txBody>
      </p:sp>
      <p:pic>
        <p:nvPicPr>
          <p:cNvPr descr="arrow-right" id="167" name="Google Shape;167;p11"/>
          <p:cNvPicPr preferRelativeResize="0"/>
          <p:nvPr/>
        </p:nvPicPr>
        <p:blipFill rotWithShape="1">
          <a:blip r:embed="rId3">
            <a:alphaModFix/>
          </a:blip>
          <a:srcRect b="0" l="0" r="0" t="0"/>
          <a:stretch/>
        </p:blipFill>
        <p:spPr>
          <a:xfrm>
            <a:off x="8051800" y="3140472"/>
            <a:ext cx="609600" cy="304800"/>
          </a:xfrm>
          <a:prstGeom prst="rect">
            <a:avLst/>
          </a:prstGeom>
          <a:noFill/>
          <a:ln>
            <a:noFill/>
          </a:ln>
        </p:spPr>
      </p:pic>
      <p:sp>
        <p:nvSpPr>
          <p:cNvPr id="168" name="Google Shape;168;p11"/>
          <p:cNvSpPr/>
          <p:nvPr/>
        </p:nvSpPr>
        <p:spPr>
          <a:xfrm>
            <a:off x="8966200" y="2233712"/>
            <a:ext cx="2485390" cy="23872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8E86A8"/>
              </a:buClr>
              <a:buSzPts val="1200"/>
              <a:buFont typeface="DM Mono"/>
              <a:buNone/>
            </a:pPr>
            <a:r>
              <a:rPr b="0" i="0" lang="en-US" sz="1200" u="none" cap="none" strike="noStrike">
                <a:solidFill>
                  <a:srgbClr val="8E86A8"/>
                </a:solidFill>
                <a:latin typeface="DM Mono"/>
                <a:ea typeface="DM Mono"/>
                <a:cs typeface="DM Mono"/>
                <a:sym typeface="DM Mono"/>
              </a:rPr>
              <a:t>LLM PROVIDERS</a:t>
            </a:r>
            <a:endParaRPr b="0" i="0" sz="1200" u="none" cap="none" strike="noStrike">
              <a:solidFill>
                <a:schemeClr val="dk1"/>
              </a:solidFill>
              <a:latin typeface="Calibri"/>
              <a:ea typeface="Calibri"/>
              <a:cs typeface="Calibri"/>
              <a:sym typeface="Calibri"/>
            </a:endParaRPr>
          </a:p>
        </p:txBody>
      </p:sp>
      <p:sp>
        <p:nvSpPr>
          <p:cNvPr id="169" name="Google Shape;169;p11"/>
          <p:cNvSpPr/>
          <p:nvPr/>
        </p:nvSpPr>
        <p:spPr>
          <a:xfrm>
            <a:off x="8969375" y="2577207"/>
            <a:ext cx="2406650" cy="501650"/>
          </a:xfrm>
          <a:prstGeom prst="roundRect">
            <a:avLst>
              <a:gd fmla="val 17089" name="adj"/>
            </a:avLst>
          </a:prstGeom>
          <a:solidFill>
            <a:srgbClr val="211A38"/>
          </a:solidFill>
          <a:ln cap="flat" cmpd="sng" w="9525">
            <a:solidFill>
              <a:srgbClr val="362D52"/>
            </a:solidFill>
            <a:prstDash val="solid"/>
            <a:round/>
            <a:headEnd len="sm" w="sm" type="none"/>
            <a:tailEnd len="sm" w="sm" type="none"/>
          </a:ln>
        </p:spPr>
        <p:txBody>
          <a:bodyPr anchorCtr="0" anchor="t" bIns="66950" lIns="155850" spcFirstLastPara="1" rIns="94525" wrap="square" tIns="92350">
            <a:noAutofit/>
          </a:bodyPr>
          <a:lstStyle/>
          <a:p>
            <a:pPr indent="0" lvl="0" marL="0" marR="0" rtl="0" algn="l">
              <a:lnSpc>
                <a:spcPct val="116667"/>
              </a:lnSpc>
              <a:spcBef>
                <a:spcPts val="0"/>
              </a:spcBef>
              <a:spcAft>
                <a:spcPts val="0"/>
              </a:spcAft>
              <a:buClr>
                <a:srgbClr val="F4F2FA"/>
              </a:buClr>
              <a:buSzPts val="1500"/>
              <a:buFont typeface="DM Sans"/>
              <a:buNone/>
            </a:pPr>
            <a:r>
              <a:rPr b="0" i="0" lang="en-US" sz="1500" u="none" cap="none" strike="noStrike">
                <a:solidFill>
                  <a:srgbClr val="F4F2FA"/>
                </a:solidFill>
                <a:latin typeface="DM Sans"/>
                <a:ea typeface="DM Sans"/>
                <a:cs typeface="DM Sans"/>
                <a:sym typeface="DM Sans"/>
              </a:rPr>
              <a:t>Anthropic</a:t>
            </a:r>
            <a:endParaRPr b="0" i="0" sz="1500" u="none" cap="none" strike="noStrike">
              <a:solidFill>
                <a:schemeClr val="dk1"/>
              </a:solidFill>
              <a:latin typeface="Calibri"/>
              <a:ea typeface="Calibri"/>
              <a:cs typeface="Calibri"/>
              <a:sym typeface="Calibri"/>
            </a:endParaRPr>
          </a:p>
        </p:txBody>
      </p:sp>
      <p:sp>
        <p:nvSpPr>
          <p:cNvPr id="170" name="Google Shape;170;p11"/>
          <p:cNvSpPr/>
          <p:nvPr/>
        </p:nvSpPr>
        <p:spPr>
          <a:xfrm>
            <a:off x="8969375" y="3212207"/>
            <a:ext cx="2406650" cy="501650"/>
          </a:xfrm>
          <a:prstGeom prst="roundRect">
            <a:avLst>
              <a:gd fmla="val 17089" name="adj"/>
            </a:avLst>
          </a:prstGeom>
          <a:solidFill>
            <a:srgbClr val="211A38"/>
          </a:solidFill>
          <a:ln cap="flat" cmpd="sng" w="9525">
            <a:solidFill>
              <a:srgbClr val="362D52"/>
            </a:solidFill>
            <a:prstDash val="solid"/>
            <a:round/>
            <a:headEnd len="sm" w="sm" type="none"/>
            <a:tailEnd len="sm" w="sm" type="none"/>
          </a:ln>
        </p:spPr>
        <p:txBody>
          <a:bodyPr anchorCtr="0" anchor="t" bIns="66950" lIns="155850" spcFirstLastPara="1" rIns="94525" wrap="square" tIns="92350">
            <a:noAutofit/>
          </a:bodyPr>
          <a:lstStyle/>
          <a:p>
            <a:pPr indent="0" lvl="0" marL="0" marR="0" rtl="0" algn="l">
              <a:lnSpc>
                <a:spcPct val="116667"/>
              </a:lnSpc>
              <a:spcBef>
                <a:spcPts val="0"/>
              </a:spcBef>
              <a:spcAft>
                <a:spcPts val="0"/>
              </a:spcAft>
              <a:buClr>
                <a:srgbClr val="F4F2FA"/>
              </a:buClr>
              <a:buSzPts val="1500"/>
              <a:buFont typeface="DM Sans"/>
              <a:buNone/>
            </a:pPr>
            <a:r>
              <a:rPr b="0" i="0" lang="en-US" sz="1500" u="none" cap="none" strike="noStrike">
                <a:solidFill>
                  <a:srgbClr val="F4F2FA"/>
                </a:solidFill>
                <a:latin typeface="DM Sans"/>
                <a:ea typeface="DM Sans"/>
                <a:cs typeface="DM Sans"/>
                <a:sym typeface="DM Sans"/>
              </a:rPr>
              <a:t>OpenAI</a:t>
            </a:r>
            <a:endParaRPr b="0" i="0" sz="1500" u="none" cap="none" strike="noStrike">
              <a:solidFill>
                <a:schemeClr val="dk1"/>
              </a:solidFill>
              <a:latin typeface="Calibri"/>
              <a:ea typeface="Calibri"/>
              <a:cs typeface="Calibri"/>
              <a:sym typeface="Calibri"/>
            </a:endParaRPr>
          </a:p>
        </p:txBody>
      </p:sp>
      <p:sp>
        <p:nvSpPr>
          <p:cNvPr id="171" name="Google Shape;171;p11"/>
          <p:cNvSpPr/>
          <p:nvPr/>
        </p:nvSpPr>
        <p:spPr>
          <a:xfrm>
            <a:off x="8969375" y="3847207"/>
            <a:ext cx="2406650" cy="501650"/>
          </a:xfrm>
          <a:prstGeom prst="roundRect">
            <a:avLst>
              <a:gd fmla="val 17089" name="adj"/>
            </a:avLst>
          </a:prstGeom>
          <a:solidFill>
            <a:srgbClr val="211A38"/>
          </a:solidFill>
          <a:ln cap="flat" cmpd="sng" w="9525">
            <a:solidFill>
              <a:srgbClr val="362D52"/>
            </a:solidFill>
            <a:prstDash val="solid"/>
            <a:round/>
            <a:headEnd len="sm" w="sm" type="none"/>
            <a:tailEnd len="sm" w="sm" type="none"/>
          </a:ln>
        </p:spPr>
        <p:txBody>
          <a:bodyPr anchorCtr="0" anchor="t" bIns="66950" lIns="155850" spcFirstLastPara="1" rIns="94525" wrap="square" tIns="92350">
            <a:noAutofit/>
          </a:bodyPr>
          <a:lstStyle/>
          <a:p>
            <a:pPr indent="0" lvl="0" marL="0" marR="0" rtl="0" algn="l">
              <a:lnSpc>
                <a:spcPct val="116667"/>
              </a:lnSpc>
              <a:spcBef>
                <a:spcPts val="0"/>
              </a:spcBef>
              <a:spcAft>
                <a:spcPts val="0"/>
              </a:spcAft>
              <a:buClr>
                <a:srgbClr val="F4F2FA"/>
              </a:buClr>
              <a:buSzPts val="1500"/>
              <a:buFont typeface="DM Sans"/>
              <a:buNone/>
            </a:pPr>
            <a:r>
              <a:rPr b="0" i="0" lang="en-US" sz="1500" u="none" cap="none" strike="noStrike">
                <a:solidFill>
                  <a:srgbClr val="F4F2FA"/>
                </a:solidFill>
                <a:latin typeface="DM Sans"/>
                <a:ea typeface="DM Sans"/>
                <a:cs typeface="DM Sans"/>
                <a:sym typeface="DM Sans"/>
              </a:rPr>
              <a:t>Gemini · Bedrock</a:t>
            </a:r>
            <a:endParaRPr b="0" i="0" sz="1500" u="none" cap="none" strike="noStrike">
              <a:solidFill>
                <a:schemeClr val="dk1"/>
              </a:solidFill>
              <a:latin typeface="Calibri"/>
              <a:ea typeface="Calibri"/>
              <a:cs typeface="Calibri"/>
              <a:sym typeface="Calibri"/>
            </a:endParaRPr>
          </a:p>
        </p:txBody>
      </p:sp>
      <p:pic>
        <p:nvPicPr>
          <p:cNvPr descr="Solo.io" id="172" name="Google Shape;172;p11"/>
          <p:cNvPicPr preferRelativeResize="0"/>
          <p:nvPr/>
        </p:nvPicPr>
        <p:blipFill rotWithShape="1">
          <a:blip r:embed="rId5">
            <a:alphaModFix/>
          </a:blip>
          <a:srcRect b="-179" l="0" r="0" t="-179"/>
          <a:stretch/>
        </p:blipFill>
        <p:spPr>
          <a:xfrm>
            <a:off x="812800" y="6223000"/>
            <a:ext cx="1016000" cy="228600"/>
          </a:xfrm>
          <a:prstGeom prst="rect">
            <a:avLst/>
          </a:prstGeom>
          <a:noFill/>
          <a:ln>
            <a:noFill/>
          </a:ln>
        </p:spPr>
      </p:pic>
      <p:sp>
        <p:nvSpPr>
          <p:cNvPr id="173" name="Google Shape;173;p11"/>
          <p:cNvSpPr/>
          <p:nvPr/>
        </p:nvSpPr>
        <p:spPr>
          <a:xfrm>
            <a:off x="8763000" y="6238280"/>
            <a:ext cx="2616200" cy="238720"/>
          </a:xfrm>
          <a:prstGeom prst="rect">
            <a:avLst/>
          </a:prstGeom>
          <a:noFill/>
          <a:ln>
            <a:noFill/>
          </a:ln>
        </p:spPr>
        <p:txBody>
          <a:bodyPr anchorCtr="0" anchor="t" bIns="0" lIns="0" spcFirstLastPara="1" rIns="0" wrap="square" tIns="0">
            <a:noAutofit/>
          </a:bodyPr>
          <a:lstStyle/>
          <a:p>
            <a:pPr indent="0" lvl="0" marL="0" marR="0" rtl="0" algn="r">
              <a:lnSpc>
                <a:spcPct val="116667"/>
              </a:lnSpc>
              <a:spcBef>
                <a:spcPts val="0"/>
              </a:spcBef>
              <a:spcAft>
                <a:spcPts val="0"/>
              </a:spcAft>
              <a:buClr>
                <a:srgbClr val="B98BFF"/>
              </a:buClr>
              <a:buSzPts val="1200"/>
              <a:buFont typeface="DM Mono"/>
              <a:buNone/>
            </a:pPr>
            <a:r>
              <a:rPr b="0" i="0" lang="en-US" sz="1200" u="none" cap="none" strike="noStrike">
                <a:solidFill>
                  <a:srgbClr val="B98BFF"/>
                </a:solidFill>
                <a:latin typeface="DM Mono"/>
                <a:ea typeface="DM Mono"/>
                <a:cs typeface="DM Mono"/>
                <a:sym typeface="DM Mono"/>
              </a:rPr>
              <a:t>agentgateway.dev</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0A2B"/>
        </a:solidFill>
      </p:bgPr>
    </p:bg>
    <p:spTree>
      <p:nvGrpSpPr>
        <p:cNvPr id="178" name="Shape 178"/>
        <p:cNvGrpSpPr/>
        <p:nvPr/>
      </p:nvGrpSpPr>
      <p:grpSpPr>
        <a:xfrm>
          <a:off x="0" y="0"/>
          <a:ext cx="0" cy="0"/>
          <a:chOff x="0" y="0"/>
          <a:chExt cx="0" cy="0"/>
        </a:xfrm>
      </p:grpSpPr>
      <p:pic>
        <p:nvPicPr>
          <p:cNvPr descr="Meet agentgateway: AI-native, without skipping the gateway basics. What it is: one open-source data plane written in Rust, covering inference routing, LLM gateway, MCP and A2A, and API gateway. Why we built it: traditional gateways put basics first and bolt AI on, new AI gateways put AI first and basics later, agentgateway does both from day one. Created at Solo.io by the kgateway team." id="179" name="Google Shape;179;p12"/>
          <p:cNvPicPr preferRelativeResize="0"/>
          <p:nvPr/>
        </p:nvPicPr>
        <p:blipFill rotWithShape="1">
          <a:blip r:embed="rId3">
            <a:alphaModFix/>
          </a:blip>
          <a:srcRect b="92" l="0" r="0" t="92"/>
          <a:stretch/>
        </p:blipFill>
        <p:spPr>
          <a:xfrm>
            <a:off x="0" y="0"/>
            <a:ext cx="12192000" cy="6858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0E27"/>
        </a:solidFill>
      </p:bgPr>
    </p:bg>
    <p:spTree>
      <p:nvGrpSpPr>
        <p:cNvPr id="184" name="Shape 184"/>
        <p:cNvGrpSpPr/>
        <p:nvPr/>
      </p:nvGrpSpPr>
      <p:grpSpPr>
        <a:xfrm>
          <a:off x="0" y="0"/>
          <a:ext cx="0" cy="0"/>
          <a:chOff x="0" y="0"/>
          <a:chExt cx="0" cy="0"/>
        </a:xfrm>
      </p:grpSpPr>
      <p:sp>
        <p:nvSpPr>
          <p:cNvPr id="185" name="Google Shape;185;p13"/>
          <p:cNvSpPr/>
          <p:nvPr/>
        </p:nvSpPr>
        <p:spPr>
          <a:xfrm>
            <a:off x="812800" y="711200"/>
            <a:ext cx="10883392" cy="2742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98BFF"/>
              </a:buClr>
              <a:buSzPts val="1400"/>
              <a:buFont typeface="DM Mono"/>
              <a:buNone/>
            </a:pPr>
            <a:r>
              <a:rPr b="0" i="0" lang="en-US" sz="1400" u="none" cap="none" strike="noStrike">
                <a:solidFill>
                  <a:srgbClr val="B98BFF"/>
                </a:solidFill>
                <a:latin typeface="DM Mono"/>
                <a:ea typeface="DM Mono"/>
                <a:cs typeface="DM Mono"/>
                <a:sym typeface="DM Mono"/>
              </a:rPr>
              <a:t>WHY AGENTGATEWAY</a:t>
            </a:r>
            <a:endParaRPr b="0" i="0" sz="1400" u="none" cap="none" strike="noStrike">
              <a:solidFill>
                <a:schemeClr val="dk1"/>
              </a:solidFill>
              <a:latin typeface="Calibri"/>
              <a:ea typeface="Calibri"/>
              <a:cs typeface="Calibri"/>
              <a:sym typeface="Calibri"/>
            </a:endParaRPr>
          </a:p>
        </p:txBody>
      </p:sp>
      <p:sp>
        <p:nvSpPr>
          <p:cNvPr id="186" name="Google Shape;186;p13"/>
          <p:cNvSpPr/>
          <p:nvPr/>
        </p:nvSpPr>
        <p:spPr>
          <a:xfrm>
            <a:off x="812800" y="1087041"/>
            <a:ext cx="10883392" cy="528241"/>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F4F2FA"/>
              </a:buClr>
              <a:buSzPts val="3600"/>
              <a:buFont typeface="Figtree"/>
              <a:buNone/>
            </a:pPr>
            <a:r>
              <a:rPr b="0" i="0" lang="en-US" sz="3600" u="none" cap="none" strike="noStrike">
                <a:solidFill>
                  <a:srgbClr val="F4F2FA"/>
                </a:solidFill>
                <a:latin typeface="Figtree"/>
                <a:ea typeface="Figtree"/>
                <a:cs typeface="Figtree"/>
                <a:sym typeface="Figtree"/>
              </a:rPr>
              <a:t>Three reasons to put it in front of your AI</a:t>
            </a:r>
            <a:endParaRPr b="0" i="0" sz="3600" u="none" cap="none" strike="noStrike">
              <a:solidFill>
                <a:schemeClr val="dk1"/>
              </a:solidFill>
              <a:latin typeface="Calibri"/>
              <a:ea typeface="Calibri"/>
              <a:cs typeface="Calibri"/>
              <a:sym typeface="Calibri"/>
            </a:endParaRPr>
          </a:p>
        </p:txBody>
      </p:sp>
      <p:sp>
        <p:nvSpPr>
          <p:cNvPr id="187" name="Google Shape;187;p13"/>
          <p:cNvSpPr/>
          <p:nvPr/>
        </p:nvSpPr>
        <p:spPr>
          <a:xfrm>
            <a:off x="815975" y="1948656"/>
            <a:ext cx="3380284" cy="2777331"/>
          </a:xfrm>
          <a:prstGeom prst="roundRect">
            <a:avLst>
              <a:gd fmla="val 4458" name="adj"/>
            </a:avLst>
          </a:prstGeom>
          <a:solidFill>
            <a:srgbClr val="211A38"/>
          </a:solidFill>
          <a:ln cap="flat" cmpd="sng" w="9525">
            <a:solidFill>
              <a:srgbClr val="362D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3"/>
          <p:cNvSpPr/>
          <p:nvPr/>
        </p:nvSpPr>
        <p:spPr>
          <a:xfrm>
            <a:off x="1098550" y="2231231"/>
            <a:ext cx="2899588" cy="2742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98BFF"/>
              </a:buClr>
              <a:buSzPts val="1400"/>
              <a:buFont typeface="DM Mono"/>
              <a:buNone/>
            </a:pPr>
            <a:r>
              <a:rPr b="0" i="0" lang="en-US" sz="1400" u="none" cap="none" strike="noStrike">
                <a:solidFill>
                  <a:srgbClr val="B98BFF"/>
                </a:solidFill>
                <a:latin typeface="DM Mono"/>
                <a:ea typeface="DM Mono"/>
                <a:cs typeface="DM Mono"/>
                <a:sym typeface="DM Mono"/>
              </a:rPr>
              <a:t>01</a:t>
            </a:r>
            <a:endParaRPr b="0" i="0" sz="1400" u="none" cap="none" strike="noStrike">
              <a:solidFill>
                <a:schemeClr val="dk1"/>
              </a:solidFill>
              <a:latin typeface="Calibri"/>
              <a:ea typeface="Calibri"/>
              <a:cs typeface="Calibri"/>
              <a:sym typeface="Calibri"/>
            </a:endParaRPr>
          </a:p>
        </p:txBody>
      </p:sp>
      <p:sp>
        <p:nvSpPr>
          <p:cNvPr id="189" name="Google Shape;189;p13"/>
          <p:cNvSpPr/>
          <p:nvPr/>
        </p:nvSpPr>
        <p:spPr>
          <a:xfrm>
            <a:off x="1098550" y="2607072"/>
            <a:ext cx="2899588" cy="667941"/>
          </a:xfrm>
          <a:prstGeom prst="rect">
            <a:avLst/>
          </a:prstGeom>
          <a:noFill/>
          <a:ln>
            <a:noFill/>
          </a:ln>
        </p:spPr>
        <p:txBody>
          <a:bodyPr anchorCtr="0" anchor="t" bIns="0" lIns="0" spcFirstLastPara="1" rIns="0" wrap="square" tIns="0">
            <a:noAutofit/>
          </a:bodyPr>
          <a:lstStyle/>
          <a:p>
            <a:pPr indent="0" lvl="0" marL="0" marR="0" rtl="0" algn="l">
              <a:lnSpc>
                <a:spcPct val="95833"/>
              </a:lnSpc>
              <a:spcBef>
                <a:spcPts val="0"/>
              </a:spcBef>
              <a:spcAft>
                <a:spcPts val="0"/>
              </a:spcAft>
              <a:buClr>
                <a:srgbClr val="F4F2FA"/>
              </a:buClr>
              <a:buSzPts val="2200"/>
              <a:buFont typeface="Figtree"/>
              <a:buNone/>
            </a:pPr>
            <a:r>
              <a:rPr b="0" i="0" lang="en-US" sz="2200" u="none" cap="none" strike="noStrike">
                <a:solidFill>
                  <a:srgbClr val="F4F2FA"/>
                </a:solidFill>
                <a:latin typeface="Figtree"/>
                <a:ea typeface="Figtree"/>
                <a:cs typeface="Figtree"/>
                <a:sym typeface="Figtree"/>
              </a:rPr>
              <a:t>One control point for all AI traffic</a:t>
            </a:r>
            <a:endParaRPr b="0" i="0" sz="2200" u="none" cap="none" strike="noStrike">
              <a:solidFill>
                <a:schemeClr val="dk1"/>
              </a:solidFill>
              <a:latin typeface="Calibri"/>
              <a:ea typeface="Calibri"/>
              <a:cs typeface="Calibri"/>
              <a:sym typeface="Calibri"/>
            </a:endParaRPr>
          </a:p>
        </p:txBody>
      </p:sp>
      <p:sp>
        <p:nvSpPr>
          <p:cNvPr id="190" name="Google Shape;190;p13"/>
          <p:cNvSpPr/>
          <p:nvPr/>
        </p:nvSpPr>
        <p:spPr>
          <a:xfrm>
            <a:off x="1098550" y="3376613"/>
            <a:ext cx="2899588" cy="109220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C9C3DB"/>
              </a:buClr>
              <a:buSzPts val="1500"/>
              <a:buFont typeface="DM Sans"/>
              <a:buNone/>
            </a:pPr>
            <a:r>
              <a:rPr b="0" i="0" lang="en-US" sz="1500" u="none" cap="none" strike="noStrike">
                <a:solidFill>
                  <a:srgbClr val="C9C3DB"/>
                </a:solidFill>
                <a:latin typeface="DM Sans"/>
                <a:ea typeface="DM Sans"/>
                <a:cs typeface="DM Sans"/>
                <a:sym typeface="DM Sans"/>
              </a:rPr>
              <a:t>LLMs, MCP, A2A and regular APIs share one set of security, observability and governance controls.</a:t>
            </a:r>
            <a:endParaRPr b="0" i="0" sz="1500" u="none" cap="none" strike="noStrike">
              <a:solidFill>
                <a:schemeClr val="dk1"/>
              </a:solidFill>
              <a:latin typeface="Calibri"/>
              <a:ea typeface="Calibri"/>
              <a:cs typeface="Calibri"/>
              <a:sym typeface="Calibri"/>
            </a:endParaRPr>
          </a:p>
        </p:txBody>
      </p:sp>
      <p:sp>
        <p:nvSpPr>
          <p:cNvPr id="191" name="Google Shape;191;p13"/>
          <p:cNvSpPr/>
          <p:nvPr/>
        </p:nvSpPr>
        <p:spPr>
          <a:xfrm>
            <a:off x="4405809" y="1948656"/>
            <a:ext cx="3380284" cy="2777331"/>
          </a:xfrm>
          <a:prstGeom prst="roundRect">
            <a:avLst>
              <a:gd fmla="val 4458" name="adj"/>
            </a:avLst>
          </a:prstGeom>
          <a:solidFill>
            <a:srgbClr val="211A38"/>
          </a:solidFill>
          <a:ln cap="flat" cmpd="sng" w="9525">
            <a:solidFill>
              <a:srgbClr val="362D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3"/>
          <p:cNvSpPr/>
          <p:nvPr/>
        </p:nvSpPr>
        <p:spPr>
          <a:xfrm>
            <a:off x="4688384" y="2231231"/>
            <a:ext cx="2899588" cy="2742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98BFF"/>
              </a:buClr>
              <a:buSzPts val="1400"/>
              <a:buFont typeface="DM Mono"/>
              <a:buNone/>
            </a:pPr>
            <a:r>
              <a:rPr b="0" i="0" lang="en-US" sz="1400" u="none" cap="none" strike="noStrike">
                <a:solidFill>
                  <a:srgbClr val="B98BFF"/>
                </a:solidFill>
                <a:latin typeface="DM Mono"/>
                <a:ea typeface="DM Mono"/>
                <a:cs typeface="DM Mono"/>
                <a:sym typeface="DM Mono"/>
              </a:rPr>
              <a:t>02</a:t>
            </a:r>
            <a:endParaRPr b="0" i="0" sz="1400" u="none" cap="none" strike="noStrike">
              <a:solidFill>
                <a:schemeClr val="dk1"/>
              </a:solidFill>
              <a:latin typeface="Calibri"/>
              <a:ea typeface="Calibri"/>
              <a:cs typeface="Calibri"/>
              <a:sym typeface="Calibri"/>
            </a:endParaRPr>
          </a:p>
        </p:txBody>
      </p:sp>
      <p:sp>
        <p:nvSpPr>
          <p:cNvPr id="193" name="Google Shape;193;p13"/>
          <p:cNvSpPr/>
          <p:nvPr/>
        </p:nvSpPr>
        <p:spPr>
          <a:xfrm>
            <a:off x="4688384" y="2607072"/>
            <a:ext cx="2899588" cy="667941"/>
          </a:xfrm>
          <a:prstGeom prst="rect">
            <a:avLst/>
          </a:prstGeom>
          <a:noFill/>
          <a:ln>
            <a:noFill/>
          </a:ln>
        </p:spPr>
        <p:txBody>
          <a:bodyPr anchorCtr="0" anchor="t" bIns="0" lIns="0" spcFirstLastPara="1" rIns="0" wrap="square" tIns="0">
            <a:noAutofit/>
          </a:bodyPr>
          <a:lstStyle/>
          <a:p>
            <a:pPr indent="0" lvl="0" marL="0" marR="0" rtl="0" algn="l">
              <a:lnSpc>
                <a:spcPct val="95833"/>
              </a:lnSpc>
              <a:spcBef>
                <a:spcPts val="0"/>
              </a:spcBef>
              <a:spcAft>
                <a:spcPts val="0"/>
              </a:spcAft>
              <a:buClr>
                <a:srgbClr val="F4F2FA"/>
              </a:buClr>
              <a:buSzPts val="2200"/>
              <a:buFont typeface="Figtree"/>
              <a:buNone/>
            </a:pPr>
            <a:r>
              <a:rPr b="0" i="0" lang="en-US" sz="2200" u="none" cap="none" strike="noStrike">
                <a:solidFill>
                  <a:srgbClr val="F4F2FA"/>
                </a:solidFill>
                <a:latin typeface="Figtree"/>
                <a:ea typeface="Figtree"/>
                <a:cs typeface="Figtree"/>
                <a:sym typeface="Figtree"/>
              </a:rPr>
              <a:t>Built like a production gateway</a:t>
            </a:r>
            <a:endParaRPr b="0" i="0" sz="2200" u="none" cap="none" strike="noStrike">
              <a:solidFill>
                <a:schemeClr val="dk1"/>
              </a:solidFill>
              <a:latin typeface="Calibri"/>
              <a:ea typeface="Calibri"/>
              <a:cs typeface="Calibri"/>
              <a:sym typeface="Calibri"/>
            </a:endParaRPr>
          </a:p>
        </p:txBody>
      </p:sp>
      <p:sp>
        <p:nvSpPr>
          <p:cNvPr id="194" name="Google Shape;194;p13"/>
          <p:cNvSpPr/>
          <p:nvPr/>
        </p:nvSpPr>
        <p:spPr>
          <a:xfrm>
            <a:off x="4688384" y="3376613"/>
            <a:ext cx="2899588" cy="82550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C9C3DB"/>
              </a:buClr>
              <a:buSzPts val="1500"/>
              <a:buFont typeface="DM Sans"/>
              <a:buNone/>
            </a:pPr>
            <a:r>
              <a:rPr b="0" i="0" lang="en-US" sz="1500" u="none" cap="none" strike="noStrike">
                <a:solidFill>
                  <a:srgbClr val="C9C3DB"/>
                </a:solidFill>
                <a:latin typeface="DM Sans"/>
                <a:ea typeface="DM Sans"/>
                <a:cs typeface="DM Sans"/>
                <a:sym typeface="DM Sans"/>
              </a:rPr>
              <a:t>A Rust data plane from the kgateway team. TLS, auth and rate limits come standard.</a:t>
            </a:r>
            <a:endParaRPr b="0" i="0" sz="1500" u="none" cap="none" strike="noStrike">
              <a:solidFill>
                <a:schemeClr val="dk1"/>
              </a:solidFill>
              <a:latin typeface="Calibri"/>
              <a:ea typeface="Calibri"/>
              <a:cs typeface="Calibri"/>
              <a:sym typeface="Calibri"/>
            </a:endParaRPr>
          </a:p>
        </p:txBody>
      </p:sp>
      <p:sp>
        <p:nvSpPr>
          <p:cNvPr id="195" name="Google Shape;195;p13"/>
          <p:cNvSpPr/>
          <p:nvPr/>
        </p:nvSpPr>
        <p:spPr>
          <a:xfrm>
            <a:off x="7998817" y="1951831"/>
            <a:ext cx="3373934" cy="2770981"/>
          </a:xfrm>
          <a:prstGeom prst="roundRect">
            <a:avLst>
              <a:gd fmla="val 4354" name="adj"/>
            </a:avLst>
          </a:prstGeom>
          <a:solidFill>
            <a:srgbClr val="2A1A4A"/>
          </a:solidFill>
          <a:ln cap="flat" cmpd="sng" w="12700">
            <a:solidFill>
              <a:srgbClr val="8A3F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3"/>
          <p:cNvSpPr/>
          <p:nvPr/>
        </p:nvSpPr>
        <p:spPr>
          <a:xfrm>
            <a:off x="8284567" y="2237581"/>
            <a:ext cx="2886507" cy="2742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98BFF"/>
              </a:buClr>
              <a:buSzPts val="1400"/>
              <a:buFont typeface="DM Mono"/>
              <a:buNone/>
            </a:pPr>
            <a:r>
              <a:rPr b="0" i="0" lang="en-US" sz="1400" u="none" cap="none" strike="noStrike">
                <a:solidFill>
                  <a:srgbClr val="B98BFF"/>
                </a:solidFill>
                <a:latin typeface="DM Mono"/>
                <a:ea typeface="DM Mono"/>
                <a:cs typeface="DM Mono"/>
                <a:sym typeface="DM Mono"/>
              </a:rPr>
              <a:t>03</a:t>
            </a:r>
            <a:endParaRPr b="0" i="0" sz="1400" u="none" cap="none" strike="noStrike">
              <a:solidFill>
                <a:schemeClr val="dk1"/>
              </a:solidFill>
              <a:latin typeface="Calibri"/>
              <a:ea typeface="Calibri"/>
              <a:cs typeface="Calibri"/>
              <a:sym typeface="Calibri"/>
            </a:endParaRPr>
          </a:p>
        </p:txBody>
      </p:sp>
      <p:sp>
        <p:nvSpPr>
          <p:cNvPr id="197" name="Google Shape;197;p13"/>
          <p:cNvSpPr/>
          <p:nvPr/>
        </p:nvSpPr>
        <p:spPr>
          <a:xfrm>
            <a:off x="8284567" y="2613422"/>
            <a:ext cx="2886507" cy="667941"/>
          </a:xfrm>
          <a:prstGeom prst="rect">
            <a:avLst/>
          </a:prstGeom>
          <a:noFill/>
          <a:ln>
            <a:noFill/>
          </a:ln>
        </p:spPr>
        <p:txBody>
          <a:bodyPr anchorCtr="0" anchor="t" bIns="0" lIns="0" spcFirstLastPara="1" rIns="0" wrap="square" tIns="0">
            <a:noAutofit/>
          </a:bodyPr>
          <a:lstStyle/>
          <a:p>
            <a:pPr indent="0" lvl="0" marL="0" marR="0" rtl="0" algn="l">
              <a:lnSpc>
                <a:spcPct val="95833"/>
              </a:lnSpc>
              <a:spcBef>
                <a:spcPts val="0"/>
              </a:spcBef>
              <a:spcAft>
                <a:spcPts val="0"/>
              </a:spcAft>
              <a:buClr>
                <a:srgbClr val="F4F2FA"/>
              </a:buClr>
              <a:buSzPts val="2200"/>
              <a:buFont typeface="Figtree"/>
              <a:buNone/>
            </a:pPr>
            <a:r>
              <a:rPr b="0" i="0" lang="en-US" sz="2200" u="none" cap="none" strike="noStrike">
                <a:solidFill>
                  <a:srgbClr val="F4F2FA"/>
                </a:solidFill>
                <a:latin typeface="Figtree"/>
                <a:ea typeface="Figtree"/>
                <a:cs typeface="Figtree"/>
                <a:sym typeface="Figtree"/>
              </a:rPr>
              <a:t>Open and vendor-neutral</a:t>
            </a:r>
            <a:endParaRPr b="0" i="0" sz="2200" u="none" cap="none" strike="noStrike">
              <a:solidFill>
                <a:schemeClr val="dk1"/>
              </a:solidFill>
              <a:latin typeface="Calibri"/>
              <a:ea typeface="Calibri"/>
              <a:cs typeface="Calibri"/>
              <a:sym typeface="Calibri"/>
            </a:endParaRPr>
          </a:p>
        </p:txBody>
      </p:sp>
      <p:sp>
        <p:nvSpPr>
          <p:cNvPr id="198" name="Google Shape;198;p13"/>
          <p:cNvSpPr/>
          <p:nvPr/>
        </p:nvSpPr>
        <p:spPr>
          <a:xfrm>
            <a:off x="8284567" y="3382963"/>
            <a:ext cx="2886507" cy="82550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C9C3DB"/>
              </a:buClr>
              <a:buSzPts val="1500"/>
              <a:buFont typeface="DM Sans"/>
              <a:buNone/>
            </a:pPr>
            <a:r>
              <a:rPr b="0" i="0" lang="en-US" sz="1500" u="none" cap="none" strike="noStrike">
                <a:solidFill>
                  <a:srgbClr val="C9C3DB"/>
                </a:solidFill>
                <a:latin typeface="DM Sans"/>
                <a:ea typeface="DM Sans"/>
                <a:cs typeface="DM Sans"/>
                <a:sym typeface="DM Sans"/>
              </a:rPr>
              <a:t>Open source, and hosted by the Agentic AI Foundation under the Linux Foundation.</a:t>
            </a:r>
            <a:endParaRPr b="0" i="0" sz="1500" u="none" cap="none" strike="noStrike">
              <a:solidFill>
                <a:schemeClr val="dk1"/>
              </a:solidFill>
              <a:latin typeface="Calibri"/>
              <a:ea typeface="Calibri"/>
              <a:cs typeface="Calibri"/>
              <a:sym typeface="Calibri"/>
            </a:endParaRPr>
          </a:p>
        </p:txBody>
      </p:sp>
      <p:pic>
        <p:nvPicPr>
          <p:cNvPr descr="Solo.io" id="199" name="Google Shape;199;p13"/>
          <p:cNvPicPr preferRelativeResize="0"/>
          <p:nvPr/>
        </p:nvPicPr>
        <p:blipFill rotWithShape="1">
          <a:blip r:embed="rId3">
            <a:alphaModFix/>
          </a:blip>
          <a:srcRect b="-179" l="0" r="0" t="-179"/>
          <a:stretch/>
        </p:blipFill>
        <p:spPr>
          <a:xfrm>
            <a:off x="812800" y="6223000"/>
            <a:ext cx="1016000" cy="228600"/>
          </a:xfrm>
          <a:prstGeom prst="rect">
            <a:avLst/>
          </a:prstGeom>
          <a:noFill/>
          <a:ln>
            <a:noFill/>
          </a:ln>
        </p:spPr>
      </p:pic>
      <p:sp>
        <p:nvSpPr>
          <p:cNvPr id="200" name="Google Shape;200;p13"/>
          <p:cNvSpPr/>
          <p:nvPr/>
        </p:nvSpPr>
        <p:spPr>
          <a:xfrm>
            <a:off x="8763000" y="6238280"/>
            <a:ext cx="2616200" cy="238720"/>
          </a:xfrm>
          <a:prstGeom prst="rect">
            <a:avLst/>
          </a:prstGeom>
          <a:noFill/>
          <a:ln>
            <a:noFill/>
          </a:ln>
        </p:spPr>
        <p:txBody>
          <a:bodyPr anchorCtr="0" anchor="t" bIns="0" lIns="0" spcFirstLastPara="1" rIns="0" wrap="square" tIns="0">
            <a:noAutofit/>
          </a:bodyPr>
          <a:lstStyle/>
          <a:p>
            <a:pPr indent="0" lvl="0" marL="0" marR="0" rtl="0" algn="r">
              <a:lnSpc>
                <a:spcPct val="116667"/>
              </a:lnSpc>
              <a:spcBef>
                <a:spcPts val="0"/>
              </a:spcBef>
              <a:spcAft>
                <a:spcPts val="0"/>
              </a:spcAft>
              <a:buClr>
                <a:srgbClr val="B98BFF"/>
              </a:buClr>
              <a:buSzPts val="1200"/>
              <a:buFont typeface="DM Mono"/>
              <a:buNone/>
            </a:pPr>
            <a:r>
              <a:rPr b="0" i="0" lang="en-US" sz="1200" u="none" cap="none" strike="noStrike">
                <a:solidFill>
                  <a:srgbClr val="B98BFF"/>
                </a:solidFill>
                <a:latin typeface="DM Mono"/>
                <a:ea typeface="DM Mono"/>
                <a:cs typeface="DM Mono"/>
                <a:sym typeface="DM Mono"/>
              </a:rPr>
              <a:t>agentgateway.dev</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0F2E"/>
        </a:solidFill>
      </p:bgPr>
    </p:bg>
    <p:spTree>
      <p:nvGrpSpPr>
        <p:cNvPr id="205" name="Shape 205"/>
        <p:cNvGrpSpPr/>
        <p:nvPr/>
      </p:nvGrpSpPr>
      <p:grpSpPr>
        <a:xfrm>
          <a:off x="0" y="0"/>
          <a:ext cx="0" cy="0"/>
          <a:chOff x="0" y="0"/>
          <a:chExt cx="0" cy="0"/>
        </a:xfrm>
      </p:grpSpPr>
      <p:pic>
        <p:nvPicPr>
          <p:cNvPr descr="Agentic AI Foundation projects: Agents.md from OpenAI, MCP from Anthropic, goose from Block, and agentgateway from Solo.io, with platinum members Google, Bloomberg, OpenAI, Anthropic, Microsoft, AWS, Block and Cloudflare" id="206" name="Google Shape;206;p14"/>
          <p:cNvPicPr preferRelativeResize="0"/>
          <p:nvPr/>
        </p:nvPicPr>
        <p:blipFill rotWithShape="1">
          <a:blip r:embed="rId3">
            <a:alphaModFix/>
          </a:blip>
          <a:srcRect b="0" l="609" r="609" t="0"/>
          <a:stretch/>
        </p:blipFill>
        <p:spPr>
          <a:xfrm>
            <a:off x="0" y="0"/>
            <a:ext cx="12192000" cy="6858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0E27"/>
        </a:solidFill>
      </p:bgPr>
    </p:bg>
    <p:spTree>
      <p:nvGrpSpPr>
        <p:cNvPr id="211" name="Shape 211"/>
        <p:cNvGrpSpPr/>
        <p:nvPr/>
      </p:nvGrpSpPr>
      <p:grpSpPr>
        <a:xfrm>
          <a:off x="0" y="0"/>
          <a:ext cx="0" cy="0"/>
          <a:chOff x="0" y="0"/>
          <a:chExt cx="0" cy="0"/>
        </a:xfrm>
      </p:grpSpPr>
      <p:pic>
        <p:nvPicPr>
          <p:cNvPr id="212" name="Google Shape;212;p15"/>
          <p:cNvPicPr preferRelativeResize="0"/>
          <p:nvPr/>
        </p:nvPicPr>
        <p:blipFill rotWithShape="1">
          <a:blip r:embed="rId3">
            <a:alphaModFix/>
          </a:blip>
          <a:srcRect b="0" l="87" r="87" t="0"/>
          <a:stretch/>
        </p:blipFill>
        <p:spPr>
          <a:xfrm>
            <a:off x="0" y="0"/>
            <a:ext cx="12192000" cy="6858000"/>
          </a:xfrm>
          <a:prstGeom prst="rect">
            <a:avLst/>
          </a:prstGeom>
          <a:noFill/>
          <a:ln>
            <a:noFill/>
          </a:ln>
        </p:spPr>
      </p:pic>
      <p:sp>
        <p:nvSpPr>
          <p:cNvPr id="213" name="Google Shape;213;p15"/>
          <p:cNvSpPr/>
          <p:nvPr/>
        </p:nvSpPr>
        <p:spPr>
          <a:xfrm>
            <a:off x="5327819" y="1033859"/>
            <a:ext cx="1536263" cy="274241"/>
          </a:xfrm>
          <a:prstGeom prst="rect">
            <a:avLst/>
          </a:prstGeom>
          <a:noFill/>
          <a:ln>
            <a:noFill/>
          </a:ln>
        </p:spPr>
        <p:txBody>
          <a:bodyPr anchorCtr="0" anchor="t" bIns="0" lIns="0" spcFirstLastPara="1" rIns="0" wrap="square" tIns="0">
            <a:noAutofit/>
          </a:bodyPr>
          <a:lstStyle/>
          <a:p>
            <a:pPr indent="0" lvl="0" marL="0" marR="0" rtl="0" algn="ctr">
              <a:lnSpc>
                <a:spcPct val="116667"/>
              </a:lnSpc>
              <a:spcBef>
                <a:spcPts val="0"/>
              </a:spcBef>
              <a:spcAft>
                <a:spcPts val="0"/>
              </a:spcAft>
              <a:buClr>
                <a:srgbClr val="B98BFF"/>
              </a:buClr>
              <a:buSzPts val="1400"/>
              <a:buFont typeface="DM Mono"/>
              <a:buNone/>
            </a:pPr>
            <a:r>
              <a:rPr b="0" i="0" lang="en-US" sz="1400" u="none" cap="none" strike="noStrike">
                <a:solidFill>
                  <a:srgbClr val="B98BFF"/>
                </a:solidFill>
                <a:latin typeface="DM Mono"/>
                <a:ea typeface="DM Mono"/>
                <a:cs typeface="DM Mono"/>
                <a:sym typeface="DM Mono"/>
              </a:rPr>
              <a:t>FOLLOW ALONG</a:t>
            </a:r>
            <a:endParaRPr b="0" i="0" sz="1400" u="none" cap="none" strike="noStrike">
              <a:solidFill>
                <a:schemeClr val="dk1"/>
              </a:solidFill>
              <a:latin typeface="Calibri"/>
              <a:ea typeface="Calibri"/>
              <a:cs typeface="Calibri"/>
              <a:sym typeface="Calibri"/>
            </a:endParaRPr>
          </a:p>
        </p:txBody>
      </p:sp>
      <p:sp>
        <p:nvSpPr>
          <p:cNvPr id="214" name="Google Shape;214;p15"/>
          <p:cNvSpPr/>
          <p:nvPr/>
        </p:nvSpPr>
        <p:spPr>
          <a:xfrm>
            <a:off x="2028924" y="1409700"/>
            <a:ext cx="9760982" cy="528241"/>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F4F2FA"/>
              </a:buClr>
              <a:buSzPts val="3600"/>
              <a:buFont typeface="Figtree"/>
              <a:buNone/>
            </a:pPr>
            <a:r>
              <a:rPr b="0" i="0" lang="en-US" sz="3600" u="none" cap="none" strike="noStrike">
                <a:solidFill>
                  <a:srgbClr val="F4F2FA"/>
                </a:solidFill>
                <a:latin typeface="Figtree"/>
                <a:ea typeface="Figtree"/>
                <a:cs typeface="Figtree"/>
                <a:sym typeface="Figtree"/>
              </a:rPr>
              <a:t>Run today’s demo on your own machine</a:t>
            </a:r>
            <a:endParaRPr b="0" i="0" sz="3600" u="none" cap="none" strike="noStrike">
              <a:solidFill>
                <a:schemeClr val="dk1"/>
              </a:solidFill>
              <a:latin typeface="Calibri"/>
              <a:ea typeface="Calibri"/>
              <a:cs typeface="Calibri"/>
              <a:sym typeface="Calibri"/>
            </a:endParaRPr>
          </a:p>
        </p:txBody>
      </p:sp>
      <p:sp>
        <p:nvSpPr>
          <p:cNvPr id="215" name="Google Shape;215;p15"/>
          <p:cNvSpPr/>
          <p:nvPr/>
        </p:nvSpPr>
        <p:spPr>
          <a:xfrm>
            <a:off x="1905000" y="2268141"/>
            <a:ext cx="8382000" cy="3251200"/>
          </a:xfrm>
          <a:prstGeom prst="roundRect">
            <a:avLst>
              <a:gd fmla="val 5469" name="adj"/>
            </a:avLst>
          </a:prstGeom>
          <a:solidFill>
            <a:srgbClr val="FBFAFE"/>
          </a:solidFill>
          <a:ln>
            <a:noFill/>
          </a:ln>
          <a:effectLst>
            <a:outerShdw blurRad="508000" rotWithShape="0" algn="bl">
              <a:srgbClr val="8A3FFC">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5"/>
          <p:cNvSpPr/>
          <p:nvPr/>
        </p:nvSpPr>
        <p:spPr>
          <a:xfrm>
            <a:off x="2311400" y="3076476"/>
            <a:ext cx="4761484" cy="5130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1530"/>
              </a:buClr>
              <a:buSzPts val="3200"/>
              <a:buFont typeface="Figtree"/>
              <a:buNone/>
            </a:pPr>
            <a:r>
              <a:rPr b="0" i="0" lang="en-US" sz="3200" u="none" cap="none" strike="noStrike">
                <a:solidFill>
                  <a:srgbClr val="1B1530"/>
                </a:solidFill>
                <a:latin typeface="Figtree"/>
                <a:ea typeface="Figtree"/>
                <a:cs typeface="Figtree"/>
                <a:sym typeface="Figtree"/>
              </a:rPr>
              <a:t>Demo code</a:t>
            </a:r>
            <a:endParaRPr b="0" i="0" sz="3200" u="none" cap="none" strike="noStrike">
              <a:solidFill>
                <a:schemeClr val="dk1"/>
              </a:solidFill>
              <a:latin typeface="Calibri"/>
              <a:ea typeface="Calibri"/>
              <a:cs typeface="Calibri"/>
              <a:sym typeface="Calibri"/>
            </a:endParaRPr>
          </a:p>
        </p:txBody>
      </p:sp>
      <p:sp>
        <p:nvSpPr>
          <p:cNvPr id="217" name="Google Shape;217;p15"/>
          <p:cNvSpPr/>
          <p:nvPr/>
        </p:nvSpPr>
        <p:spPr>
          <a:xfrm>
            <a:off x="2311400" y="3716536"/>
            <a:ext cx="5029200" cy="33397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4A4462"/>
              </a:buClr>
              <a:buSzPts val="1800"/>
              <a:buFont typeface="DM Sans"/>
              <a:buNone/>
            </a:pPr>
            <a:r>
              <a:rPr b="0" i="0" lang="en-US" sz="1800" u="none" cap="none" strike="noStrike">
                <a:solidFill>
                  <a:srgbClr val="4A4462"/>
                </a:solidFill>
                <a:latin typeface="DM Sans"/>
                <a:ea typeface="DM Sans"/>
                <a:cs typeface="DM Sans"/>
                <a:sym typeface="DM Sans"/>
              </a:rPr>
              <a:t>Every step from today’s demo, ready to run</a:t>
            </a:r>
            <a:endParaRPr b="0" i="0" sz="1800" u="none" cap="none" strike="noStrike">
              <a:solidFill>
                <a:schemeClr val="dk1"/>
              </a:solidFill>
              <a:latin typeface="Calibri"/>
              <a:ea typeface="Calibri"/>
              <a:cs typeface="Calibri"/>
              <a:sym typeface="Calibri"/>
            </a:endParaRPr>
          </a:p>
        </p:txBody>
      </p:sp>
      <p:sp>
        <p:nvSpPr>
          <p:cNvPr id="218" name="Google Shape;218;p15"/>
          <p:cNvSpPr/>
          <p:nvPr/>
        </p:nvSpPr>
        <p:spPr>
          <a:xfrm>
            <a:off x="2311400" y="4177506"/>
            <a:ext cx="4761484" cy="55880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1B1530"/>
              </a:buClr>
              <a:buSzPts val="1500"/>
              <a:buFont typeface="DM Mono"/>
              <a:buNone/>
            </a:pPr>
            <a:r>
              <a:rPr b="0" i="0" lang="en-US" sz="1500" u="none" cap="none" strike="noStrike">
                <a:solidFill>
                  <a:srgbClr val="1B1530"/>
                </a:solidFill>
                <a:latin typeface="DM Mono"/>
                <a:ea typeface="DM Mono"/>
                <a:cs typeface="DM Mono"/>
                <a:sym typeface="DM Mono"/>
              </a:rPr>
              <a:t>github.com/day0ops/</a:t>
            </a:r>
            <a:endParaRPr b="0" i="0" sz="1500" u="none" cap="none" strike="noStrike">
              <a:solidFill>
                <a:schemeClr val="dk1"/>
              </a:solidFill>
              <a:latin typeface="Calibri"/>
              <a:ea typeface="Calibri"/>
              <a:cs typeface="Calibri"/>
              <a:sym typeface="Calibri"/>
            </a:endParaRPr>
          </a:p>
          <a:p>
            <a:pPr indent="0" lvl="0" marL="0" marR="0" rtl="0" algn="l">
              <a:lnSpc>
                <a:spcPct val="116667"/>
              </a:lnSpc>
              <a:spcBef>
                <a:spcPts val="0"/>
              </a:spcBef>
              <a:spcAft>
                <a:spcPts val="0"/>
              </a:spcAft>
              <a:buClr>
                <a:srgbClr val="1B1530"/>
              </a:buClr>
              <a:buSzPts val="1500"/>
              <a:buFont typeface="DM Mono"/>
              <a:buNone/>
            </a:pPr>
            <a:r>
              <a:rPr b="0" i="0" lang="en-US" sz="1500" u="none" cap="none" strike="noStrike">
                <a:solidFill>
                  <a:srgbClr val="1B1530"/>
                </a:solidFill>
                <a:latin typeface="DM Mono"/>
                <a:ea typeface="DM Mono"/>
                <a:cs typeface="DM Mono"/>
                <a:sym typeface="DM Mono"/>
              </a:rPr>
              <a:t>agentgateway-rogue-agent-demo</a:t>
            </a:r>
            <a:endParaRPr b="0" i="0" sz="1500" u="none" cap="none" strike="noStrike">
              <a:solidFill>
                <a:schemeClr val="dk1"/>
              </a:solidFill>
              <a:latin typeface="Calibri"/>
              <a:ea typeface="Calibri"/>
              <a:cs typeface="Calibri"/>
              <a:sym typeface="Calibri"/>
            </a:endParaRPr>
          </a:p>
        </p:txBody>
      </p:sp>
      <p:pic>
        <p:nvPicPr>
          <p:cNvPr descr="QR code linking to github.com/day0ops/agentgateway-rogue-agent-demo" id="219" name="Google Shape;219;p15"/>
          <p:cNvPicPr preferRelativeResize="0"/>
          <p:nvPr/>
        </p:nvPicPr>
        <p:blipFill rotWithShape="1">
          <a:blip r:embed="rId4">
            <a:alphaModFix/>
          </a:blip>
          <a:srcRect b="0" l="0" r="0" t="0"/>
          <a:stretch/>
        </p:blipFill>
        <p:spPr>
          <a:xfrm>
            <a:off x="7340600" y="2623741"/>
            <a:ext cx="2540000" cy="2540000"/>
          </a:xfrm>
          <a:prstGeom prst="rect">
            <a:avLst/>
          </a:prstGeom>
          <a:noFill/>
          <a:ln>
            <a:noFill/>
          </a:ln>
        </p:spPr>
      </p:pic>
      <p:pic>
        <p:nvPicPr>
          <p:cNvPr descr="Solo.io" id="220" name="Google Shape;220;p15"/>
          <p:cNvPicPr preferRelativeResize="0"/>
          <p:nvPr/>
        </p:nvPicPr>
        <p:blipFill rotWithShape="1">
          <a:blip r:embed="rId5">
            <a:alphaModFix/>
          </a:blip>
          <a:srcRect b="-179" l="0" r="0" t="-179"/>
          <a:stretch/>
        </p:blipFill>
        <p:spPr>
          <a:xfrm>
            <a:off x="812800" y="6223000"/>
            <a:ext cx="1016000" cy="2286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0E27"/>
        </a:solidFill>
      </p:bgPr>
    </p:bg>
    <p:spTree>
      <p:nvGrpSpPr>
        <p:cNvPr id="225" name="Shape 225"/>
        <p:cNvGrpSpPr/>
        <p:nvPr/>
      </p:nvGrpSpPr>
      <p:grpSpPr>
        <a:xfrm>
          <a:off x="0" y="0"/>
          <a:ext cx="0" cy="0"/>
          <a:chOff x="0" y="0"/>
          <a:chExt cx="0" cy="0"/>
        </a:xfrm>
      </p:grpSpPr>
      <p:pic>
        <p:nvPicPr>
          <p:cNvPr id="226" name="Google Shape;226;p16"/>
          <p:cNvPicPr preferRelativeResize="0"/>
          <p:nvPr/>
        </p:nvPicPr>
        <p:blipFill rotWithShape="1">
          <a:blip r:embed="rId3">
            <a:alphaModFix amt="60000"/>
          </a:blip>
          <a:srcRect b="0" l="87" r="87" t="0"/>
          <a:stretch/>
        </p:blipFill>
        <p:spPr>
          <a:xfrm>
            <a:off x="0" y="0"/>
            <a:ext cx="12192000" cy="6858000"/>
          </a:xfrm>
          <a:prstGeom prst="rect">
            <a:avLst/>
          </a:prstGeom>
          <a:noFill/>
          <a:ln>
            <a:noFill/>
          </a:ln>
        </p:spPr>
      </p:pic>
      <p:sp>
        <p:nvSpPr>
          <p:cNvPr id="227" name="Google Shape;227;p16"/>
          <p:cNvSpPr/>
          <p:nvPr/>
        </p:nvSpPr>
        <p:spPr>
          <a:xfrm>
            <a:off x="812800" y="711200"/>
            <a:ext cx="10883392" cy="2742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98BFF"/>
              </a:buClr>
              <a:buSzPts val="1400"/>
              <a:buFont typeface="DM Mono"/>
              <a:buNone/>
            </a:pPr>
            <a:r>
              <a:rPr b="0" i="0" lang="en-US" sz="1400" u="none" cap="none" strike="noStrike">
                <a:solidFill>
                  <a:srgbClr val="B98BFF"/>
                </a:solidFill>
                <a:latin typeface="DM Mono"/>
                <a:ea typeface="DM Mono"/>
                <a:cs typeface="DM Mono"/>
                <a:sym typeface="DM Mono"/>
              </a:rPr>
              <a:t>LIVE DEMO</a:t>
            </a:r>
            <a:endParaRPr b="0" i="0" sz="1400" u="none" cap="none" strike="noStrike">
              <a:solidFill>
                <a:schemeClr val="dk1"/>
              </a:solidFill>
              <a:latin typeface="Calibri"/>
              <a:ea typeface="Calibri"/>
              <a:cs typeface="Calibri"/>
              <a:sym typeface="Calibri"/>
            </a:endParaRPr>
          </a:p>
        </p:txBody>
      </p:sp>
      <p:sp>
        <p:nvSpPr>
          <p:cNvPr id="228" name="Google Shape;228;p16"/>
          <p:cNvSpPr/>
          <p:nvPr/>
        </p:nvSpPr>
        <p:spPr>
          <a:xfrm>
            <a:off x="812800" y="1087041"/>
            <a:ext cx="10883392" cy="528241"/>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F4F2FA"/>
              </a:buClr>
              <a:buSzPts val="3600"/>
              <a:buFont typeface="Figtree"/>
              <a:buNone/>
            </a:pPr>
            <a:r>
              <a:rPr b="0" i="0" lang="en-US" sz="3600" u="none" cap="none" strike="noStrike">
                <a:solidFill>
                  <a:srgbClr val="F4F2FA"/>
                </a:solidFill>
                <a:latin typeface="Figtree"/>
                <a:ea typeface="Figtree"/>
                <a:cs typeface="Figtree"/>
                <a:sym typeface="Figtree"/>
              </a:rPr>
              <a:t>The agents, reined in</a:t>
            </a:r>
            <a:endParaRPr b="0" i="0" sz="3600" u="none" cap="none" strike="noStrike">
              <a:solidFill>
                <a:schemeClr val="dk1"/>
              </a:solidFill>
              <a:latin typeface="Calibri"/>
              <a:ea typeface="Calibri"/>
              <a:cs typeface="Calibri"/>
              <a:sym typeface="Calibri"/>
            </a:endParaRPr>
          </a:p>
        </p:txBody>
      </p:sp>
      <p:sp>
        <p:nvSpPr>
          <p:cNvPr id="229" name="Google Shape;229;p16"/>
          <p:cNvSpPr/>
          <p:nvPr/>
        </p:nvSpPr>
        <p:spPr>
          <a:xfrm>
            <a:off x="815975" y="1948656"/>
            <a:ext cx="1984970" cy="2129433"/>
          </a:xfrm>
          <a:prstGeom prst="roundRect">
            <a:avLst>
              <a:gd fmla="val 6238" name="adj"/>
            </a:avLst>
          </a:prstGeom>
          <a:solidFill>
            <a:srgbClr val="211A38"/>
          </a:solidFill>
          <a:ln cap="flat" cmpd="sng" w="9525">
            <a:solidFill>
              <a:srgbClr val="362D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6"/>
          <p:cNvSpPr/>
          <p:nvPr/>
        </p:nvSpPr>
        <p:spPr>
          <a:xfrm>
            <a:off x="1022350" y="2180431"/>
            <a:ext cx="1623020" cy="2742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98BFF"/>
              </a:buClr>
              <a:buSzPts val="1400"/>
              <a:buFont typeface="DM Mono"/>
              <a:buNone/>
            </a:pPr>
            <a:r>
              <a:rPr b="0" i="0" lang="en-US" sz="1400" u="none" cap="none" strike="noStrike">
                <a:solidFill>
                  <a:srgbClr val="B98BFF"/>
                </a:solidFill>
                <a:latin typeface="DM Mono"/>
                <a:ea typeface="DM Mono"/>
                <a:cs typeface="DM Mono"/>
                <a:sym typeface="DM Mono"/>
              </a:rPr>
              <a:t>1</a:t>
            </a:r>
            <a:endParaRPr b="0" i="0" sz="1400" u="none" cap="none" strike="noStrike">
              <a:solidFill>
                <a:schemeClr val="dk1"/>
              </a:solidFill>
              <a:latin typeface="Calibri"/>
              <a:ea typeface="Calibri"/>
              <a:cs typeface="Calibri"/>
              <a:sym typeface="Calibri"/>
            </a:endParaRPr>
          </a:p>
        </p:txBody>
      </p:sp>
      <p:sp>
        <p:nvSpPr>
          <p:cNvPr id="231" name="Google Shape;231;p16"/>
          <p:cNvSpPr/>
          <p:nvPr/>
        </p:nvSpPr>
        <p:spPr>
          <a:xfrm>
            <a:off x="1022350" y="2530872"/>
            <a:ext cx="1623020" cy="314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4F2FA"/>
              </a:buClr>
              <a:buSzPts val="1900"/>
              <a:buFont typeface="Figtree"/>
              <a:buNone/>
            </a:pPr>
            <a:r>
              <a:rPr b="0" i="0" lang="en-US" sz="1900" u="none" cap="none" strike="noStrike">
                <a:solidFill>
                  <a:srgbClr val="F4F2FA"/>
                </a:solidFill>
                <a:latin typeface="Figtree"/>
                <a:ea typeface="Figtree"/>
                <a:cs typeface="Figtree"/>
                <a:sym typeface="Figtree"/>
              </a:rPr>
              <a:t>Run it direct</a:t>
            </a:r>
            <a:endParaRPr b="0" i="0" sz="1900" u="none" cap="none" strike="noStrike">
              <a:solidFill>
                <a:schemeClr val="dk1"/>
              </a:solidFill>
              <a:latin typeface="Calibri"/>
              <a:ea typeface="Calibri"/>
              <a:cs typeface="Calibri"/>
              <a:sym typeface="Calibri"/>
            </a:endParaRPr>
          </a:p>
        </p:txBody>
      </p:sp>
      <p:sp>
        <p:nvSpPr>
          <p:cNvPr id="232" name="Google Shape;232;p16"/>
          <p:cNvSpPr/>
          <p:nvPr/>
        </p:nvSpPr>
        <p:spPr>
          <a:xfrm>
            <a:off x="1022350" y="2921992"/>
            <a:ext cx="1623020" cy="7186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C9C3DB"/>
              </a:buClr>
              <a:buSzPts val="1300"/>
              <a:buFont typeface="DM Sans"/>
              <a:buNone/>
            </a:pPr>
            <a:r>
              <a:rPr b="0" i="0" lang="en-US" sz="1300" u="none" cap="none" strike="noStrike">
                <a:solidFill>
                  <a:srgbClr val="C9C3DB"/>
                </a:solidFill>
                <a:latin typeface="DM Sans"/>
                <a:ea typeface="DM Sans"/>
                <a:cs typeface="DM Sans"/>
                <a:sym typeface="DM Sans"/>
              </a:rPr>
              <a:t>The retry loop runs away until the provider cuts it off</a:t>
            </a:r>
            <a:endParaRPr b="0" i="0" sz="1300" u="none" cap="none" strike="noStrike">
              <a:solidFill>
                <a:schemeClr val="dk1"/>
              </a:solidFill>
              <a:latin typeface="Calibri"/>
              <a:ea typeface="Calibri"/>
              <a:cs typeface="Calibri"/>
              <a:sym typeface="Calibri"/>
            </a:endParaRPr>
          </a:p>
        </p:txBody>
      </p:sp>
      <p:sp>
        <p:nvSpPr>
          <p:cNvPr id="233" name="Google Shape;233;p16"/>
          <p:cNvSpPr/>
          <p:nvPr/>
        </p:nvSpPr>
        <p:spPr>
          <a:xfrm>
            <a:off x="2959695" y="1948656"/>
            <a:ext cx="1984970" cy="2129433"/>
          </a:xfrm>
          <a:prstGeom prst="roundRect">
            <a:avLst>
              <a:gd fmla="val 6238" name="adj"/>
            </a:avLst>
          </a:prstGeom>
          <a:solidFill>
            <a:srgbClr val="211A38"/>
          </a:solidFill>
          <a:ln cap="flat" cmpd="sng" w="9525">
            <a:solidFill>
              <a:srgbClr val="362D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6"/>
          <p:cNvSpPr/>
          <p:nvPr/>
        </p:nvSpPr>
        <p:spPr>
          <a:xfrm>
            <a:off x="3166070" y="2180431"/>
            <a:ext cx="1623020" cy="2742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98BFF"/>
              </a:buClr>
              <a:buSzPts val="1400"/>
              <a:buFont typeface="DM Mono"/>
              <a:buNone/>
            </a:pPr>
            <a:r>
              <a:rPr b="0" i="0" lang="en-US" sz="1400" u="none" cap="none" strike="noStrike">
                <a:solidFill>
                  <a:srgbClr val="B98BFF"/>
                </a:solidFill>
                <a:latin typeface="DM Mono"/>
                <a:ea typeface="DM Mono"/>
                <a:cs typeface="DM Mono"/>
                <a:sym typeface="DM Mono"/>
              </a:rPr>
              <a:t>2</a:t>
            </a:r>
            <a:endParaRPr b="0" i="0" sz="1400" u="none" cap="none" strike="noStrike">
              <a:solidFill>
                <a:schemeClr val="dk1"/>
              </a:solidFill>
              <a:latin typeface="Calibri"/>
              <a:ea typeface="Calibri"/>
              <a:cs typeface="Calibri"/>
              <a:sym typeface="Calibri"/>
            </a:endParaRPr>
          </a:p>
        </p:txBody>
      </p:sp>
      <p:sp>
        <p:nvSpPr>
          <p:cNvPr id="235" name="Google Shape;235;p16"/>
          <p:cNvSpPr/>
          <p:nvPr/>
        </p:nvSpPr>
        <p:spPr>
          <a:xfrm>
            <a:off x="3166070" y="2530872"/>
            <a:ext cx="1623020" cy="314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4F2FA"/>
              </a:buClr>
              <a:buSzPts val="1900"/>
              <a:buFont typeface="Figtree"/>
              <a:buNone/>
            </a:pPr>
            <a:r>
              <a:rPr b="0" i="0" lang="en-US" sz="1900" u="none" cap="none" strike="noStrike">
                <a:solidFill>
                  <a:srgbClr val="F4F2FA"/>
                </a:solidFill>
                <a:latin typeface="Figtree"/>
                <a:ea typeface="Figtree"/>
                <a:cs typeface="Figtree"/>
                <a:sym typeface="Figtree"/>
              </a:rPr>
              <a:t>Route it</a:t>
            </a:r>
            <a:endParaRPr b="0" i="0" sz="1900" u="none" cap="none" strike="noStrike">
              <a:solidFill>
                <a:schemeClr val="dk1"/>
              </a:solidFill>
              <a:latin typeface="Calibri"/>
              <a:ea typeface="Calibri"/>
              <a:cs typeface="Calibri"/>
              <a:sym typeface="Calibri"/>
            </a:endParaRPr>
          </a:p>
        </p:txBody>
      </p:sp>
      <p:sp>
        <p:nvSpPr>
          <p:cNvPr id="236" name="Google Shape;236;p16"/>
          <p:cNvSpPr/>
          <p:nvPr/>
        </p:nvSpPr>
        <p:spPr>
          <a:xfrm>
            <a:off x="3166070" y="2921992"/>
            <a:ext cx="1623020" cy="949722"/>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C9C3DB"/>
              </a:buClr>
              <a:buSzPts val="1300"/>
              <a:buFont typeface="DM Sans"/>
              <a:buNone/>
            </a:pPr>
            <a:r>
              <a:rPr b="0" i="0" lang="en-US" sz="1300" u="none" cap="none" strike="noStrike">
                <a:solidFill>
                  <a:srgbClr val="C9C3DB"/>
                </a:solidFill>
                <a:latin typeface="DM Sans"/>
                <a:ea typeface="DM Sans"/>
                <a:cs typeface="DM Sans"/>
                <a:sym typeface="DM Sans"/>
              </a:rPr>
              <a:t>Same code, now through agentgateway with its own key</a:t>
            </a:r>
            <a:endParaRPr b="0" i="0" sz="1300" u="none" cap="none" strike="noStrike">
              <a:solidFill>
                <a:schemeClr val="dk1"/>
              </a:solidFill>
              <a:latin typeface="Calibri"/>
              <a:ea typeface="Calibri"/>
              <a:cs typeface="Calibri"/>
              <a:sym typeface="Calibri"/>
            </a:endParaRPr>
          </a:p>
        </p:txBody>
      </p:sp>
      <p:sp>
        <p:nvSpPr>
          <p:cNvPr id="237" name="Google Shape;237;p16"/>
          <p:cNvSpPr/>
          <p:nvPr/>
        </p:nvSpPr>
        <p:spPr>
          <a:xfrm>
            <a:off x="5103416" y="1948656"/>
            <a:ext cx="1985070" cy="2129433"/>
          </a:xfrm>
          <a:prstGeom prst="roundRect">
            <a:avLst>
              <a:gd fmla="val 6238" name="adj"/>
            </a:avLst>
          </a:prstGeom>
          <a:solidFill>
            <a:srgbClr val="211A38"/>
          </a:solidFill>
          <a:ln cap="flat" cmpd="sng" w="9525">
            <a:solidFill>
              <a:srgbClr val="362D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6"/>
          <p:cNvSpPr/>
          <p:nvPr/>
        </p:nvSpPr>
        <p:spPr>
          <a:xfrm>
            <a:off x="5309791" y="2180431"/>
            <a:ext cx="1623120" cy="2742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98BFF"/>
              </a:buClr>
              <a:buSzPts val="1400"/>
              <a:buFont typeface="DM Mono"/>
              <a:buNone/>
            </a:pPr>
            <a:r>
              <a:rPr b="0" i="0" lang="en-US" sz="1400" u="none" cap="none" strike="noStrike">
                <a:solidFill>
                  <a:srgbClr val="B98BFF"/>
                </a:solidFill>
                <a:latin typeface="DM Mono"/>
                <a:ea typeface="DM Mono"/>
                <a:cs typeface="DM Mono"/>
                <a:sym typeface="DM Mono"/>
              </a:rPr>
              <a:t>3</a:t>
            </a:r>
            <a:endParaRPr b="0" i="0" sz="1400" u="none" cap="none" strike="noStrike">
              <a:solidFill>
                <a:schemeClr val="dk1"/>
              </a:solidFill>
              <a:latin typeface="Calibri"/>
              <a:ea typeface="Calibri"/>
              <a:cs typeface="Calibri"/>
              <a:sym typeface="Calibri"/>
            </a:endParaRPr>
          </a:p>
        </p:txBody>
      </p:sp>
      <p:sp>
        <p:nvSpPr>
          <p:cNvPr id="239" name="Google Shape;239;p16"/>
          <p:cNvSpPr/>
          <p:nvPr/>
        </p:nvSpPr>
        <p:spPr>
          <a:xfrm>
            <a:off x="5309791" y="2530872"/>
            <a:ext cx="1623120" cy="314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4F2FA"/>
              </a:buClr>
              <a:buSzPts val="1900"/>
              <a:buFont typeface="Figtree"/>
              <a:buNone/>
            </a:pPr>
            <a:r>
              <a:rPr b="0" i="0" lang="en-US" sz="1900" u="none" cap="none" strike="noStrike">
                <a:solidFill>
                  <a:srgbClr val="F4F2FA"/>
                </a:solidFill>
                <a:latin typeface="Figtree"/>
                <a:ea typeface="Figtree"/>
                <a:cs typeface="Figtree"/>
                <a:sym typeface="Figtree"/>
              </a:rPr>
              <a:t>Set a budget</a:t>
            </a:r>
            <a:endParaRPr b="0" i="0" sz="1900" u="none" cap="none" strike="noStrike">
              <a:solidFill>
                <a:schemeClr val="dk1"/>
              </a:solidFill>
              <a:latin typeface="Calibri"/>
              <a:ea typeface="Calibri"/>
              <a:cs typeface="Calibri"/>
              <a:sym typeface="Calibri"/>
            </a:endParaRPr>
          </a:p>
        </p:txBody>
      </p:sp>
      <p:sp>
        <p:nvSpPr>
          <p:cNvPr id="240" name="Google Shape;240;p16"/>
          <p:cNvSpPr/>
          <p:nvPr/>
        </p:nvSpPr>
        <p:spPr>
          <a:xfrm>
            <a:off x="5309791" y="2921992"/>
            <a:ext cx="1623120" cy="48756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C9C3DB"/>
              </a:buClr>
              <a:buSzPts val="1300"/>
              <a:buFont typeface="DM Sans"/>
              <a:buNone/>
            </a:pPr>
            <a:r>
              <a:rPr b="0" i="0" lang="en-US" sz="1300" u="none" cap="none" strike="noStrike">
                <a:solidFill>
                  <a:srgbClr val="C9C3DB"/>
                </a:solidFill>
                <a:latin typeface="DM Sans"/>
                <a:ea typeface="DM Sans"/>
                <a:cs typeface="DM Sans"/>
                <a:sym typeface="DM Sans"/>
              </a:rPr>
              <a:t>Attached to the key, live, with no restart</a:t>
            </a:r>
            <a:endParaRPr b="0" i="0" sz="1300" u="none" cap="none" strike="noStrike">
              <a:solidFill>
                <a:schemeClr val="dk1"/>
              </a:solidFill>
              <a:latin typeface="Calibri"/>
              <a:ea typeface="Calibri"/>
              <a:cs typeface="Calibri"/>
              <a:sym typeface="Calibri"/>
            </a:endParaRPr>
          </a:p>
        </p:txBody>
      </p:sp>
      <p:sp>
        <p:nvSpPr>
          <p:cNvPr id="241" name="Google Shape;241;p16"/>
          <p:cNvSpPr/>
          <p:nvPr/>
        </p:nvSpPr>
        <p:spPr>
          <a:xfrm>
            <a:off x="7250410" y="1951831"/>
            <a:ext cx="1978620" cy="2123083"/>
          </a:xfrm>
          <a:prstGeom prst="roundRect">
            <a:avLst>
              <a:gd fmla="val 6098" name="adj"/>
            </a:avLst>
          </a:prstGeom>
          <a:solidFill>
            <a:srgbClr val="2A1A4A"/>
          </a:solidFill>
          <a:ln cap="flat" cmpd="sng" w="12700">
            <a:solidFill>
              <a:srgbClr val="8A3F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6"/>
          <p:cNvSpPr/>
          <p:nvPr/>
        </p:nvSpPr>
        <p:spPr>
          <a:xfrm>
            <a:off x="7459960" y="2186781"/>
            <a:ext cx="1610320" cy="2742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98BFF"/>
              </a:buClr>
              <a:buSzPts val="1400"/>
              <a:buFont typeface="DM Mono"/>
              <a:buNone/>
            </a:pPr>
            <a:r>
              <a:rPr b="0" i="0" lang="en-US" sz="1400" u="none" cap="none" strike="noStrike">
                <a:solidFill>
                  <a:srgbClr val="B98BFF"/>
                </a:solidFill>
                <a:latin typeface="DM Mono"/>
                <a:ea typeface="DM Mono"/>
                <a:cs typeface="DM Mono"/>
                <a:sym typeface="DM Mono"/>
              </a:rPr>
              <a:t>4</a:t>
            </a:r>
            <a:endParaRPr b="0" i="0" sz="1400" u="none" cap="none" strike="noStrike">
              <a:solidFill>
                <a:schemeClr val="dk1"/>
              </a:solidFill>
              <a:latin typeface="Calibri"/>
              <a:ea typeface="Calibri"/>
              <a:cs typeface="Calibri"/>
              <a:sym typeface="Calibri"/>
            </a:endParaRPr>
          </a:p>
        </p:txBody>
      </p:sp>
      <p:sp>
        <p:nvSpPr>
          <p:cNvPr id="243" name="Google Shape;243;p16"/>
          <p:cNvSpPr/>
          <p:nvPr/>
        </p:nvSpPr>
        <p:spPr>
          <a:xfrm>
            <a:off x="7459960" y="2537222"/>
            <a:ext cx="1610320" cy="314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4F2FA"/>
              </a:buClr>
              <a:buSzPts val="1900"/>
              <a:buFont typeface="Figtree"/>
              <a:buNone/>
            </a:pPr>
            <a:r>
              <a:rPr b="0" i="0" lang="en-US" sz="1900" u="none" cap="none" strike="noStrike">
                <a:solidFill>
                  <a:srgbClr val="F4F2FA"/>
                </a:solidFill>
                <a:latin typeface="Figtree"/>
                <a:ea typeface="Figtree"/>
                <a:cs typeface="Figtree"/>
                <a:sym typeface="Figtree"/>
              </a:rPr>
              <a:t>Get a 429</a:t>
            </a:r>
            <a:endParaRPr b="0" i="0" sz="1900" u="none" cap="none" strike="noStrike">
              <a:solidFill>
                <a:schemeClr val="dk1"/>
              </a:solidFill>
              <a:latin typeface="Calibri"/>
              <a:ea typeface="Calibri"/>
              <a:cs typeface="Calibri"/>
              <a:sym typeface="Calibri"/>
            </a:endParaRPr>
          </a:p>
        </p:txBody>
      </p:sp>
      <p:sp>
        <p:nvSpPr>
          <p:cNvPr id="244" name="Google Shape;244;p16"/>
          <p:cNvSpPr/>
          <p:nvPr/>
        </p:nvSpPr>
        <p:spPr>
          <a:xfrm>
            <a:off x="7459960" y="2928342"/>
            <a:ext cx="1610320" cy="7186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C9C3DB"/>
              </a:buClr>
              <a:buSzPts val="1300"/>
              <a:buFont typeface="DM Sans"/>
              <a:buNone/>
            </a:pPr>
            <a:r>
              <a:rPr b="0" i="0" lang="en-US" sz="1300" u="none" cap="none" strike="noStrike">
                <a:solidFill>
                  <a:srgbClr val="C9C3DB"/>
                </a:solidFill>
                <a:latin typeface="DM Sans"/>
                <a:ea typeface="DM Sans"/>
                <a:cs typeface="DM Sans"/>
                <a:sym typeface="DM Sans"/>
              </a:rPr>
              <a:t>Blocked at the budget. Only this agent, nobody else</a:t>
            </a:r>
            <a:endParaRPr b="0" i="0" sz="1300" u="none" cap="none" strike="noStrike">
              <a:solidFill>
                <a:schemeClr val="dk1"/>
              </a:solidFill>
              <a:latin typeface="Calibri"/>
              <a:ea typeface="Calibri"/>
              <a:cs typeface="Calibri"/>
              <a:sym typeface="Calibri"/>
            </a:endParaRPr>
          </a:p>
        </p:txBody>
      </p:sp>
      <p:sp>
        <p:nvSpPr>
          <p:cNvPr id="245" name="Google Shape;245;p16"/>
          <p:cNvSpPr/>
          <p:nvPr/>
        </p:nvSpPr>
        <p:spPr>
          <a:xfrm>
            <a:off x="9390955" y="1948656"/>
            <a:ext cx="1985070" cy="2129433"/>
          </a:xfrm>
          <a:prstGeom prst="roundRect">
            <a:avLst>
              <a:gd fmla="val 6238" name="adj"/>
            </a:avLst>
          </a:prstGeom>
          <a:solidFill>
            <a:srgbClr val="211A38"/>
          </a:solidFill>
          <a:ln cap="flat" cmpd="sng" w="9525">
            <a:solidFill>
              <a:srgbClr val="362D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6"/>
          <p:cNvSpPr/>
          <p:nvPr/>
        </p:nvSpPr>
        <p:spPr>
          <a:xfrm>
            <a:off x="9597330" y="2180431"/>
            <a:ext cx="1623120" cy="2742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98BFF"/>
              </a:buClr>
              <a:buSzPts val="1400"/>
              <a:buFont typeface="DM Mono"/>
              <a:buNone/>
            </a:pPr>
            <a:r>
              <a:rPr b="0" i="0" lang="en-US" sz="1400" u="none" cap="none" strike="noStrike">
                <a:solidFill>
                  <a:srgbClr val="B98BFF"/>
                </a:solidFill>
                <a:latin typeface="DM Mono"/>
                <a:ea typeface="DM Mono"/>
                <a:cs typeface="DM Mono"/>
                <a:sym typeface="DM Mono"/>
              </a:rPr>
              <a:t>5</a:t>
            </a:r>
            <a:endParaRPr b="0" i="0" sz="1400" u="none" cap="none" strike="noStrike">
              <a:solidFill>
                <a:schemeClr val="dk1"/>
              </a:solidFill>
              <a:latin typeface="Calibri"/>
              <a:ea typeface="Calibri"/>
              <a:cs typeface="Calibri"/>
              <a:sym typeface="Calibri"/>
            </a:endParaRPr>
          </a:p>
        </p:txBody>
      </p:sp>
      <p:sp>
        <p:nvSpPr>
          <p:cNvPr id="247" name="Google Shape;247;p16"/>
          <p:cNvSpPr/>
          <p:nvPr/>
        </p:nvSpPr>
        <p:spPr>
          <a:xfrm>
            <a:off x="9597330" y="2530872"/>
            <a:ext cx="1623120" cy="314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4F2FA"/>
              </a:buClr>
              <a:buSzPts val="1900"/>
              <a:buFont typeface="Figtree"/>
              <a:buNone/>
            </a:pPr>
            <a:r>
              <a:rPr b="0" i="0" lang="en-US" sz="1900" u="none" cap="none" strike="noStrike">
                <a:solidFill>
                  <a:srgbClr val="F4F2FA"/>
                </a:solidFill>
                <a:latin typeface="Figtree"/>
                <a:ea typeface="Figtree"/>
                <a:cs typeface="Figtree"/>
                <a:sym typeface="Figtree"/>
              </a:rPr>
              <a:t>See it</a:t>
            </a:r>
            <a:endParaRPr b="0" i="0" sz="1900" u="none" cap="none" strike="noStrike">
              <a:solidFill>
                <a:schemeClr val="dk1"/>
              </a:solidFill>
              <a:latin typeface="Calibri"/>
              <a:ea typeface="Calibri"/>
              <a:cs typeface="Calibri"/>
              <a:sym typeface="Calibri"/>
            </a:endParaRPr>
          </a:p>
        </p:txBody>
      </p:sp>
      <p:sp>
        <p:nvSpPr>
          <p:cNvPr id="248" name="Google Shape;248;p16"/>
          <p:cNvSpPr/>
          <p:nvPr/>
        </p:nvSpPr>
        <p:spPr>
          <a:xfrm>
            <a:off x="9597330" y="2921992"/>
            <a:ext cx="1623120" cy="7186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C9C3DB"/>
              </a:buClr>
              <a:buSzPts val="1300"/>
              <a:buFont typeface="DM Sans"/>
              <a:buNone/>
            </a:pPr>
            <a:r>
              <a:rPr b="0" i="0" lang="en-US" sz="1300" u="none" cap="none" strike="noStrike">
                <a:solidFill>
                  <a:srgbClr val="C9C3DB"/>
                </a:solidFill>
                <a:latin typeface="DM Sans"/>
                <a:ea typeface="DM Sans"/>
                <a:cs typeface="DM Sans"/>
                <a:sym typeface="DM Sans"/>
              </a:rPr>
              <a:t>Who, which model, how many tokens, what it cost</a:t>
            </a:r>
            <a:endParaRPr b="0" i="0" sz="1300" u="none" cap="none" strike="noStrike">
              <a:solidFill>
                <a:schemeClr val="dk1"/>
              </a:solidFill>
              <a:latin typeface="Calibri"/>
              <a:ea typeface="Calibri"/>
              <a:cs typeface="Calibri"/>
              <a:sym typeface="Calibri"/>
            </a:endParaRPr>
          </a:p>
        </p:txBody>
      </p:sp>
      <p:sp>
        <p:nvSpPr>
          <p:cNvPr id="249" name="Google Shape;249;p16"/>
          <p:cNvSpPr/>
          <p:nvPr/>
        </p:nvSpPr>
        <p:spPr>
          <a:xfrm>
            <a:off x="812800" y="4436864"/>
            <a:ext cx="10883392" cy="25648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8E86A8"/>
              </a:buClr>
              <a:buSzPts val="1300"/>
              <a:buFont typeface="DM Mono"/>
              <a:buNone/>
            </a:pPr>
            <a:r>
              <a:rPr b="0" i="0" lang="en-US" sz="1300" u="none" cap="none" strike="noStrike">
                <a:solidFill>
                  <a:srgbClr val="8E86A8"/>
                </a:solidFill>
                <a:latin typeface="DM Mono"/>
                <a:ea typeface="DM Mono"/>
                <a:cs typeface="DM Mono"/>
                <a:sym typeface="DM Mono"/>
              </a:rPr>
              <a:t>Demo code · github.com/day0ops/agentgateway-rogue-agent-demo</a:t>
            </a:r>
            <a:endParaRPr b="0" i="0" sz="1300" u="none" cap="none" strike="noStrike">
              <a:solidFill>
                <a:schemeClr val="dk1"/>
              </a:solidFill>
              <a:latin typeface="Calibri"/>
              <a:ea typeface="Calibri"/>
              <a:cs typeface="Calibri"/>
              <a:sym typeface="Calibri"/>
            </a:endParaRPr>
          </a:p>
        </p:txBody>
      </p:sp>
      <p:pic>
        <p:nvPicPr>
          <p:cNvPr descr="Solo.io" id="250" name="Google Shape;250;p16"/>
          <p:cNvPicPr preferRelativeResize="0"/>
          <p:nvPr/>
        </p:nvPicPr>
        <p:blipFill rotWithShape="1">
          <a:blip r:embed="rId4">
            <a:alphaModFix/>
          </a:blip>
          <a:srcRect b="-179" l="0" r="0" t="-179"/>
          <a:stretch/>
        </p:blipFill>
        <p:spPr>
          <a:xfrm>
            <a:off x="812800" y="6223000"/>
            <a:ext cx="1016000" cy="228600"/>
          </a:xfrm>
          <a:prstGeom prst="rect">
            <a:avLst/>
          </a:prstGeom>
          <a:noFill/>
          <a:ln>
            <a:noFill/>
          </a:ln>
        </p:spPr>
      </p:pic>
      <p:sp>
        <p:nvSpPr>
          <p:cNvPr id="251" name="Google Shape;251;p16"/>
          <p:cNvSpPr/>
          <p:nvPr/>
        </p:nvSpPr>
        <p:spPr>
          <a:xfrm>
            <a:off x="8763000" y="6238280"/>
            <a:ext cx="2616200" cy="238720"/>
          </a:xfrm>
          <a:prstGeom prst="rect">
            <a:avLst/>
          </a:prstGeom>
          <a:noFill/>
          <a:ln>
            <a:noFill/>
          </a:ln>
        </p:spPr>
        <p:txBody>
          <a:bodyPr anchorCtr="0" anchor="t" bIns="0" lIns="0" spcFirstLastPara="1" rIns="0" wrap="square" tIns="0">
            <a:noAutofit/>
          </a:bodyPr>
          <a:lstStyle/>
          <a:p>
            <a:pPr indent="0" lvl="0" marL="0" marR="0" rtl="0" algn="r">
              <a:lnSpc>
                <a:spcPct val="116667"/>
              </a:lnSpc>
              <a:spcBef>
                <a:spcPts val="0"/>
              </a:spcBef>
              <a:spcAft>
                <a:spcPts val="0"/>
              </a:spcAft>
              <a:buClr>
                <a:srgbClr val="B98BFF"/>
              </a:buClr>
              <a:buSzPts val="1200"/>
              <a:buFont typeface="DM Mono"/>
              <a:buNone/>
            </a:pPr>
            <a:r>
              <a:rPr b="0" i="0" lang="en-US" sz="1200" u="none" cap="none" strike="noStrike">
                <a:solidFill>
                  <a:srgbClr val="B98BFF"/>
                </a:solidFill>
                <a:latin typeface="DM Mono"/>
                <a:ea typeface="DM Mono"/>
                <a:cs typeface="DM Mono"/>
                <a:sym typeface="DM Mono"/>
              </a:rPr>
              <a:t>agentgateway.dev</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0E27"/>
        </a:solidFill>
      </p:bgPr>
    </p:bg>
    <p:spTree>
      <p:nvGrpSpPr>
        <p:cNvPr id="256" name="Shape 256"/>
        <p:cNvGrpSpPr/>
        <p:nvPr/>
      </p:nvGrpSpPr>
      <p:grpSpPr>
        <a:xfrm>
          <a:off x="0" y="0"/>
          <a:ext cx="0" cy="0"/>
          <a:chOff x="0" y="0"/>
          <a:chExt cx="0" cy="0"/>
        </a:xfrm>
      </p:grpSpPr>
      <p:sp>
        <p:nvSpPr>
          <p:cNvPr id="257" name="Google Shape;257;p17"/>
          <p:cNvSpPr/>
          <p:nvPr/>
        </p:nvSpPr>
        <p:spPr>
          <a:xfrm>
            <a:off x="812800" y="711200"/>
            <a:ext cx="10883392" cy="2742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98BFF"/>
              </a:buClr>
              <a:buSzPts val="1400"/>
              <a:buFont typeface="DM Mono"/>
              <a:buNone/>
            </a:pPr>
            <a:r>
              <a:rPr b="0" i="0" lang="en-US" sz="1400" u="none" cap="none" strike="noStrike">
                <a:solidFill>
                  <a:srgbClr val="B98BFF"/>
                </a:solidFill>
                <a:latin typeface="DM Mono"/>
                <a:ea typeface="DM Mono"/>
                <a:cs typeface="DM Mono"/>
                <a:sym typeface="DM Mono"/>
              </a:rPr>
              <a:t>WHY I CAME AROUND</a:t>
            </a:r>
            <a:endParaRPr b="0" i="0" sz="1400" u="none" cap="none" strike="noStrike">
              <a:solidFill>
                <a:schemeClr val="dk1"/>
              </a:solidFill>
              <a:latin typeface="Calibri"/>
              <a:ea typeface="Calibri"/>
              <a:cs typeface="Calibri"/>
              <a:sym typeface="Calibri"/>
            </a:endParaRPr>
          </a:p>
        </p:txBody>
      </p:sp>
      <p:sp>
        <p:nvSpPr>
          <p:cNvPr id="258" name="Google Shape;258;p17"/>
          <p:cNvSpPr/>
          <p:nvPr/>
        </p:nvSpPr>
        <p:spPr>
          <a:xfrm>
            <a:off x="812800" y="1087041"/>
            <a:ext cx="10883392" cy="528241"/>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F4F2FA"/>
              </a:buClr>
              <a:buSzPts val="3600"/>
              <a:buFont typeface="Figtree"/>
              <a:buNone/>
            </a:pPr>
            <a:r>
              <a:rPr b="0" i="0" lang="en-US" sz="3600" u="none" cap="none" strike="noStrike">
                <a:solidFill>
                  <a:srgbClr val="F4F2FA"/>
                </a:solidFill>
                <a:latin typeface="Figtree"/>
                <a:ea typeface="Figtree"/>
                <a:cs typeface="Figtree"/>
                <a:sym typeface="Figtree"/>
              </a:rPr>
              <a:t>I still get my agents. Just with a ceiling.</a:t>
            </a:r>
            <a:endParaRPr b="0" i="0" sz="3600" u="none" cap="none" strike="noStrike">
              <a:solidFill>
                <a:schemeClr val="dk1"/>
              </a:solidFill>
              <a:latin typeface="Calibri"/>
              <a:ea typeface="Calibri"/>
              <a:cs typeface="Calibri"/>
              <a:sym typeface="Calibri"/>
            </a:endParaRPr>
          </a:p>
        </p:txBody>
      </p:sp>
      <p:cxnSp>
        <p:nvCxnSpPr>
          <p:cNvPr id="259" name="Google Shape;259;p17"/>
          <p:cNvCxnSpPr/>
          <p:nvPr/>
        </p:nvCxnSpPr>
        <p:spPr>
          <a:xfrm>
            <a:off x="812800" y="2230537"/>
            <a:ext cx="10566400" cy="0"/>
          </a:xfrm>
          <a:prstGeom prst="straightConnector1">
            <a:avLst/>
          </a:prstGeom>
          <a:noFill/>
          <a:ln cap="flat" cmpd="sng" w="9525">
            <a:solidFill>
              <a:srgbClr val="362D52"/>
            </a:solidFill>
            <a:prstDash val="solid"/>
            <a:round/>
            <a:headEnd len="sm" w="sm" type="none"/>
            <a:tailEnd len="sm" w="sm" type="none"/>
          </a:ln>
        </p:spPr>
      </p:cxnSp>
      <p:sp>
        <p:nvSpPr>
          <p:cNvPr id="260" name="Google Shape;260;p17"/>
          <p:cNvSpPr/>
          <p:nvPr/>
        </p:nvSpPr>
        <p:spPr>
          <a:xfrm>
            <a:off x="812800" y="1894681"/>
            <a:ext cx="5284724" cy="25648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8E86A8"/>
              </a:buClr>
              <a:buSzPts val="1300"/>
              <a:buFont typeface="DM Mono"/>
              <a:buNone/>
            </a:pPr>
            <a:r>
              <a:rPr b="0" i="0" lang="en-US" sz="1300" u="none" cap="none" strike="noStrike">
                <a:solidFill>
                  <a:srgbClr val="8E86A8"/>
                </a:solidFill>
                <a:latin typeface="DM Mono"/>
                <a:ea typeface="DM Mono"/>
                <a:cs typeface="DM Mono"/>
                <a:sym typeface="DM Mono"/>
              </a:rPr>
              <a:t>BEFORE</a:t>
            </a:r>
            <a:endParaRPr b="0" i="0" sz="1300" u="none" cap="none" strike="noStrike">
              <a:solidFill>
                <a:schemeClr val="dk1"/>
              </a:solidFill>
              <a:latin typeface="Calibri"/>
              <a:ea typeface="Calibri"/>
              <a:cs typeface="Calibri"/>
              <a:sym typeface="Calibri"/>
            </a:endParaRPr>
          </a:p>
        </p:txBody>
      </p:sp>
      <p:sp>
        <p:nvSpPr>
          <p:cNvPr id="261" name="Google Shape;261;p17"/>
          <p:cNvSpPr/>
          <p:nvPr/>
        </p:nvSpPr>
        <p:spPr>
          <a:xfrm>
            <a:off x="6248400" y="1894681"/>
            <a:ext cx="5284724" cy="25648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98BFF"/>
              </a:buClr>
              <a:buSzPts val="1300"/>
              <a:buFont typeface="DM Mono"/>
              <a:buNone/>
            </a:pPr>
            <a:r>
              <a:rPr b="0" i="0" lang="en-US" sz="1300" u="none" cap="none" strike="noStrike">
                <a:solidFill>
                  <a:srgbClr val="B98BFF"/>
                </a:solidFill>
                <a:latin typeface="DM Mono"/>
                <a:ea typeface="DM Mono"/>
                <a:cs typeface="DM Mono"/>
                <a:sym typeface="DM Mono"/>
              </a:rPr>
              <a:t>WITH AGENTGATEWAY</a:t>
            </a:r>
            <a:endParaRPr b="0" i="0" sz="1300" u="none" cap="none" strike="noStrike">
              <a:solidFill>
                <a:schemeClr val="dk1"/>
              </a:solidFill>
              <a:latin typeface="Calibri"/>
              <a:ea typeface="Calibri"/>
              <a:cs typeface="Calibri"/>
              <a:sym typeface="Calibri"/>
            </a:endParaRPr>
          </a:p>
        </p:txBody>
      </p:sp>
      <p:cxnSp>
        <p:nvCxnSpPr>
          <p:cNvPr id="262" name="Google Shape;262;p17"/>
          <p:cNvCxnSpPr/>
          <p:nvPr/>
        </p:nvCxnSpPr>
        <p:spPr>
          <a:xfrm>
            <a:off x="812800" y="2843907"/>
            <a:ext cx="10566400" cy="0"/>
          </a:xfrm>
          <a:prstGeom prst="straightConnector1">
            <a:avLst/>
          </a:prstGeom>
          <a:noFill/>
          <a:ln cap="flat" cmpd="sng" w="9525">
            <a:solidFill>
              <a:srgbClr val="362D52"/>
            </a:solidFill>
            <a:prstDash val="solid"/>
            <a:round/>
            <a:headEnd len="sm" w="sm" type="none"/>
            <a:tailEnd len="sm" w="sm" type="none"/>
          </a:ln>
        </p:spPr>
      </p:cxnSp>
      <p:sp>
        <p:nvSpPr>
          <p:cNvPr id="263" name="Google Shape;263;p17"/>
          <p:cNvSpPr/>
          <p:nvPr/>
        </p:nvSpPr>
        <p:spPr>
          <a:xfrm>
            <a:off x="812800" y="2386112"/>
            <a:ext cx="5284724" cy="32762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8E86A8"/>
              </a:buClr>
              <a:buSzPts val="1700"/>
              <a:buFont typeface="DM Sans"/>
              <a:buNone/>
            </a:pPr>
            <a:r>
              <a:rPr b="0" i="0" lang="en-US" sz="1700" u="none" cap="none" strike="noStrike">
                <a:solidFill>
                  <a:srgbClr val="8E86A8"/>
                </a:solidFill>
                <a:latin typeface="DM Sans"/>
                <a:ea typeface="DM Sans"/>
                <a:cs typeface="DM Sans"/>
                <a:sym typeface="DM Sans"/>
              </a:rPr>
              <a:t>One rogue agent, everyone gets cut off</a:t>
            </a:r>
            <a:endParaRPr b="0" i="0" sz="1700" u="none" cap="none" strike="noStrike">
              <a:solidFill>
                <a:schemeClr val="dk1"/>
              </a:solidFill>
              <a:latin typeface="Calibri"/>
              <a:ea typeface="Calibri"/>
              <a:cs typeface="Calibri"/>
              <a:sym typeface="Calibri"/>
            </a:endParaRPr>
          </a:p>
        </p:txBody>
      </p:sp>
      <p:sp>
        <p:nvSpPr>
          <p:cNvPr id="264" name="Google Shape;264;p17"/>
          <p:cNvSpPr/>
          <p:nvPr/>
        </p:nvSpPr>
        <p:spPr>
          <a:xfrm>
            <a:off x="6248400" y="2386112"/>
            <a:ext cx="5284724" cy="32762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F4F2FA"/>
              </a:buClr>
              <a:buSzPts val="1700"/>
              <a:buFont typeface="DM Sans"/>
              <a:buNone/>
            </a:pPr>
            <a:r>
              <a:rPr b="0" i="0" lang="en-US" sz="1700" u="none" cap="none" strike="noStrike">
                <a:solidFill>
                  <a:srgbClr val="F4F2FA"/>
                </a:solidFill>
                <a:latin typeface="DM Sans"/>
                <a:ea typeface="DM Sans"/>
                <a:cs typeface="DM Sans"/>
                <a:sym typeface="DM Sans"/>
              </a:rPr>
              <a:t>Just me, and only when I’m the problem</a:t>
            </a:r>
            <a:endParaRPr b="0" i="0" sz="1700" u="none" cap="none" strike="noStrike">
              <a:solidFill>
                <a:schemeClr val="dk1"/>
              </a:solidFill>
              <a:latin typeface="Calibri"/>
              <a:ea typeface="Calibri"/>
              <a:cs typeface="Calibri"/>
              <a:sym typeface="Calibri"/>
            </a:endParaRPr>
          </a:p>
        </p:txBody>
      </p:sp>
      <p:cxnSp>
        <p:nvCxnSpPr>
          <p:cNvPr id="265" name="Google Shape;265;p17"/>
          <p:cNvCxnSpPr/>
          <p:nvPr/>
        </p:nvCxnSpPr>
        <p:spPr>
          <a:xfrm>
            <a:off x="812800" y="3457277"/>
            <a:ext cx="10566400" cy="0"/>
          </a:xfrm>
          <a:prstGeom prst="straightConnector1">
            <a:avLst/>
          </a:prstGeom>
          <a:noFill/>
          <a:ln cap="flat" cmpd="sng" w="9525">
            <a:solidFill>
              <a:srgbClr val="362D52"/>
            </a:solidFill>
            <a:prstDash val="solid"/>
            <a:round/>
            <a:headEnd len="sm" w="sm" type="none"/>
            <a:tailEnd len="sm" w="sm" type="none"/>
          </a:ln>
        </p:spPr>
      </p:cxnSp>
      <p:sp>
        <p:nvSpPr>
          <p:cNvPr id="266" name="Google Shape;266;p17"/>
          <p:cNvSpPr/>
          <p:nvPr/>
        </p:nvSpPr>
        <p:spPr>
          <a:xfrm>
            <a:off x="812800" y="2999482"/>
            <a:ext cx="5284724" cy="32762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8E86A8"/>
              </a:buClr>
              <a:buSzPts val="1700"/>
              <a:buFont typeface="DM Sans"/>
              <a:buNone/>
            </a:pPr>
            <a:r>
              <a:rPr b="0" i="0" lang="en-US" sz="1700" u="none" cap="none" strike="noStrike">
                <a:solidFill>
                  <a:srgbClr val="8E86A8"/>
                </a:solidFill>
                <a:latin typeface="DM Sans"/>
                <a:ea typeface="DM Sans"/>
                <a:cs typeface="DM Sans"/>
                <a:sym typeface="DM Sans"/>
              </a:rPr>
              <a:t>A provider key in every tool</a:t>
            </a:r>
            <a:endParaRPr b="0" i="0" sz="1700" u="none" cap="none" strike="noStrike">
              <a:solidFill>
                <a:schemeClr val="dk1"/>
              </a:solidFill>
              <a:latin typeface="Calibri"/>
              <a:ea typeface="Calibri"/>
              <a:cs typeface="Calibri"/>
              <a:sym typeface="Calibri"/>
            </a:endParaRPr>
          </a:p>
        </p:txBody>
      </p:sp>
      <p:sp>
        <p:nvSpPr>
          <p:cNvPr id="267" name="Google Shape;267;p17"/>
          <p:cNvSpPr/>
          <p:nvPr/>
        </p:nvSpPr>
        <p:spPr>
          <a:xfrm>
            <a:off x="6248400" y="2999482"/>
            <a:ext cx="5284724" cy="32762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F4F2FA"/>
              </a:buClr>
              <a:buSzPts val="1700"/>
              <a:buFont typeface="DM Sans"/>
              <a:buNone/>
            </a:pPr>
            <a:r>
              <a:rPr b="0" i="0" lang="en-US" sz="1700" u="none" cap="none" strike="noStrike">
                <a:solidFill>
                  <a:srgbClr val="F4F2FA"/>
                </a:solidFill>
                <a:latin typeface="DM Sans"/>
                <a:ea typeface="DM Sans"/>
                <a:cs typeface="DM Sans"/>
                <a:sym typeface="DM Sans"/>
              </a:rPr>
              <a:t>One endpoint, one key, every provider</a:t>
            </a:r>
            <a:endParaRPr b="0" i="0" sz="1700" u="none" cap="none" strike="noStrike">
              <a:solidFill>
                <a:schemeClr val="dk1"/>
              </a:solidFill>
              <a:latin typeface="Calibri"/>
              <a:ea typeface="Calibri"/>
              <a:cs typeface="Calibri"/>
              <a:sym typeface="Calibri"/>
            </a:endParaRPr>
          </a:p>
        </p:txBody>
      </p:sp>
      <p:cxnSp>
        <p:nvCxnSpPr>
          <p:cNvPr id="268" name="Google Shape;268;p17"/>
          <p:cNvCxnSpPr/>
          <p:nvPr/>
        </p:nvCxnSpPr>
        <p:spPr>
          <a:xfrm>
            <a:off x="812800" y="4070648"/>
            <a:ext cx="10566400" cy="0"/>
          </a:xfrm>
          <a:prstGeom prst="straightConnector1">
            <a:avLst/>
          </a:prstGeom>
          <a:noFill/>
          <a:ln cap="flat" cmpd="sng" w="9525">
            <a:solidFill>
              <a:srgbClr val="362D52"/>
            </a:solidFill>
            <a:prstDash val="solid"/>
            <a:round/>
            <a:headEnd len="sm" w="sm" type="none"/>
            <a:tailEnd len="sm" w="sm" type="none"/>
          </a:ln>
        </p:spPr>
      </p:cxnSp>
      <p:sp>
        <p:nvSpPr>
          <p:cNvPr id="269" name="Google Shape;269;p17"/>
          <p:cNvSpPr/>
          <p:nvPr/>
        </p:nvSpPr>
        <p:spPr>
          <a:xfrm>
            <a:off x="812800" y="3612852"/>
            <a:ext cx="5284724" cy="32762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8E86A8"/>
              </a:buClr>
              <a:buSzPts val="1700"/>
              <a:buFont typeface="DM Sans"/>
              <a:buNone/>
            </a:pPr>
            <a:r>
              <a:rPr b="0" i="0" lang="en-US" sz="1700" u="none" cap="none" strike="noStrike">
                <a:solidFill>
                  <a:srgbClr val="8E86A8"/>
                </a:solidFill>
                <a:latin typeface="DM Sans"/>
                <a:ea typeface="DM Sans"/>
                <a:cs typeface="DM Sans"/>
                <a:sym typeface="DM Sans"/>
              </a:rPr>
              <a:t>Rob finds out from the invoice, a month late</a:t>
            </a:r>
            <a:endParaRPr b="0" i="0" sz="1700" u="none" cap="none" strike="noStrike">
              <a:solidFill>
                <a:schemeClr val="dk1"/>
              </a:solidFill>
              <a:latin typeface="Calibri"/>
              <a:ea typeface="Calibri"/>
              <a:cs typeface="Calibri"/>
              <a:sym typeface="Calibri"/>
            </a:endParaRPr>
          </a:p>
        </p:txBody>
      </p:sp>
      <p:sp>
        <p:nvSpPr>
          <p:cNvPr id="270" name="Google Shape;270;p17"/>
          <p:cNvSpPr/>
          <p:nvPr/>
        </p:nvSpPr>
        <p:spPr>
          <a:xfrm>
            <a:off x="6248400" y="3612852"/>
            <a:ext cx="5284724" cy="32762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F4F2FA"/>
              </a:buClr>
              <a:buSzPts val="1700"/>
              <a:buFont typeface="DM Sans"/>
              <a:buNone/>
            </a:pPr>
            <a:r>
              <a:rPr b="0" i="0" lang="en-US" sz="1700" u="none" cap="none" strike="noStrike">
                <a:solidFill>
                  <a:srgbClr val="F4F2FA"/>
                </a:solidFill>
                <a:latin typeface="DM Sans"/>
                <a:ea typeface="DM Sans"/>
                <a:cs typeface="DM Sans"/>
                <a:sym typeface="DM Sans"/>
              </a:rPr>
              <a:t>The dashboard tells him the same day</a:t>
            </a:r>
            <a:endParaRPr b="0" i="0" sz="1700" u="none" cap="none" strike="noStrike">
              <a:solidFill>
                <a:schemeClr val="dk1"/>
              </a:solidFill>
              <a:latin typeface="Calibri"/>
              <a:ea typeface="Calibri"/>
              <a:cs typeface="Calibri"/>
              <a:sym typeface="Calibri"/>
            </a:endParaRPr>
          </a:p>
        </p:txBody>
      </p:sp>
      <p:pic>
        <p:nvPicPr>
          <p:cNvPr descr="Solo.io" id="271" name="Google Shape;271;p17"/>
          <p:cNvPicPr preferRelativeResize="0"/>
          <p:nvPr/>
        </p:nvPicPr>
        <p:blipFill rotWithShape="1">
          <a:blip r:embed="rId3">
            <a:alphaModFix/>
          </a:blip>
          <a:srcRect b="-179" l="0" r="0" t="-179"/>
          <a:stretch/>
        </p:blipFill>
        <p:spPr>
          <a:xfrm>
            <a:off x="812800" y="6223000"/>
            <a:ext cx="1016000" cy="228600"/>
          </a:xfrm>
          <a:prstGeom prst="rect">
            <a:avLst/>
          </a:prstGeom>
          <a:noFill/>
          <a:ln>
            <a:noFill/>
          </a:ln>
        </p:spPr>
      </p:pic>
      <p:sp>
        <p:nvSpPr>
          <p:cNvPr id="272" name="Google Shape;272;p17"/>
          <p:cNvSpPr/>
          <p:nvPr/>
        </p:nvSpPr>
        <p:spPr>
          <a:xfrm>
            <a:off x="8763000" y="6238280"/>
            <a:ext cx="2616200" cy="238720"/>
          </a:xfrm>
          <a:prstGeom prst="rect">
            <a:avLst/>
          </a:prstGeom>
          <a:noFill/>
          <a:ln>
            <a:noFill/>
          </a:ln>
        </p:spPr>
        <p:txBody>
          <a:bodyPr anchorCtr="0" anchor="t" bIns="0" lIns="0" spcFirstLastPara="1" rIns="0" wrap="square" tIns="0">
            <a:noAutofit/>
          </a:bodyPr>
          <a:lstStyle/>
          <a:p>
            <a:pPr indent="0" lvl="0" marL="0" marR="0" rtl="0" algn="r">
              <a:lnSpc>
                <a:spcPct val="116667"/>
              </a:lnSpc>
              <a:spcBef>
                <a:spcPts val="0"/>
              </a:spcBef>
              <a:spcAft>
                <a:spcPts val="0"/>
              </a:spcAft>
              <a:buClr>
                <a:srgbClr val="B98BFF"/>
              </a:buClr>
              <a:buSzPts val="1200"/>
              <a:buFont typeface="DM Mono"/>
              <a:buNone/>
            </a:pPr>
            <a:r>
              <a:rPr b="0" i="0" lang="en-US" sz="1200" u="none" cap="none" strike="noStrike">
                <a:solidFill>
                  <a:srgbClr val="B98BFF"/>
                </a:solidFill>
                <a:latin typeface="DM Mono"/>
                <a:ea typeface="DM Mono"/>
                <a:cs typeface="DM Mono"/>
                <a:sym typeface="DM Mono"/>
              </a:rPr>
              <a:t>agentgateway.dev</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0E27"/>
        </a:solidFill>
      </p:bgPr>
    </p:bg>
    <p:spTree>
      <p:nvGrpSpPr>
        <p:cNvPr id="277" name="Shape 277"/>
        <p:cNvGrpSpPr/>
        <p:nvPr/>
      </p:nvGrpSpPr>
      <p:grpSpPr>
        <a:xfrm>
          <a:off x="0" y="0"/>
          <a:ext cx="0" cy="0"/>
          <a:chOff x="0" y="0"/>
          <a:chExt cx="0" cy="0"/>
        </a:xfrm>
      </p:grpSpPr>
      <p:sp>
        <p:nvSpPr>
          <p:cNvPr id="278" name="Google Shape;278;p18"/>
          <p:cNvSpPr/>
          <p:nvPr/>
        </p:nvSpPr>
        <p:spPr>
          <a:xfrm>
            <a:off x="812800" y="711200"/>
            <a:ext cx="10883392" cy="2742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98BFF"/>
              </a:buClr>
              <a:buSzPts val="1400"/>
              <a:buFont typeface="DM Mono"/>
              <a:buNone/>
            </a:pPr>
            <a:r>
              <a:rPr b="0" i="0" lang="en-US" sz="1400" u="none" cap="none" strike="noStrike">
                <a:solidFill>
                  <a:srgbClr val="B98BFF"/>
                </a:solidFill>
                <a:latin typeface="DM Mono"/>
                <a:ea typeface="DM Mono"/>
                <a:cs typeface="DM Mono"/>
                <a:sym typeface="DM Mono"/>
              </a:rPr>
              <a:t>ROB’S SIDE</a:t>
            </a:r>
            <a:endParaRPr b="0" i="0" sz="1400" u="none" cap="none" strike="noStrike">
              <a:solidFill>
                <a:schemeClr val="dk1"/>
              </a:solidFill>
              <a:latin typeface="Calibri"/>
              <a:ea typeface="Calibri"/>
              <a:cs typeface="Calibri"/>
              <a:sym typeface="Calibri"/>
            </a:endParaRPr>
          </a:p>
        </p:txBody>
      </p:sp>
      <p:sp>
        <p:nvSpPr>
          <p:cNvPr id="279" name="Google Shape;279;p18"/>
          <p:cNvSpPr/>
          <p:nvPr/>
        </p:nvSpPr>
        <p:spPr>
          <a:xfrm>
            <a:off x="812800" y="1087041"/>
            <a:ext cx="10883392" cy="528241"/>
          </a:xfrm>
          <a:prstGeom prst="rect">
            <a:avLst/>
          </a:prstGeom>
          <a:noFill/>
          <a:ln>
            <a:noFill/>
          </a:ln>
        </p:spPr>
        <p:txBody>
          <a:bodyPr anchorCtr="0" anchor="t" bIns="0" lIns="0" spcFirstLastPara="1" rIns="0" wrap="square" tIns="0">
            <a:noAutofit/>
          </a:bodyPr>
          <a:lstStyle/>
          <a:p>
            <a:pPr indent="0" lvl="0" marL="0" marR="0" rtl="0" algn="l">
              <a:lnSpc>
                <a:spcPct val="91667"/>
              </a:lnSpc>
              <a:spcBef>
                <a:spcPts val="0"/>
              </a:spcBef>
              <a:spcAft>
                <a:spcPts val="0"/>
              </a:spcAft>
              <a:buClr>
                <a:srgbClr val="F4F2FA"/>
              </a:buClr>
              <a:buSzPts val="3600"/>
              <a:buFont typeface="Figtree"/>
              <a:buNone/>
            </a:pPr>
            <a:r>
              <a:rPr b="0" i="0" lang="en-US" sz="3600" u="none" cap="none" strike="noStrike">
                <a:solidFill>
                  <a:srgbClr val="F4F2FA"/>
                </a:solidFill>
                <a:latin typeface="Figtree"/>
                <a:ea typeface="Figtree"/>
                <a:cs typeface="Figtree"/>
                <a:sym typeface="Figtree"/>
              </a:rPr>
              <a:t>What else Rob gets</a:t>
            </a:r>
            <a:endParaRPr b="0" i="0" sz="3600" u="none" cap="none" strike="noStrike">
              <a:solidFill>
                <a:schemeClr val="dk1"/>
              </a:solidFill>
              <a:latin typeface="Calibri"/>
              <a:ea typeface="Calibri"/>
              <a:cs typeface="Calibri"/>
              <a:sym typeface="Calibri"/>
            </a:endParaRPr>
          </a:p>
        </p:txBody>
      </p:sp>
      <p:sp>
        <p:nvSpPr>
          <p:cNvPr id="280" name="Google Shape;280;p18"/>
          <p:cNvSpPr/>
          <p:nvPr/>
        </p:nvSpPr>
        <p:spPr>
          <a:xfrm>
            <a:off x="815975" y="1897856"/>
            <a:ext cx="5187950" cy="1329531"/>
          </a:xfrm>
          <a:prstGeom prst="roundRect">
            <a:avLst>
              <a:gd fmla="val 9313" name="adj"/>
            </a:avLst>
          </a:prstGeom>
          <a:solidFill>
            <a:srgbClr val="211A38"/>
          </a:solidFill>
          <a:ln cap="flat" cmpd="sng" w="9525">
            <a:solidFill>
              <a:srgbClr val="362D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art" id="281" name="Google Shape;281;p18"/>
          <p:cNvPicPr preferRelativeResize="0"/>
          <p:nvPr/>
        </p:nvPicPr>
        <p:blipFill rotWithShape="1">
          <a:blip r:embed="rId3">
            <a:alphaModFix/>
          </a:blip>
          <a:srcRect b="0" l="0" r="0" t="0"/>
          <a:stretch/>
        </p:blipFill>
        <p:spPr>
          <a:xfrm>
            <a:off x="1073150" y="2129631"/>
            <a:ext cx="330200" cy="330200"/>
          </a:xfrm>
          <a:prstGeom prst="rect">
            <a:avLst/>
          </a:prstGeom>
          <a:noFill/>
          <a:ln>
            <a:noFill/>
          </a:ln>
        </p:spPr>
      </p:pic>
      <p:sp>
        <p:nvSpPr>
          <p:cNvPr id="282" name="Google Shape;282;p18"/>
          <p:cNvSpPr/>
          <p:nvPr/>
        </p:nvSpPr>
        <p:spPr>
          <a:xfrm>
            <a:off x="1581150" y="2129631"/>
            <a:ext cx="2954875" cy="33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4F2FA"/>
              </a:buClr>
              <a:buSzPts val="2000"/>
              <a:buFont typeface="Figtree"/>
              <a:buNone/>
            </a:pPr>
            <a:r>
              <a:rPr b="0" i="0" lang="en-US" sz="2000" u="none" cap="none" strike="noStrike">
                <a:solidFill>
                  <a:srgbClr val="F4F2FA"/>
                </a:solidFill>
                <a:latin typeface="Figtree"/>
                <a:ea typeface="Figtree"/>
                <a:cs typeface="Figtree"/>
                <a:sym typeface="Figtree"/>
              </a:rPr>
              <a:t>Analytics</a:t>
            </a:r>
            <a:endParaRPr b="0" i="0" sz="2000" u="none" cap="none" strike="noStrike">
              <a:solidFill>
                <a:schemeClr val="dk1"/>
              </a:solidFill>
              <a:latin typeface="Calibri"/>
              <a:ea typeface="Calibri"/>
              <a:cs typeface="Calibri"/>
              <a:sym typeface="Calibri"/>
            </a:endParaRPr>
          </a:p>
        </p:txBody>
      </p:sp>
      <p:sp>
        <p:nvSpPr>
          <p:cNvPr id="283" name="Google Shape;283;p18"/>
          <p:cNvSpPr/>
          <p:nvPr/>
        </p:nvSpPr>
        <p:spPr>
          <a:xfrm>
            <a:off x="1581150" y="2497931"/>
            <a:ext cx="3442573" cy="2742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C9C3DB"/>
              </a:buClr>
              <a:buSzPts val="1400"/>
              <a:buFont typeface="DM Sans"/>
              <a:buNone/>
            </a:pPr>
            <a:r>
              <a:rPr b="0" i="0" lang="en-US" sz="1400" u="none" cap="none" strike="noStrike">
                <a:solidFill>
                  <a:srgbClr val="C9C3DB"/>
                </a:solidFill>
                <a:latin typeface="DM Sans"/>
                <a:ea typeface="DM Sans"/>
                <a:cs typeface="DM Sans"/>
                <a:sym typeface="DM Sans"/>
              </a:rPr>
              <a:t>Spend by user, model and provider</a:t>
            </a:r>
            <a:endParaRPr b="0" i="0" sz="1400" u="none" cap="none" strike="noStrike">
              <a:solidFill>
                <a:schemeClr val="dk1"/>
              </a:solidFill>
              <a:latin typeface="Calibri"/>
              <a:ea typeface="Calibri"/>
              <a:cs typeface="Calibri"/>
              <a:sym typeface="Calibri"/>
            </a:endParaRPr>
          </a:p>
        </p:txBody>
      </p:sp>
      <p:sp>
        <p:nvSpPr>
          <p:cNvPr id="284" name="Google Shape;284;p18"/>
          <p:cNvSpPr/>
          <p:nvPr/>
        </p:nvSpPr>
        <p:spPr>
          <a:xfrm>
            <a:off x="6188075" y="1897856"/>
            <a:ext cx="5187950" cy="1329531"/>
          </a:xfrm>
          <a:prstGeom prst="roundRect">
            <a:avLst>
              <a:gd fmla="val 9313" name="adj"/>
            </a:avLst>
          </a:prstGeom>
          <a:solidFill>
            <a:srgbClr val="211A38"/>
          </a:solidFill>
          <a:ln cap="flat" cmpd="sng" w="9525">
            <a:solidFill>
              <a:srgbClr val="362D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ck" id="285" name="Google Shape;285;p18"/>
          <p:cNvPicPr preferRelativeResize="0"/>
          <p:nvPr/>
        </p:nvPicPr>
        <p:blipFill rotWithShape="1">
          <a:blip r:embed="rId4">
            <a:alphaModFix/>
          </a:blip>
          <a:srcRect b="-227" l="0" r="0" t="-227"/>
          <a:stretch/>
        </p:blipFill>
        <p:spPr>
          <a:xfrm>
            <a:off x="6445250" y="2129631"/>
            <a:ext cx="284460" cy="330200"/>
          </a:xfrm>
          <a:prstGeom prst="rect">
            <a:avLst/>
          </a:prstGeom>
          <a:noFill/>
          <a:ln>
            <a:noFill/>
          </a:ln>
        </p:spPr>
      </p:pic>
      <p:sp>
        <p:nvSpPr>
          <p:cNvPr id="286" name="Google Shape;286;p18"/>
          <p:cNvSpPr/>
          <p:nvPr/>
        </p:nvSpPr>
        <p:spPr>
          <a:xfrm>
            <a:off x="6907510" y="2129631"/>
            <a:ext cx="4337680" cy="33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4F2FA"/>
              </a:buClr>
              <a:buSzPts val="2000"/>
              <a:buFont typeface="Figtree"/>
              <a:buNone/>
            </a:pPr>
            <a:r>
              <a:rPr b="0" i="0" lang="en-US" sz="2000" u="none" cap="none" strike="noStrike">
                <a:solidFill>
                  <a:srgbClr val="F4F2FA"/>
                </a:solidFill>
                <a:latin typeface="Figtree"/>
                <a:ea typeface="Figtree"/>
                <a:cs typeface="Figtree"/>
                <a:sym typeface="Figtree"/>
              </a:rPr>
              <a:t>Model allow-lists</a:t>
            </a:r>
            <a:endParaRPr b="0" i="0" sz="2000" u="none" cap="none" strike="noStrike">
              <a:solidFill>
                <a:schemeClr val="dk1"/>
              </a:solidFill>
              <a:latin typeface="Calibri"/>
              <a:ea typeface="Calibri"/>
              <a:cs typeface="Calibri"/>
              <a:sym typeface="Calibri"/>
            </a:endParaRPr>
          </a:p>
        </p:txBody>
      </p:sp>
      <p:sp>
        <p:nvSpPr>
          <p:cNvPr id="287" name="Google Shape;287;p18"/>
          <p:cNvSpPr/>
          <p:nvPr/>
        </p:nvSpPr>
        <p:spPr>
          <a:xfrm>
            <a:off x="6907510" y="2497931"/>
            <a:ext cx="4337680" cy="52308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C9C3DB"/>
              </a:buClr>
              <a:buSzPts val="1400"/>
              <a:buFont typeface="DM Sans"/>
              <a:buNone/>
            </a:pPr>
            <a:r>
              <a:rPr b="0" i="0" lang="en-US" sz="1400" u="none" cap="none" strike="noStrike">
                <a:solidFill>
                  <a:srgbClr val="C9C3DB"/>
                </a:solidFill>
                <a:latin typeface="DM Sans"/>
                <a:ea typeface="DM Sans"/>
                <a:cs typeface="DM Sans"/>
                <a:sym typeface="DM Sans"/>
              </a:rPr>
              <a:t>Wrong model: </a:t>
            </a:r>
            <a:r>
              <a:rPr b="0" i="0" lang="en-US" sz="1400" u="none" cap="none" strike="noStrike">
                <a:solidFill>
                  <a:srgbClr val="FF5C7A"/>
                </a:solidFill>
                <a:latin typeface="DM Sans"/>
                <a:ea typeface="DM Sans"/>
                <a:cs typeface="DM Sans"/>
                <a:sym typeface="DM Sans"/>
              </a:rPr>
              <a:t>403 model_not_allowed</a:t>
            </a:r>
            <a:r>
              <a:rPr b="0" i="0" lang="en-US" sz="1400" u="none" cap="none" strike="noStrike">
                <a:solidFill>
                  <a:srgbClr val="C9C3DB"/>
                </a:solidFill>
                <a:latin typeface="DM Sans"/>
                <a:ea typeface="DM Sans"/>
                <a:cs typeface="DM Sans"/>
                <a:sym typeface="DM Sans"/>
              </a:rPr>
              <a:t>, before the provider</a:t>
            </a:r>
            <a:endParaRPr b="0" i="0" sz="1400" u="none" cap="none" strike="noStrike">
              <a:solidFill>
                <a:schemeClr val="dk1"/>
              </a:solidFill>
              <a:latin typeface="Calibri"/>
              <a:ea typeface="Calibri"/>
              <a:cs typeface="Calibri"/>
              <a:sym typeface="Calibri"/>
            </a:endParaRPr>
          </a:p>
        </p:txBody>
      </p:sp>
      <p:sp>
        <p:nvSpPr>
          <p:cNvPr id="288" name="Google Shape;288;p18"/>
          <p:cNvSpPr/>
          <p:nvPr/>
        </p:nvSpPr>
        <p:spPr>
          <a:xfrm>
            <a:off x="815975" y="3411538"/>
            <a:ext cx="5187950" cy="1329531"/>
          </a:xfrm>
          <a:prstGeom prst="roundRect">
            <a:avLst>
              <a:gd fmla="val 9313" name="adj"/>
            </a:avLst>
          </a:prstGeom>
          <a:solidFill>
            <a:srgbClr val="211A38"/>
          </a:solidFill>
          <a:ln cap="flat" cmpd="sng" w="9525">
            <a:solidFill>
              <a:srgbClr val="362D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arch" id="289" name="Google Shape;289;p18"/>
          <p:cNvPicPr preferRelativeResize="0"/>
          <p:nvPr/>
        </p:nvPicPr>
        <p:blipFill rotWithShape="1">
          <a:blip r:embed="rId5">
            <a:alphaModFix/>
          </a:blip>
          <a:srcRect b="0" l="0" r="0" t="0"/>
          <a:stretch/>
        </p:blipFill>
        <p:spPr>
          <a:xfrm>
            <a:off x="1073150" y="3643313"/>
            <a:ext cx="330200" cy="330200"/>
          </a:xfrm>
          <a:prstGeom prst="rect">
            <a:avLst/>
          </a:prstGeom>
          <a:noFill/>
          <a:ln>
            <a:noFill/>
          </a:ln>
        </p:spPr>
      </p:pic>
      <p:sp>
        <p:nvSpPr>
          <p:cNvPr id="290" name="Google Shape;290;p18"/>
          <p:cNvSpPr/>
          <p:nvPr/>
        </p:nvSpPr>
        <p:spPr>
          <a:xfrm>
            <a:off x="1581150" y="3643313"/>
            <a:ext cx="3277199" cy="33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4F2FA"/>
              </a:buClr>
              <a:buSzPts val="2000"/>
              <a:buFont typeface="Figtree"/>
              <a:buNone/>
            </a:pPr>
            <a:r>
              <a:rPr b="0" i="0" lang="en-US" sz="2000" u="none" cap="none" strike="noStrike">
                <a:solidFill>
                  <a:srgbClr val="F4F2FA"/>
                </a:solidFill>
                <a:latin typeface="Figtree"/>
                <a:ea typeface="Figtree"/>
                <a:cs typeface="Figtree"/>
                <a:sym typeface="Figtree"/>
              </a:rPr>
              <a:t>Audit mode</a:t>
            </a:r>
            <a:endParaRPr b="0" i="0" sz="2000" u="none" cap="none" strike="noStrike">
              <a:solidFill>
                <a:schemeClr val="dk1"/>
              </a:solidFill>
              <a:latin typeface="Calibri"/>
              <a:ea typeface="Calibri"/>
              <a:cs typeface="Calibri"/>
              <a:sym typeface="Calibri"/>
            </a:endParaRPr>
          </a:p>
        </p:txBody>
      </p:sp>
      <p:sp>
        <p:nvSpPr>
          <p:cNvPr id="291" name="Google Shape;291;p18"/>
          <p:cNvSpPr/>
          <p:nvPr/>
        </p:nvSpPr>
        <p:spPr>
          <a:xfrm>
            <a:off x="1581150" y="4011613"/>
            <a:ext cx="3818096" cy="2742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C9C3DB"/>
              </a:buClr>
              <a:buSzPts val="1400"/>
              <a:buFont typeface="DM Sans"/>
              <a:buNone/>
            </a:pPr>
            <a:r>
              <a:rPr b="0" i="0" lang="en-US" sz="1400" u="none" cap="none" strike="noStrike">
                <a:solidFill>
                  <a:srgbClr val="C9C3DB"/>
                </a:solidFill>
                <a:latin typeface="DM Sans"/>
                <a:ea typeface="DM Sans"/>
                <a:cs typeface="DM Sans"/>
                <a:sym typeface="DM Sans"/>
              </a:rPr>
              <a:t>Log overages before you start blocking</a:t>
            </a:r>
            <a:endParaRPr b="0" i="0" sz="1400" u="none" cap="none" strike="noStrike">
              <a:solidFill>
                <a:schemeClr val="dk1"/>
              </a:solidFill>
              <a:latin typeface="Calibri"/>
              <a:ea typeface="Calibri"/>
              <a:cs typeface="Calibri"/>
              <a:sym typeface="Calibri"/>
            </a:endParaRPr>
          </a:p>
        </p:txBody>
      </p:sp>
      <p:sp>
        <p:nvSpPr>
          <p:cNvPr id="292" name="Google Shape;292;p18"/>
          <p:cNvSpPr/>
          <p:nvPr/>
        </p:nvSpPr>
        <p:spPr>
          <a:xfrm>
            <a:off x="6188075" y="3411538"/>
            <a:ext cx="5187950" cy="1329531"/>
          </a:xfrm>
          <a:prstGeom prst="roundRect">
            <a:avLst>
              <a:gd fmla="val 9313" name="adj"/>
            </a:avLst>
          </a:prstGeom>
          <a:solidFill>
            <a:srgbClr val="211A38"/>
          </a:solidFill>
          <a:ln cap="flat" cmpd="sng" w="9525">
            <a:solidFill>
              <a:srgbClr val="362D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ning" id="293" name="Google Shape;293;p18"/>
          <p:cNvPicPr preferRelativeResize="0"/>
          <p:nvPr/>
        </p:nvPicPr>
        <p:blipFill rotWithShape="1">
          <a:blip r:embed="rId6">
            <a:alphaModFix/>
          </a:blip>
          <a:srcRect b="0" l="-456" r="-456" t="0"/>
          <a:stretch/>
        </p:blipFill>
        <p:spPr>
          <a:xfrm>
            <a:off x="6445250" y="3643313"/>
            <a:ext cx="307578" cy="330200"/>
          </a:xfrm>
          <a:prstGeom prst="rect">
            <a:avLst/>
          </a:prstGeom>
          <a:noFill/>
          <a:ln>
            <a:noFill/>
          </a:ln>
        </p:spPr>
      </p:pic>
      <p:sp>
        <p:nvSpPr>
          <p:cNvPr id="294" name="Google Shape;294;p18"/>
          <p:cNvSpPr/>
          <p:nvPr/>
        </p:nvSpPr>
        <p:spPr>
          <a:xfrm>
            <a:off x="6930628" y="3643313"/>
            <a:ext cx="4313869" cy="33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4F2FA"/>
              </a:buClr>
              <a:buSzPts val="2000"/>
              <a:buFont typeface="Figtree"/>
              <a:buNone/>
            </a:pPr>
            <a:r>
              <a:rPr b="0" i="0" lang="en-US" sz="2000" u="none" cap="none" strike="noStrike">
                <a:solidFill>
                  <a:srgbClr val="F4F2FA"/>
                </a:solidFill>
                <a:latin typeface="Figtree"/>
                <a:ea typeface="Figtree"/>
                <a:cs typeface="Figtree"/>
                <a:sym typeface="Figtree"/>
              </a:rPr>
              <a:t>Routing</a:t>
            </a:r>
            <a:r>
              <a:rPr lang="en-US" sz="2000">
                <a:solidFill>
                  <a:srgbClr val="F4F2FA"/>
                </a:solidFill>
                <a:latin typeface="Figtree"/>
                <a:ea typeface="Figtree"/>
                <a:cs typeface="Figtree"/>
                <a:sym typeface="Figtree"/>
              </a:rPr>
              <a:t>, Security, Observability</a:t>
            </a:r>
            <a:endParaRPr b="0" i="0" sz="2000" u="none" cap="none" strike="noStrike">
              <a:solidFill>
                <a:schemeClr val="dk1"/>
              </a:solidFill>
              <a:latin typeface="Calibri"/>
              <a:ea typeface="Calibri"/>
              <a:cs typeface="Calibri"/>
              <a:sym typeface="Calibri"/>
            </a:endParaRPr>
          </a:p>
        </p:txBody>
      </p:sp>
      <p:pic>
        <p:nvPicPr>
          <p:cNvPr descr="Solo.io" id="295" name="Google Shape;295;p18"/>
          <p:cNvPicPr preferRelativeResize="0"/>
          <p:nvPr/>
        </p:nvPicPr>
        <p:blipFill rotWithShape="1">
          <a:blip r:embed="rId7">
            <a:alphaModFix/>
          </a:blip>
          <a:srcRect b="-179" l="0" r="0" t="-179"/>
          <a:stretch/>
        </p:blipFill>
        <p:spPr>
          <a:xfrm>
            <a:off x="812800" y="6223000"/>
            <a:ext cx="1016000" cy="228600"/>
          </a:xfrm>
          <a:prstGeom prst="rect">
            <a:avLst/>
          </a:prstGeom>
          <a:noFill/>
          <a:ln>
            <a:noFill/>
          </a:ln>
        </p:spPr>
      </p:pic>
      <p:sp>
        <p:nvSpPr>
          <p:cNvPr id="296" name="Google Shape;296;p18"/>
          <p:cNvSpPr/>
          <p:nvPr/>
        </p:nvSpPr>
        <p:spPr>
          <a:xfrm>
            <a:off x="8763000" y="6238280"/>
            <a:ext cx="2616200" cy="238720"/>
          </a:xfrm>
          <a:prstGeom prst="rect">
            <a:avLst/>
          </a:prstGeom>
          <a:noFill/>
          <a:ln>
            <a:noFill/>
          </a:ln>
        </p:spPr>
        <p:txBody>
          <a:bodyPr anchorCtr="0" anchor="t" bIns="0" lIns="0" spcFirstLastPara="1" rIns="0" wrap="square" tIns="0">
            <a:noAutofit/>
          </a:bodyPr>
          <a:lstStyle/>
          <a:p>
            <a:pPr indent="0" lvl="0" marL="0" marR="0" rtl="0" algn="r">
              <a:lnSpc>
                <a:spcPct val="116667"/>
              </a:lnSpc>
              <a:spcBef>
                <a:spcPts val="0"/>
              </a:spcBef>
              <a:spcAft>
                <a:spcPts val="0"/>
              </a:spcAft>
              <a:buClr>
                <a:srgbClr val="B98BFF"/>
              </a:buClr>
              <a:buSzPts val="1200"/>
              <a:buFont typeface="DM Mono"/>
              <a:buNone/>
            </a:pPr>
            <a:r>
              <a:rPr b="0" i="0" lang="en-US" sz="1200" u="none" cap="none" strike="noStrike">
                <a:solidFill>
                  <a:srgbClr val="B98BFF"/>
                </a:solidFill>
                <a:latin typeface="DM Mono"/>
                <a:ea typeface="DM Mono"/>
                <a:cs typeface="DM Mono"/>
                <a:sym typeface="DM Mono"/>
              </a:rPr>
              <a:t>agentgateway.dev</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0E27"/>
        </a:solidFill>
      </p:bgPr>
    </p:bg>
    <p:spTree>
      <p:nvGrpSpPr>
        <p:cNvPr id="301" name="Shape 301"/>
        <p:cNvGrpSpPr/>
        <p:nvPr/>
      </p:nvGrpSpPr>
      <p:grpSpPr>
        <a:xfrm>
          <a:off x="0" y="0"/>
          <a:ext cx="0" cy="0"/>
          <a:chOff x="0" y="0"/>
          <a:chExt cx="0" cy="0"/>
        </a:xfrm>
      </p:grpSpPr>
      <p:pic>
        <p:nvPicPr>
          <p:cNvPr id="302" name="Google Shape;302;p19"/>
          <p:cNvPicPr preferRelativeResize="0"/>
          <p:nvPr/>
        </p:nvPicPr>
        <p:blipFill rotWithShape="1">
          <a:blip r:embed="rId3">
            <a:alphaModFix/>
          </a:blip>
          <a:srcRect b="0" l="87" r="87" t="0"/>
          <a:stretch/>
        </p:blipFill>
        <p:spPr>
          <a:xfrm>
            <a:off x="0" y="0"/>
            <a:ext cx="12192000" cy="6858000"/>
          </a:xfrm>
          <a:prstGeom prst="rect">
            <a:avLst/>
          </a:prstGeom>
          <a:noFill/>
          <a:ln>
            <a:noFill/>
          </a:ln>
        </p:spPr>
      </p:pic>
      <p:sp>
        <p:nvSpPr>
          <p:cNvPr id="303" name="Google Shape;303;p19"/>
          <p:cNvSpPr/>
          <p:nvPr/>
        </p:nvSpPr>
        <p:spPr>
          <a:xfrm>
            <a:off x="812800" y="2275880"/>
            <a:ext cx="10883392" cy="2742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98BFF"/>
              </a:buClr>
              <a:buSzPts val="1400"/>
              <a:buFont typeface="DM Mono"/>
              <a:buNone/>
            </a:pPr>
            <a:r>
              <a:rPr b="0" i="0" lang="en-US" sz="1400" u="none" cap="none" strike="noStrike">
                <a:solidFill>
                  <a:srgbClr val="B98BFF"/>
                </a:solidFill>
                <a:latin typeface="DM Mono"/>
                <a:ea typeface="DM Mono"/>
                <a:cs typeface="DM Mono"/>
                <a:sym typeface="DM Mono"/>
              </a:rPr>
              <a:t>AGENTGATEWAY · PART OF THE AGENTIC AI FOUNDATION</a:t>
            </a:r>
            <a:endParaRPr b="0" i="0" sz="1400" u="none" cap="none" strike="noStrike">
              <a:solidFill>
                <a:schemeClr val="dk1"/>
              </a:solidFill>
              <a:latin typeface="Calibri"/>
              <a:ea typeface="Calibri"/>
              <a:cs typeface="Calibri"/>
              <a:sym typeface="Calibri"/>
            </a:endParaRPr>
          </a:p>
        </p:txBody>
      </p:sp>
      <p:sp>
        <p:nvSpPr>
          <p:cNvPr id="304" name="Google Shape;304;p19"/>
          <p:cNvSpPr/>
          <p:nvPr/>
        </p:nvSpPr>
        <p:spPr>
          <a:xfrm>
            <a:off x="812800" y="2778720"/>
            <a:ext cx="10883392" cy="1625600"/>
          </a:xfrm>
          <a:prstGeom prst="rect">
            <a:avLst/>
          </a:prstGeom>
          <a:noFill/>
          <a:ln>
            <a:noFill/>
          </a:ln>
        </p:spPr>
        <p:txBody>
          <a:bodyPr anchorCtr="0" anchor="t" bIns="0" lIns="0" spcFirstLastPara="1" rIns="0" wrap="square" tIns="0">
            <a:noAutofit/>
          </a:bodyPr>
          <a:lstStyle/>
          <a:p>
            <a:pPr indent="0" lvl="0" marL="0" marR="0" rtl="0" algn="l">
              <a:lnSpc>
                <a:spcPct val="87500"/>
              </a:lnSpc>
              <a:spcBef>
                <a:spcPts val="0"/>
              </a:spcBef>
              <a:spcAft>
                <a:spcPts val="0"/>
              </a:spcAft>
              <a:buClr>
                <a:srgbClr val="F4F2FA"/>
              </a:buClr>
              <a:buSzPts val="6000"/>
              <a:buFont typeface="Figtree"/>
              <a:buNone/>
            </a:pPr>
            <a:r>
              <a:rPr b="0" i="0" lang="en-US" sz="6000" u="none" cap="none" strike="noStrike">
                <a:solidFill>
                  <a:srgbClr val="F4F2FA"/>
                </a:solidFill>
                <a:latin typeface="Figtree"/>
                <a:ea typeface="Figtree"/>
                <a:cs typeface="Figtree"/>
                <a:sym typeface="Figtree"/>
              </a:rPr>
              <a:t>Your gateway should know your bill before your CFO does</a:t>
            </a:r>
            <a:endParaRPr b="0" i="0" sz="6000" u="none" cap="none" strike="noStrike">
              <a:solidFill>
                <a:schemeClr val="dk1"/>
              </a:solidFill>
              <a:latin typeface="Calibri"/>
              <a:ea typeface="Calibri"/>
              <a:cs typeface="Calibri"/>
              <a:sym typeface="Calibri"/>
            </a:endParaRPr>
          </a:p>
        </p:txBody>
      </p:sp>
      <p:pic>
        <p:nvPicPr>
          <p:cNvPr descr="Solo.io" id="305" name="Google Shape;305;p19"/>
          <p:cNvPicPr preferRelativeResize="0"/>
          <p:nvPr/>
        </p:nvPicPr>
        <p:blipFill rotWithShape="1">
          <a:blip r:embed="rId4">
            <a:alphaModFix/>
          </a:blip>
          <a:srcRect b="-179" l="0" r="0" t="-179"/>
          <a:stretch/>
        </p:blipFill>
        <p:spPr>
          <a:xfrm>
            <a:off x="812800" y="6223000"/>
            <a:ext cx="1016000" cy="228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0E27"/>
        </a:solidFill>
      </p:bgPr>
    </p:bg>
    <p:spTree>
      <p:nvGrpSpPr>
        <p:cNvPr id="310" name="Shape 310"/>
        <p:cNvGrpSpPr/>
        <p:nvPr/>
      </p:nvGrpSpPr>
      <p:grpSpPr>
        <a:xfrm>
          <a:off x="0" y="0"/>
          <a:ext cx="0" cy="0"/>
          <a:chOff x="0" y="0"/>
          <a:chExt cx="0" cy="0"/>
        </a:xfrm>
      </p:grpSpPr>
      <p:pic>
        <p:nvPicPr>
          <p:cNvPr id="311" name="Google Shape;311;p20"/>
          <p:cNvPicPr preferRelativeResize="0"/>
          <p:nvPr/>
        </p:nvPicPr>
        <p:blipFill rotWithShape="1">
          <a:blip r:embed="rId3">
            <a:alphaModFix/>
          </a:blip>
          <a:srcRect b="0" l="87" r="87" t="0"/>
          <a:stretch/>
        </p:blipFill>
        <p:spPr>
          <a:xfrm>
            <a:off x="0" y="0"/>
            <a:ext cx="12192000" cy="6858000"/>
          </a:xfrm>
          <a:prstGeom prst="rect">
            <a:avLst/>
          </a:prstGeom>
          <a:noFill/>
          <a:ln>
            <a:noFill/>
          </a:ln>
        </p:spPr>
      </p:pic>
      <p:pic>
        <p:nvPicPr>
          <p:cNvPr descr="Lightbulb" id="312" name="Google Shape;312;p20"/>
          <p:cNvPicPr preferRelativeResize="0"/>
          <p:nvPr/>
        </p:nvPicPr>
        <p:blipFill rotWithShape="1">
          <a:blip r:embed="rId4">
            <a:alphaModFix/>
          </a:blip>
          <a:srcRect b="0" l="0" r="0" t="0"/>
          <a:stretch/>
        </p:blipFill>
        <p:spPr>
          <a:xfrm>
            <a:off x="812800" y="1837730"/>
            <a:ext cx="762000" cy="762000"/>
          </a:xfrm>
          <a:prstGeom prst="rect">
            <a:avLst/>
          </a:prstGeom>
          <a:noFill/>
          <a:ln>
            <a:noFill/>
          </a:ln>
        </p:spPr>
      </p:pic>
      <p:sp>
        <p:nvSpPr>
          <p:cNvPr id="313" name="Google Shape;313;p20"/>
          <p:cNvSpPr/>
          <p:nvPr/>
        </p:nvSpPr>
        <p:spPr>
          <a:xfrm>
            <a:off x="812800" y="2828330"/>
            <a:ext cx="5677154" cy="772120"/>
          </a:xfrm>
          <a:prstGeom prst="rect">
            <a:avLst/>
          </a:prstGeom>
          <a:noFill/>
          <a:ln>
            <a:noFill/>
          </a:ln>
        </p:spPr>
        <p:txBody>
          <a:bodyPr anchorCtr="0" anchor="t" bIns="0" lIns="0" spcFirstLastPara="1" rIns="0" wrap="square" tIns="0">
            <a:noAutofit/>
          </a:bodyPr>
          <a:lstStyle/>
          <a:p>
            <a:pPr indent="0" lvl="0" marL="0" marR="0" rtl="0" algn="l">
              <a:lnSpc>
                <a:spcPct val="87500"/>
              </a:lnSpc>
              <a:spcBef>
                <a:spcPts val="0"/>
              </a:spcBef>
              <a:spcAft>
                <a:spcPts val="0"/>
              </a:spcAft>
              <a:buClr>
                <a:srgbClr val="F4F2FA"/>
              </a:buClr>
              <a:buSzPts val="5600"/>
              <a:buFont typeface="Figtree"/>
              <a:buNone/>
            </a:pPr>
            <a:r>
              <a:rPr b="0" i="0" lang="en-US" sz="5600" u="none" cap="none" strike="noStrike">
                <a:solidFill>
                  <a:srgbClr val="F4F2FA"/>
                </a:solidFill>
                <a:latin typeface="Figtree"/>
                <a:ea typeface="Figtree"/>
                <a:cs typeface="Figtree"/>
                <a:sym typeface="Figtree"/>
              </a:rPr>
              <a:t>Use your brain.</a:t>
            </a:r>
            <a:endParaRPr b="0" i="0" sz="5600" u="none" cap="none" strike="noStrike">
              <a:solidFill>
                <a:schemeClr val="dk1"/>
              </a:solidFill>
              <a:latin typeface="Calibri"/>
              <a:ea typeface="Calibri"/>
              <a:cs typeface="Calibri"/>
              <a:sym typeface="Calibri"/>
            </a:endParaRPr>
          </a:p>
        </p:txBody>
      </p:sp>
      <p:sp>
        <p:nvSpPr>
          <p:cNvPr id="314" name="Google Shape;314;p20"/>
          <p:cNvSpPr/>
          <p:nvPr/>
        </p:nvSpPr>
        <p:spPr>
          <a:xfrm>
            <a:off x="812800" y="3803650"/>
            <a:ext cx="6121400" cy="388541"/>
          </a:xfrm>
          <a:prstGeom prst="rect">
            <a:avLst/>
          </a:prstGeom>
          <a:noFill/>
          <a:ln>
            <a:noFill/>
          </a:ln>
        </p:spPr>
        <p:txBody>
          <a:bodyPr anchorCtr="0" anchor="t" bIns="0" lIns="0" spcFirstLastPara="1" rIns="0" wrap="square" tIns="0">
            <a:noAutofit/>
          </a:bodyPr>
          <a:lstStyle/>
          <a:p>
            <a:pPr indent="0" lvl="0" marL="0" marR="0" rtl="0" algn="l">
              <a:lnSpc>
                <a:spcPct val="108333"/>
              </a:lnSpc>
              <a:spcBef>
                <a:spcPts val="0"/>
              </a:spcBef>
              <a:spcAft>
                <a:spcPts val="0"/>
              </a:spcAft>
              <a:buClr>
                <a:srgbClr val="B98BFF"/>
              </a:buClr>
              <a:buSzPts val="2200"/>
              <a:buFont typeface="DM Sans"/>
              <a:buNone/>
            </a:pPr>
            <a:r>
              <a:rPr b="0" i="0" lang="en-US" sz="2200" u="none" cap="none" strike="noStrike">
                <a:solidFill>
                  <a:srgbClr val="B98BFF"/>
                </a:solidFill>
                <a:latin typeface="DM Sans"/>
                <a:ea typeface="DM Sans"/>
                <a:cs typeface="DM Sans"/>
                <a:sym typeface="DM Sans"/>
              </a:rPr>
              <a:t>0 tokens. Unlimited budget. Rob approved.</a:t>
            </a:r>
            <a:endParaRPr b="0" i="0" sz="2200" u="none" cap="none" strike="noStrike">
              <a:solidFill>
                <a:schemeClr val="dk1"/>
              </a:solidFill>
              <a:latin typeface="Calibri"/>
              <a:ea typeface="Calibri"/>
              <a:cs typeface="Calibri"/>
              <a:sym typeface="Calibri"/>
            </a:endParaRPr>
          </a:p>
        </p:txBody>
      </p:sp>
      <p:sp>
        <p:nvSpPr>
          <p:cNvPr id="315" name="Google Shape;315;p20"/>
          <p:cNvSpPr/>
          <p:nvPr/>
        </p:nvSpPr>
        <p:spPr>
          <a:xfrm>
            <a:off x="812800" y="4395391"/>
            <a:ext cx="5677154" cy="34538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C9C3DB"/>
              </a:buClr>
              <a:buSzPts val="1800"/>
              <a:buFont typeface="DM Sans"/>
              <a:buNone/>
            </a:pPr>
            <a:r>
              <a:rPr b="0" i="0" lang="en-US" sz="1800" u="none" cap="none" strike="noStrike">
                <a:solidFill>
                  <a:srgbClr val="C9C3DB"/>
                </a:solidFill>
                <a:latin typeface="DM Sans"/>
                <a:ea typeface="DM Sans"/>
                <a:cs typeface="DM Sans"/>
                <a:sym typeface="DM Sans"/>
              </a:rPr>
              <a:t>Thank you. Questions?</a:t>
            </a:r>
            <a:endParaRPr b="0" i="0" sz="1800" u="none" cap="none" strike="noStrike">
              <a:solidFill>
                <a:schemeClr val="dk1"/>
              </a:solidFill>
              <a:latin typeface="Calibri"/>
              <a:ea typeface="Calibri"/>
              <a:cs typeface="Calibri"/>
              <a:sym typeface="Calibri"/>
            </a:endParaRPr>
          </a:p>
        </p:txBody>
      </p:sp>
      <p:sp>
        <p:nvSpPr>
          <p:cNvPr id="316" name="Google Shape;316;p20"/>
          <p:cNvSpPr/>
          <p:nvPr/>
        </p:nvSpPr>
        <p:spPr>
          <a:xfrm>
            <a:off x="6937375" y="1894284"/>
            <a:ext cx="4438650" cy="2764631"/>
          </a:xfrm>
          <a:prstGeom prst="roundRect">
            <a:avLst>
              <a:gd fmla="val 4479" name="adj"/>
            </a:avLst>
          </a:prstGeom>
          <a:solidFill>
            <a:srgbClr val="211A38"/>
          </a:solidFill>
          <a:ln cap="flat" cmpd="sng" w="9525">
            <a:solidFill>
              <a:srgbClr val="8A3F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0"/>
          <p:cNvSpPr/>
          <p:nvPr/>
        </p:nvSpPr>
        <p:spPr>
          <a:xfrm>
            <a:off x="7245350" y="2202259"/>
            <a:ext cx="3937381" cy="23872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98BFF"/>
              </a:buClr>
              <a:buSzPts val="1200"/>
              <a:buFont typeface="DM Mono"/>
              <a:buNone/>
            </a:pPr>
            <a:r>
              <a:rPr b="0" i="0" lang="en-US" sz="1200" u="none" cap="none" strike="noStrike">
                <a:solidFill>
                  <a:srgbClr val="B98BFF"/>
                </a:solidFill>
                <a:latin typeface="DM Mono"/>
                <a:ea typeface="DM Mono"/>
                <a:cs typeface="DM Mono"/>
                <a:sym typeface="DM Mono"/>
              </a:rPr>
              <a:t>TRY IT YOURSELF</a:t>
            </a:r>
            <a:endParaRPr b="0" i="0" sz="1200" u="none" cap="none" strike="noStrike">
              <a:solidFill>
                <a:schemeClr val="dk1"/>
              </a:solidFill>
              <a:latin typeface="Calibri"/>
              <a:ea typeface="Calibri"/>
              <a:cs typeface="Calibri"/>
              <a:sym typeface="Calibri"/>
            </a:endParaRPr>
          </a:p>
        </p:txBody>
      </p:sp>
      <p:pic>
        <p:nvPicPr>
          <p:cNvPr descr="Code" id="318" name="Google Shape;318;p20"/>
          <p:cNvPicPr preferRelativeResize="0"/>
          <p:nvPr/>
        </p:nvPicPr>
        <p:blipFill rotWithShape="1">
          <a:blip r:embed="rId5">
            <a:alphaModFix/>
          </a:blip>
          <a:srcRect b="0" l="0" r="0" t="0"/>
          <a:stretch/>
        </p:blipFill>
        <p:spPr>
          <a:xfrm>
            <a:off x="7245350" y="2697460"/>
            <a:ext cx="254000" cy="254000"/>
          </a:xfrm>
          <a:prstGeom prst="rect">
            <a:avLst/>
          </a:prstGeom>
          <a:noFill/>
          <a:ln>
            <a:noFill/>
          </a:ln>
        </p:spPr>
      </p:pic>
      <p:sp>
        <p:nvSpPr>
          <p:cNvPr id="319" name="Google Shape;319;p20"/>
          <p:cNvSpPr/>
          <p:nvPr/>
        </p:nvSpPr>
        <p:spPr>
          <a:xfrm>
            <a:off x="7626350" y="2593380"/>
            <a:ext cx="2930144" cy="487561"/>
          </a:xfrm>
          <a:prstGeom prst="rect">
            <a:avLst/>
          </a:prstGeom>
          <a:noFill/>
          <a:ln>
            <a:noFill/>
          </a:ln>
        </p:spPr>
        <p:txBody>
          <a:bodyPr anchorCtr="0" anchor="t" bIns="0" lIns="0" spcFirstLastPara="1" rIns="0" wrap="square" tIns="0">
            <a:noAutofit/>
          </a:bodyPr>
          <a:lstStyle/>
          <a:p>
            <a:pPr indent="0" lvl="0" marL="0" marR="0" rtl="0" algn="l">
              <a:lnSpc>
                <a:spcPct val="108333"/>
              </a:lnSpc>
              <a:spcBef>
                <a:spcPts val="0"/>
              </a:spcBef>
              <a:spcAft>
                <a:spcPts val="0"/>
              </a:spcAft>
              <a:buClr>
                <a:srgbClr val="F4F2FA"/>
              </a:buClr>
              <a:buSzPts val="1400"/>
              <a:buFont typeface="DM Sans"/>
              <a:buNone/>
            </a:pPr>
            <a:r>
              <a:rPr b="0" i="0" lang="en-US" sz="1400" u="none" cap="none" strike="noStrike">
                <a:solidFill>
                  <a:srgbClr val="F4F2FA"/>
                </a:solidFill>
                <a:latin typeface="DM Sans"/>
                <a:ea typeface="DM Sans"/>
                <a:cs typeface="DM Sans"/>
                <a:sym typeface="DM Sans"/>
              </a:rPr>
              <a:t>github.com/day0ops/</a:t>
            </a:r>
            <a:endParaRPr b="0" i="0" sz="1400" u="none" cap="none" strike="noStrike">
              <a:solidFill>
                <a:schemeClr val="dk1"/>
              </a:solidFill>
              <a:latin typeface="Calibri"/>
              <a:ea typeface="Calibri"/>
              <a:cs typeface="Calibri"/>
              <a:sym typeface="Calibri"/>
            </a:endParaRPr>
          </a:p>
          <a:p>
            <a:pPr indent="0" lvl="0" marL="0" marR="0" rtl="0" algn="l">
              <a:lnSpc>
                <a:spcPct val="108333"/>
              </a:lnSpc>
              <a:spcBef>
                <a:spcPts val="0"/>
              </a:spcBef>
              <a:spcAft>
                <a:spcPts val="0"/>
              </a:spcAft>
              <a:buClr>
                <a:srgbClr val="F4F2FA"/>
              </a:buClr>
              <a:buSzPts val="1400"/>
              <a:buFont typeface="DM Sans"/>
              <a:buNone/>
            </a:pPr>
            <a:r>
              <a:rPr b="0" i="0" lang="en-US" sz="1400" u="none" cap="none" strike="noStrike">
                <a:solidFill>
                  <a:srgbClr val="F4F2FA"/>
                </a:solidFill>
                <a:latin typeface="DM Sans"/>
                <a:ea typeface="DM Sans"/>
                <a:cs typeface="DM Sans"/>
                <a:sym typeface="DM Sans"/>
              </a:rPr>
              <a:t>agentgateway-rogue-agent-demo</a:t>
            </a:r>
            <a:endParaRPr b="0" i="0" sz="1400" u="none" cap="none" strike="noStrike">
              <a:solidFill>
                <a:schemeClr val="dk1"/>
              </a:solidFill>
              <a:latin typeface="Calibri"/>
              <a:ea typeface="Calibri"/>
              <a:cs typeface="Calibri"/>
              <a:sym typeface="Calibri"/>
            </a:endParaRPr>
          </a:p>
        </p:txBody>
      </p:sp>
      <p:pic>
        <p:nvPicPr>
          <p:cNvPr descr="Globe" id="320" name="Google Shape;320;p20"/>
          <p:cNvPicPr preferRelativeResize="0"/>
          <p:nvPr/>
        </p:nvPicPr>
        <p:blipFill rotWithShape="1">
          <a:blip r:embed="rId6">
            <a:alphaModFix/>
          </a:blip>
          <a:srcRect b="0" l="0" r="0" t="0"/>
          <a:stretch/>
        </p:blipFill>
        <p:spPr>
          <a:xfrm>
            <a:off x="7245350" y="3233341"/>
            <a:ext cx="254000" cy="254000"/>
          </a:xfrm>
          <a:prstGeom prst="rect">
            <a:avLst/>
          </a:prstGeom>
          <a:noFill/>
          <a:ln>
            <a:noFill/>
          </a:ln>
        </p:spPr>
      </p:pic>
      <p:sp>
        <p:nvSpPr>
          <p:cNvPr id="321" name="Google Shape;321;p20"/>
          <p:cNvSpPr/>
          <p:nvPr/>
        </p:nvSpPr>
        <p:spPr>
          <a:xfrm>
            <a:off x="7626350" y="3235920"/>
            <a:ext cx="1768554" cy="2742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F4F2FA"/>
              </a:buClr>
              <a:buSzPts val="1400"/>
              <a:buFont typeface="DM Sans"/>
              <a:buNone/>
            </a:pPr>
            <a:r>
              <a:rPr b="0" i="0" lang="en-US" sz="1400" u="none" cap="none" strike="noStrike">
                <a:solidFill>
                  <a:srgbClr val="F4F2FA"/>
                </a:solidFill>
                <a:latin typeface="DM Sans"/>
                <a:ea typeface="DM Sans"/>
                <a:cs typeface="DM Sans"/>
                <a:sym typeface="DM Sans"/>
              </a:rPr>
              <a:t>agentgateway.dev</a:t>
            </a:r>
            <a:endParaRPr b="0" i="0" sz="1400" u="none" cap="none" strike="noStrike">
              <a:solidFill>
                <a:schemeClr val="dk1"/>
              </a:solidFill>
              <a:latin typeface="Calibri"/>
              <a:ea typeface="Calibri"/>
              <a:cs typeface="Calibri"/>
              <a:sym typeface="Calibri"/>
            </a:endParaRPr>
          </a:p>
        </p:txBody>
      </p:sp>
      <p:pic>
        <p:nvPicPr>
          <p:cNvPr descr="Link" id="322" name="Google Shape;322;p20"/>
          <p:cNvPicPr preferRelativeResize="0"/>
          <p:nvPr/>
        </p:nvPicPr>
        <p:blipFill rotWithShape="1">
          <a:blip r:embed="rId7">
            <a:alphaModFix/>
          </a:blip>
          <a:srcRect b="0" l="0" r="0" t="0"/>
          <a:stretch/>
        </p:blipFill>
        <p:spPr>
          <a:xfrm>
            <a:off x="7245350" y="3665141"/>
            <a:ext cx="254000" cy="254000"/>
          </a:xfrm>
          <a:prstGeom prst="rect">
            <a:avLst/>
          </a:prstGeom>
          <a:noFill/>
          <a:ln>
            <a:noFill/>
          </a:ln>
        </p:spPr>
      </p:pic>
      <p:sp>
        <p:nvSpPr>
          <p:cNvPr id="323" name="Google Shape;323;p20"/>
          <p:cNvSpPr/>
          <p:nvPr/>
        </p:nvSpPr>
        <p:spPr>
          <a:xfrm>
            <a:off x="7626350" y="3667720"/>
            <a:ext cx="3746500" cy="2742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F4F2FA"/>
              </a:buClr>
              <a:buSzPts val="1400"/>
              <a:buFont typeface="DM Sans"/>
              <a:buNone/>
            </a:pPr>
            <a:r>
              <a:rPr b="0" i="0" lang="en-US" sz="1400" u="none" cap="none" strike="noStrike">
                <a:solidFill>
                  <a:srgbClr val="F4F2FA"/>
                </a:solidFill>
                <a:latin typeface="DM Sans"/>
                <a:ea typeface="DM Sans"/>
                <a:cs typeface="DM Sans"/>
                <a:sym typeface="DM Sans"/>
              </a:rPr>
              <a:t>github.com/agentgateway/agentgateway</a:t>
            </a:r>
            <a:endParaRPr b="0" i="0" sz="1400" u="none" cap="none" strike="noStrike">
              <a:solidFill>
                <a:schemeClr val="dk1"/>
              </a:solidFill>
              <a:latin typeface="Calibri"/>
              <a:ea typeface="Calibri"/>
              <a:cs typeface="Calibri"/>
              <a:sym typeface="Calibri"/>
            </a:endParaRPr>
          </a:p>
        </p:txBody>
      </p:sp>
      <p:pic>
        <p:nvPicPr>
          <p:cNvPr descr="Chat" id="324" name="Google Shape;324;p20"/>
          <p:cNvPicPr preferRelativeResize="0"/>
          <p:nvPr/>
        </p:nvPicPr>
        <p:blipFill rotWithShape="1">
          <a:blip r:embed="rId8">
            <a:alphaModFix/>
          </a:blip>
          <a:srcRect b="0" l="0" r="0" t="0"/>
          <a:stretch/>
        </p:blipFill>
        <p:spPr>
          <a:xfrm>
            <a:off x="7245350" y="4096941"/>
            <a:ext cx="254000" cy="254000"/>
          </a:xfrm>
          <a:prstGeom prst="rect">
            <a:avLst/>
          </a:prstGeom>
          <a:noFill/>
          <a:ln>
            <a:noFill/>
          </a:ln>
        </p:spPr>
      </p:pic>
      <p:sp>
        <p:nvSpPr>
          <p:cNvPr id="325" name="Google Shape;325;p20"/>
          <p:cNvSpPr/>
          <p:nvPr/>
        </p:nvSpPr>
        <p:spPr>
          <a:xfrm>
            <a:off x="7626350" y="4099520"/>
            <a:ext cx="2438162" cy="274241"/>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F4F2FA"/>
              </a:buClr>
              <a:buSzPts val="1400"/>
              <a:buFont typeface="DM Sans"/>
              <a:buNone/>
            </a:pPr>
            <a:r>
              <a:rPr b="0" i="0" lang="en-US" sz="1400" u="none" cap="none" strike="noStrike">
                <a:solidFill>
                  <a:srgbClr val="F4F2FA"/>
                </a:solidFill>
                <a:latin typeface="DM Sans"/>
                <a:ea typeface="DM Sans"/>
                <a:cs typeface="DM Sans"/>
                <a:sym typeface="DM Sans"/>
              </a:rPr>
              <a:t>discord.gg/y9efgEmppm</a:t>
            </a:r>
            <a:endParaRPr b="0" i="0" sz="1400" u="none" cap="none" strike="noStrike">
              <a:solidFill>
                <a:schemeClr val="dk1"/>
              </a:solidFill>
              <a:latin typeface="Calibri"/>
              <a:ea typeface="Calibri"/>
              <a:cs typeface="Calibri"/>
              <a:sym typeface="Calibri"/>
            </a:endParaRPr>
          </a:p>
        </p:txBody>
      </p:sp>
      <p:pic>
        <p:nvPicPr>
          <p:cNvPr descr="Solo.io" id="326" name="Google Shape;326;p20"/>
          <p:cNvPicPr preferRelativeResize="0"/>
          <p:nvPr/>
        </p:nvPicPr>
        <p:blipFill rotWithShape="1">
          <a:blip r:embed="rId9">
            <a:alphaModFix/>
          </a:blip>
          <a:srcRect b="-179" l="0" r="0" t="-179"/>
          <a:stretch/>
        </p:blipFill>
        <p:spPr>
          <a:xfrm>
            <a:off x="812800" y="6223000"/>
            <a:ext cx="1016000" cy="2286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0E27"/>
        </a:solidFill>
      </p:bgPr>
    </p:bg>
    <p:spTree>
      <p:nvGrpSpPr>
        <p:cNvPr id="331" name="Shape 331"/>
        <p:cNvGrpSpPr/>
        <p:nvPr/>
      </p:nvGrpSpPr>
      <p:grpSpPr>
        <a:xfrm>
          <a:off x="0" y="0"/>
          <a:ext cx="0" cy="0"/>
          <a:chOff x="0" y="0"/>
          <a:chExt cx="0" cy="0"/>
        </a:xfrm>
      </p:grpSpPr>
      <p:pic>
        <p:nvPicPr>
          <p:cNvPr id="332" name="Google Shape;332;p21"/>
          <p:cNvPicPr preferRelativeResize="0"/>
          <p:nvPr/>
        </p:nvPicPr>
        <p:blipFill rotWithShape="1">
          <a:blip r:embed="rId3">
            <a:alphaModFix/>
          </a:blip>
          <a:srcRect b="0" l="87" r="87" t="0"/>
          <a:stretch/>
        </p:blipFill>
        <p:spPr>
          <a:xfrm>
            <a:off x="0" y="0"/>
            <a:ext cx="12192000" cy="6858000"/>
          </a:xfrm>
          <a:prstGeom prst="rect">
            <a:avLst/>
          </a:prstGeom>
          <a:noFill/>
          <a:ln>
            <a:noFill/>
          </a:ln>
        </p:spPr>
      </p:pic>
      <p:sp>
        <p:nvSpPr>
          <p:cNvPr id="333" name="Google Shape;333;p21"/>
          <p:cNvSpPr/>
          <p:nvPr/>
        </p:nvSpPr>
        <p:spPr>
          <a:xfrm>
            <a:off x="812800" y="1930499"/>
            <a:ext cx="6226500" cy="27420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98BFF"/>
              </a:buClr>
              <a:buSzPts val="1400"/>
              <a:buFont typeface="DM Mono"/>
              <a:buNone/>
            </a:pPr>
            <a:r>
              <a:rPr b="0" i="0" lang="en-US" sz="1400" u="none" cap="none" strike="noStrike">
                <a:solidFill>
                  <a:srgbClr val="B98BFF"/>
                </a:solidFill>
                <a:latin typeface="DM Mono"/>
                <a:ea typeface="DM Mono"/>
                <a:cs typeface="DM Mono"/>
                <a:sym typeface="DM Mono"/>
              </a:rPr>
              <a:t>C</a:t>
            </a:r>
            <a:r>
              <a:rPr lang="en-US">
                <a:solidFill>
                  <a:srgbClr val="B98BFF"/>
                </a:solidFill>
                <a:latin typeface="DM Mono"/>
                <a:ea typeface="DM Mono"/>
                <a:cs typeface="DM Mono"/>
                <a:sym typeface="DM Mono"/>
              </a:rPr>
              <a:t>ONNECT WITH US</a:t>
            </a:r>
            <a:endParaRPr b="0" i="0" sz="1400" u="none" cap="none" strike="noStrike">
              <a:solidFill>
                <a:schemeClr val="dk1"/>
              </a:solidFill>
              <a:latin typeface="Calibri"/>
              <a:ea typeface="Calibri"/>
              <a:cs typeface="Calibri"/>
              <a:sym typeface="Calibri"/>
            </a:endParaRPr>
          </a:p>
        </p:txBody>
      </p:sp>
      <p:sp>
        <p:nvSpPr>
          <p:cNvPr id="334" name="Google Shape;334;p21"/>
          <p:cNvSpPr/>
          <p:nvPr/>
        </p:nvSpPr>
        <p:spPr>
          <a:xfrm>
            <a:off x="812800" y="3383260"/>
            <a:ext cx="6226556" cy="751681"/>
          </a:xfrm>
          <a:prstGeom prst="rect">
            <a:avLst/>
          </a:prstGeom>
          <a:noFill/>
          <a:ln>
            <a:noFill/>
          </a:ln>
        </p:spPr>
        <p:txBody>
          <a:bodyPr anchorCtr="0" anchor="t" bIns="0" lIns="0" spcFirstLastPara="1" rIns="0" wrap="square" tIns="0">
            <a:noAutofit/>
          </a:bodyPr>
          <a:lstStyle/>
          <a:p>
            <a:pPr indent="0" lvl="0" marL="0" marR="0" rtl="0" algn="l">
              <a:lnSpc>
                <a:spcPct val="108333"/>
              </a:lnSpc>
              <a:spcBef>
                <a:spcPts val="0"/>
              </a:spcBef>
              <a:spcAft>
                <a:spcPts val="0"/>
              </a:spcAft>
              <a:buClr>
                <a:srgbClr val="C9C3DB"/>
              </a:buClr>
              <a:buSzPts val="2200"/>
              <a:buFont typeface="DM Sans"/>
              <a:buNone/>
            </a:pPr>
            <a:r>
              <a:t/>
            </a:r>
            <a:endParaRPr b="0" i="0" sz="2200" u="none" cap="none" strike="noStrike">
              <a:solidFill>
                <a:schemeClr val="dk1"/>
              </a:solidFill>
              <a:latin typeface="Calibri"/>
              <a:ea typeface="Calibri"/>
              <a:cs typeface="Calibri"/>
              <a:sym typeface="Calibri"/>
            </a:endParaRPr>
          </a:p>
        </p:txBody>
      </p:sp>
      <p:sp>
        <p:nvSpPr>
          <p:cNvPr id="335" name="Google Shape;335;p21"/>
          <p:cNvSpPr/>
          <p:nvPr/>
        </p:nvSpPr>
        <p:spPr>
          <a:xfrm>
            <a:off x="812800" y="4338141"/>
            <a:ext cx="6226556" cy="30986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98BFF"/>
              </a:buClr>
              <a:buSzPts val="1600"/>
              <a:buFont typeface="DM Sans"/>
              <a:buNone/>
            </a:pPr>
            <a:r>
              <a:rPr b="0" i="0" lang="en-US" sz="1600" u="none" cap="none" strike="noStrike">
                <a:solidFill>
                  <a:srgbClr val="B98BFF"/>
                </a:solidFill>
                <a:latin typeface="DM Sans"/>
                <a:ea typeface="DM Sans"/>
                <a:cs typeface="DM Sans"/>
                <a:sym typeface="DM Sans"/>
              </a:rPr>
              <a:t>Akshay Adsul · Kasun Talwatta · Solo.io</a:t>
            </a:r>
            <a:endParaRPr b="0" i="0" sz="1600" u="none" cap="none" strike="noStrike">
              <a:solidFill>
                <a:schemeClr val="dk1"/>
              </a:solidFill>
              <a:latin typeface="Calibri"/>
              <a:ea typeface="Calibri"/>
              <a:cs typeface="Calibri"/>
              <a:sym typeface="Calibri"/>
            </a:endParaRPr>
          </a:p>
        </p:txBody>
      </p:sp>
      <p:sp>
        <p:nvSpPr>
          <p:cNvPr id="336" name="Google Shape;336;p21"/>
          <p:cNvSpPr/>
          <p:nvPr/>
        </p:nvSpPr>
        <p:spPr>
          <a:xfrm>
            <a:off x="7670800" y="1268710"/>
            <a:ext cx="3606800" cy="3606800"/>
          </a:xfrm>
          <a:prstGeom prst="roundRect">
            <a:avLst>
              <a:gd fmla="val 4930" name="adj"/>
            </a:avLst>
          </a:prstGeom>
          <a:solidFill>
            <a:srgbClr val="FBFAFE"/>
          </a:solidFill>
          <a:ln>
            <a:noFill/>
          </a:ln>
          <a:effectLst>
            <a:outerShdw blurRad="508000" rotWithShape="0" algn="bl">
              <a:srgbClr val="8A3FFC">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1"/>
          <p:cNvSpPr/>
          <p:nvPr/>
        </p:nvSpPr>
        <p:spPr>
          <a:xfrm>
            <a:off x="8166546" y="5053310"/>
            <a:ext cx="2615208" cy="256480"/>
          </a:xfrm>
          <a:prstGeom prst="rect">
            <a:avLst/>
          </a:prstGeom>
          <a:noFill/>
          <a:ln>
            <a:noFill/>
          </a:ln>
        </p:spPr>
        <p:txBody>
          <a:bodyPr anchorCtr="0" anchor="t" bIns="0" lIns="0" spcFirstLastPara="1" rIns="0" wrap="square" tIns="0">
            <a:noAutofit/>
          </a:bodyPr>
          <a:lstStyle/>
          <a:p>
            <a:pPr indent="0" lvl="0" marL="0" marR="0" rtl="0" algn="ctr">
              <a:lnSpc>
                <a:spcPct val="116667"/>
              </a:lnSpc>
              <a:spcBef>
                <a:spcPts val="0"/>
              </a:spcBef>
              <a:spcAft>
                <a:spcPts val="0"/>
              </a:spcAft>
              <a:buClr>
                <a:srgbClr val="C9C3DB"/>
              </a:buClr>
              <a:buSzPts val="1300"/>
              <a:buFont typeface="DM Mono"/>
              <a:buNone/>
            </a:pPr>
            <a:r>
              <a:t/>
            </a:r>
            <a:endParaRPr b="0" i="0" sz="1300" u="none" cap="none" strike="noStrike">
              <a:solidFill>
                <a:schemeClr val="dk1"/>
              </a:solidFill>
              <a:latin typeface="Calibri"/>
              <a:ea typeface="Calibri"/>
              <a:cs typeface="Calibri"/>
              <a:sym typeface="Calibri"/>
            </a:endParaRPr>
          </a:p>
        </p:txBody>
      </p:sp>
      <p:pic>
        <p:nvPicPr>
          <p:cNvPr descr="Solo.io" id="338" name="Google Shape;338;p21"/>
          <p:cNvPicPr preferRelativeResize="0"/>
          <p:nvPr/>
        </p:nvPicPr>
        <p:blipFill rotWithShape="1">
          <a:blip r:embed="rId4">
            <a:alphaModFix/>
          </a:blip>
          <a:srcRect b="-179" l="0" r="0" t="-179"/>
          <a:stretch/>
        </p:blipFill>
        <p:spPr>
          <a:xfrm>
            <a:off x="812800" y="6223000"/>
            <a:ext cx="1016000" cy="228600"/>
          </a:xfrm>
          <a:prstGeom prst="rect">
            <a:avLst/>
          </a:prstGeom>
          <a:noFill/>
          <a:ln>
            <a:noFill/>
          </a:ln>
        </p:spPr>
      </p:pic>
      <p:pic>
        <p:nvPicPr>
          <p:cNvPr id="339" name="Google Shape;339;p21" title="PHOTO-2026-10-27-16-06-05.jpg"/>
          <p:cNvPicPr preferRelativeResize="0"/>
          <p:nvPr/>
        </p:nvPicPr>
        <p:blipFill>
          <a:blip r:embed="rId5">
            <a:alphaModFix/>
          </a:blip>
          <a:stretch>
            <a:fillRect/>
          </a:stretch>
        </p:blipFill>
        <p:spPr>
          <a:xfrm>
            <a:off x="5039025" y="0"/>
            <a:ext cx="7152976" cy="68579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0E27"/>
        </a:solidFill>
      </p:bgPr>
    </p:bg>
    <p:spTree>
      <p:nvGrpSpPr>
        <p:cNvPr id="344" name="Shape 344"/>
        <p:cNvGrpSpPr/>
        <p:nvPr/>
      </p:nvGrpSpPr>
      <p:grpSpPr>
        <a:xfrm>
          <a:off x="0" y="0"/>
          <a:ext cx="0" cy="0"/>
          <a:chOff x="0" y="0"/>
          <a:chExt cx="0" cy="0"/>
        </a:xfrm>
      </p:grpSpPr>
      <p:pic>
        <p:nvPicPr>
          <p:cNvPr id="345" name="Google Shape;345;p22"/>
          <p:cNvPicPr preferRelativeResize="0"/>
          <p:nvPr/>
        </p:nvPicPr>
        <p:blipFill rotWithShape="1">
          <a:blip r:embed="rId3">
            <a:alphaModFix/>
          </a:blip>
          <a:srcRect b="0" l="90" r="80" t="0"/>
          <a:stretch/>
        </p:blipFill>
        <p:spPr>
          <a:xfrm>
            <a:off x="0" y="0"/>
            <a:ext cx="12192000" cy="6857999"/>
          </a:xfrm>
          <a:prstGeom prst="rect">
            <a:avLst/>
          </a:prstGeom>
          <a:noFill/>
          <a:ln>
            <a:noFill/>
          </a:ln>
        </p:spPr>
      </p:pic>
      <p:sp>
        <p:nvSpPr>
          <p:cNvPr id="346" name="Google Shape;346;p22"/>
          <p:cNvSpPr/>
          <p:nvPr/>
        </p:nvSpPr>
        <p:spPr>
          <a:xfrm>
            <a:off x="812800" y="1930499"/>
            <a:ext cx="6226500" cy="27420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98BFF"/>
              </a:buClr>
              <a:buSzPts val="1400"/>
              <a:buFont typeface="DM Mono"/>
              <a:buNone/>
            </a:pPr>
            <a:r>
              <a:rPr b="0" i="0" lang="en-US" sz="1400" u="none" cap="none" strike="noStrike">
                <a:solidFill>
                  <a:srgbClr val="B98BFF"/>
                </a:solidFill>
                <a:latin typeface="DM Mono"/>
                <a:ea typeface="DM Mono"/>
                <a:cs typeface="DM Mono"/>
                <a:sym typeface="DM Mono"/>
              </a:rPr>
              <a:t>C</a:t>
            </a:r>
            <a:r>
              <a:rPr lang="en-US">
                <a:solidFill>
                  <a:srgbClr val="B98BFF"/>
                </a:solidFill>
                <a:latin typeface="DM Mono"/>
                <a:ea typeface="DM Mono"/>
                <a:cs typeface="DM Mono"/>
                <a:sym typeface="DM Mono"/>
              </a:rPr>
              <a:t>ONNECT WITH US</a:t>
            </a:r>
            <a:endParaRPr b="0" i="0" sz="1400" u="none" cap="none" strike="noStrike">
              <a:solidFill>
                <a:schemeClr val="dk1"/>
              </a:solidFill>
              <a:latin typeface="Calibri"/>
              <a:ea typeface="Calibri"/>
              <a:cs typeface="Calibri"/>
              <a:sym typeface="Calibri"/>
            </a:endParaRPr>
          </a:p>
        </p:txBody>
      </p:sp>
      <p:sp>
        <p:nvSpPr>
          <p:cNvPr id="347" name="Google Shape;347;p22"/>
          <p:cNvSpPr/>
          <p:nvPr/>
        </p:nvSpPr>
        <p:spPr>
          <a:xfrm>
            <a:off x="812800" y="3383260"/>
            <a:ext cx="6226500" cy="751800"/>
          </a:xfrm>
          <a:prstGeom prst="rect">
            <a:avLst/>
          </a:prstGeom>
          <a:noFill/>
          <a:ln>
            <a:noFill/>
          </a:ln>
        </p:spPr>
        <p:txBody>
          <a:bodyPr anchorCtr="0" anchor="t" bIns="0" lIns="0" spcFirstLastPara="1" rIns="0" wrap="square" tIns="0">
            <a:noAutofit/>
          </a:bodyPr>
          <a:lstStyle/>
          <a:p>
            <a:pPr indent="0" lvl="0" marL="0" marR="0" rtl="0" algn="l">
              <a:lnSpc>
                <a:spcPct val="108333"/>
              </a:lnSpc>
              <a:spcBef>
                <a:spcPts val="0"/>
              </a:spcBef>
              <a:spcAft>
                <a:spcPts val="0"/>
              </a:spcAft>
              <a:buClr>
                <a:srgbClr val="C9C3DB"/>
              </a:buClr>
              <a:buSzPts val="2200"/>
              <a:buFont typeface="DM Sans"/>
              <a:buNone/>
            </a:pPr>
            <a:r>
              <a:t/>
            </a:r>
            <a:endParaRPr b="0" i="0" sz="2200" u="none" cap="none" strike="noStrike">
              <a:solidFill>
                <a:schemeClr val="dk1"/>
              </a:solidFill>
              <a:latin typeface="Calibri"/>
              <a:ea typeface="Calibri"/>
              <a:cs typeface="Calibri"/>
              <a:sym typeface="Calibri"/>
            </a:endParaRPr>
          </a:p>
        </p:txBody>
      </p:sp>
      <p:sp>
        <p:nvSpPr>
          <p:cNvPr id="348" name="Google Shape;348;p22"/>
          <p:cNvSpPr/>
          <p:nvPr/>
        </p:nvSpPr>
        <p:spPr>
          <a:xfrm>
            <a:off x="812800" y="4338141"/>
            <a:ext cx="6226500" cy="30990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98BFF"/>
              </a:buClr>
              <a:buSzPts val="1600"/>
              <a:buFont typeface="DM Sans"/>
              <a:buNone/>
            </a:pPr>
            <a:r>
              <a:rPr b="0" i="0" lang="en-US" sz="1600" u="none" cap="none" strike="noStrike">
                <a:solidFill>
                  <a:srgbClr val="B98BFF"/>
                </a:solidFill>
                <a:latin typeface="DM Sans"/>
                <a:ea typeface="DM Sans"/>
                <a:cs typeface="DM Sans"/>
                <a:sym typeface="DM Sans"/>
              </a:rPr>
              <a:t>Akshay Adsul · Kasun Talwatta · Solo.io</a:t>
            </a:r>
            <a:endParaRPr b="0" i="0" sz="1600" u="none" cap="none" strike="noStrike">
              <a:solidFill>
                <a:schemeClr val="dk1"/>
              </a:solidFill>
              <a:latin typeface="Calibri"/>
              <a:ea typeface="Calibri"/>
              <a:cs typeface="Calibri"/>
              <a:sym typeface="Calibri"/>
            </a:endParaRPr>
          </a:p>
        </p:txBody>
      </p:sp>
      <p:sp>
        <p:nvSpPr>
          <p:cNvPr id="349" name="Google Shape;349;p22"/>
          <p:cNvSpPr/>
          <p:nvPr/>
        </p:nvSpPr>
        <p:spPr>
          <a:xfrm>
            <a:off x="7670800" y="1268710"/>
            <a:ext cx="3606900" cy="3606900"/>
          </a:xfrm>
          <a:prstGeom prst="roundRect">
            <a:avLst>
              <a:gd fmla="val 4930" name="adj"/>
            </a:avLst>
          </a:prstGeom>
          <a:solidFill>
            <a:srgbClr val="FBFAFE"/>
          </a:solidFill>
          <a:ln>
            <a:noFill/>
          </a:ln>
          <a:effectLst>
            <a:outerShdw blurRad="508000" rotWithShape="0" algn="bl">
              <a:srgbClr val="8A3FFC">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2"/>
          <p:cNvSpPr/>
          <p:nvPr/>
        </p:nvSpPr>
        <p:spPr>
          <a:xfrm>
            <a:off x="8166546" y="5053310"/>
            <a:ext cx="2615100" cy="256500"/>
          </a:xfrm>
          <a:prstGeom prst="rect">
            <a:avLst/>
          </a:prstGeom>
          <a:noFill/>
          <a:ln>
            <a:noFill/>
          </a:ln>
        </p:spPr>
        <p:txBody>
          <a:bodyPr anchorCtr="0" anchor="t" bIns="0" lIns="0" spcFirstLastPara="1" rIns="0" wrap="square" tIns="0">
            <a:noAutofit/>
          </a:bodyPr>
          <a:lstStyle/>
          <a:p>
            <a:pPr indent="0" lvl="0" marL="0" marR="0" rtl="0" algn="ctr">
              <a:lnSpc>
                <a:spcPct val="116667"/>
              </a:lnSpc>
              <a:spcBef>
                <a:spcPts val="0"/>
              </a:spcBef>
              <a:spcAft>
                <a:spcPts val="0"/>
              </a:spcAft>
              <a:buClr>
                <a:srgbClr val="C9C3DB"/>
              </a:buClr>
              <a:buSzPts val="1300"/>
              <a:buFont typeface="DM Mono"/>
              <a:buNone/>
            </a:pPr>
            <a:r>
              <a:t/>
            </a:r>
            <a:endParaRPr b="0" i="0" sz="1300" u="none" cap="none" strike="noStrike">
              <a:solidFill>
                <a:schemeClr val="dk1"/>
              </a:solidFill>
              <a:latin typeface="Calibri"/>
              <a:ea typeface="Calibri"/>
              <a:cs typeface="Calibri"/>
              <a:sym typeface="Calibri"/>
            </a:endParaRPr>
          </a:p>
        </p:txBody>
      </p:sp>
      <p:pic>
        <p:nvPicPr>
          <p:cNvPr descr="Solo.io" id="351" name="Google Shape;351;p22"/>
          <p:cNvPicPr preferRelativeResize="0"/>
          <p:nvPr/>
        </p:nvPicPr>
        <p:blipFill rotWithShape="1">
          <a:blip r:embed="rId4">
            <a:alphaModFix/>
          </a:blip>
          <a:srcRect b="-181" l="0" r="0" t="-181"/>
          <a:stretch/>
        </p:blipFill>
        <p:spPr>
          <a:xfrm>
            <a:off x="812800" y="6223000"/>
            <a:ext cx="1016000" cy="228600"/>
          </a:xfrm>
          <a:prstGeom prst="rect">
            <a:avLst/>
          </a:prstGeom>
          <a:noFill/>
          <a:ln>
            <a:noFill/>
          </a:ln>
        </p:spPr>
      </p:pic>
      <p:pic>
        <p:nvPicPr>
          <p:cNvPr id="352" name="Google Shape;352;p22" title="PHOTO-2026-10-27-16-19-38.jpg"/>
          <p:cNvPicPr preferRelativeResize="0"/>
          <p:nvPr/>
        </p:nvPicPr>
        <p:blipFill>
          <a:blip r:embed="rId5">
            <a:alphaModFix/>
          </a:blip>
          <a:stretch>
            <a:fillRect/>
          </a:stretch>
        </p:blipFill>
        <p:spPr>
          <a:xfrm>
            <a:off x="5039025" y="0"/>
            <a:ext cx="7152975" cy="68579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0E27"/>
        </a:solidFill>
      </p:bgPr>
    </p:bg>
    <p:spTree>
      <p:nvGrpSpPr>
        <p:cNvPr id="357" name="Shape 357"/>
        <p:cNvGrpSpPr/>
        <p:nvPr/>
      </p:nvGrpSpPr>
      <p:grpSpPr>
        <a:xfrm>
          <a:off x="0" y="0"/>
          <a:ext cx="0" cy="0"/>
          <a:chOff x="0" y="0"/>
          <a:chExt cx="0" cy="0"/>
        </a:xfrm>
      </p:grpSpPr>
      <p:pic>
        <p:nvPicPr>
          <p:cNvPr id="358" name="Google Shape;358;p23"/>
          <p:cNvPicPr preferRelativeResize="0"/>
          <p:nvPr/>
        </p:nvPicPr>
        <p:blipFill rotWithShape="1">
          <a:blip r:embed="rId3">
            <a:alphaModFix/>
          </a:blip>
          <a:srcRect b="0" l="90" r="80" t="0"/>
          <a:stretch/>
        </p:blipFill>
        <p:spPr>
          <a:xfrm>
            <a:off x="0" y="0"/>
            <a:ext cx="12192000" cy="6857999"/>
          </a:xfrm>
          <a:prstGeom prst="rect">
            <a:avLst/>
          </a:prstGeom>
          <a:noFill/>
          <a:ln>
            <a:noFill/>
          </a:ln>
        </p:spPr>
      </p:pic>
      <p:sp>
        <p:nvSpPr>
          <p:cNvPr id="359" name="Google Shape;359;p23"/>
          <p:cNvSpPr/>
          <p:nvPr/>
        </p:nvSpPr>
        <p:spPr>
          <a:xfrm>
            <a:off x="812800" y="1930499"/>
            <a:ext cx="6226500" cy="27420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98BFF"/>
              </a:buClr>
              <a:buSzPts val="1400"/>
              <a:buFont typeface="DM Mono"/>
              <a:buNone/>
            </a:pPr>
            <a:r>
              <a:rPr b="0" i="0" lang="en-US" sz="1400" u="none" cap="none" strike="noStrike">
                <a:solidFill>
                  <a:srgbClr val="B98BFF"/>
                </a:solidFill>
                <a:latin typeface="DM Mono"/>
                <a:ea typeface="DM Mono"/>
                <a:cs typeface="DM Mono"/>
                <a:sym typeface="DM Mono"/>
              </a:rPr>
              <a:t>FEEDBACK</a:t>
            </a:r>
            <a:endParaRPr b="0" i="0" sz="1400" u="none" cap="none" strike="noStrike">
              <a:solidFill>
                <a:schemeClr val="dk1"/>
              </a:solidFill>
              <a:latin typeface="Calibri"/>
              <a:ea typeface="Calibri"/>
              <a:cs typeface="Calibri"/>
              <a:sym typeface="Calibri"/>
            </a:endParaRPr>
          </a:p>
        </p:txBody>
      </p:sp>
      <p:sp>
        <p:nvSpPr>
          <p:cNvPr id="360" name="Google Shape;360;p23"/>
          <p:cNvSpPr/>
          <p:nvPr/>
        </p:nvSpPr>
        <p:spPr>
          <a:xfrm>
            <a:off x="812800" y="2407940"/>
            <a:ext cx="6226500" cy="772200"/>
          </a:xfrm>
          <a:prstGeom prst="rect">
            <a:avLst/>
          </a:prstGeom>
          <a:noFill/>
          <a:ln>
            <a:noFill/>
          </a:ln>
        </p:spPr>
        <p:txBody>
          <a:bodyPr anchorCtr="0" anchor="t" bIns="0" lIns="0" spcFirstLastPara="1" rIns="0" wrap="square" tIns="0">
            <a:noAutofit/>
          </a:bodyPr>
          <a:lstStyle/>
          <a:p>
            <a:pPr indent="0" lvl="0" marL="0" marR="0" rtl="0" algn="l">
              <a:lnSpc>
                <a:spcPct val="87500"/>
              </a:lnSpc>
              <a:spcBef>
                <a:spcPts val="0"/>
              </a:spcBef>
              <a:spcAft>
                <a:spcPts val="0"/>
              </a:spcAft>
              <a:buClr>
                <a:srgbClr val="F4F2FA"/>
              </a:buClr>
              <a:buSzPts val="5600"/>
              <a:buFont typeface="Figtree"/>
              <a:buNone/>
            </a:pPr>
            <a:r>
              <a:rPr b="0" i="0" lang="en-US" sz="5600" u="none" cap="none" strike="noStrike">
                <a:solidFill>
                  <a:srgbClr val="F4F2FA"/>
                </a:solidFill>
                <a:latin typeface="Figtree"/>
                <a:ea typeface="Figtree"/>
                <a:cs typeface="Figtree"/>
                <a:sym typeface="Figtree"/>
              </a:rPr>
              <a:t>How did we do?</a:t>
            </a:r>
            <a:endParaRPr b="0" i="0" sz="5600" u="none" cap="none" strike="noStrike">
              <a:solidFill>
                <a:schemeClr val="dk1"/>
              </a:solidFill>
              <a:latin typeface="Calibri"/>
              <a:ea typeface="Calibri"/>
              <a:cs typeface="Calibri"/>
              <a:sym typeface="Calibri"/>
            </a:endParaRPr>
          </a:p>
        </p:txBody>
      </p:sp>
      <p:sp>
        <p:nvSpPr>
          <p:cNvPr id="361" name="Google Shape;361;p23"/>
          <p:cNvSpPr/>
          <p:nvPr/>
        </p:nvSpPr>
        <p:spPr>
          <a:xfrm>
            <a:off x="812800" y="3383260"/>
            <a:ext cx="6226500" cy="751800"/>
          </a:xfrm>
          <a:prstGeom prst="rect">
            <a:avLst/>
          </a:prstGeom>
          <a:noFill/>
          <a:ln>
            <a:noFill/>
          </a:ln>
        </p:spPr>
        <p:txBody>
          <a:bodyPr anchorCtr="0" anchor="t" bIns="0" lIns="0" spcFirstLastPara="1" rIns="0" wrap="square" tIns="0">
            <a:noAutofit/>
          </a:bodyPr>
          <a:lstStyle/>
          <a:p>
            <a:pPr indent="0" lvl="0" marL="0" marR="0" rtl="0" algn="l">
              <a:lnSpc>
                <a:spcPct val="108333"/>
              </a:lnSpc>
              <a:spcBef>
                <a:spcPts val="0"/>
              </a:spcBef>
              <a:spcAft>
                <a:spcPts val="0"/>
              </a:spcAft>
              <a:buClr>
                <a:srgbClr val="C9C3DB"/>
              </a:buClr>
              <a:buSzPts val="2200"/>
              <a:buFont typeface="DM Sans"/>
              <a:buNone/>
            </a:pPr>
            <a:r>
              <a:rPr b="0" i="0" lang="en-US" sz="2200" u="none" cap="none" strike="noStrike">
                <a:solidFill>
                  <a:srgbClr val="C9C3DB"/>
                </a:solidFill>
                <a:latin typeface="DM Sans"/>
                <a:ea typeface="DM Sans"/>
                <a:cs typeface="DM Sans"/>
                <a:sym typeface="DM Sans"/>
              </a:rPr>
              <a:t>Scan the code and tell us. It takes a minute and costs zero tokens.</a:t>
            </a:r>
            <a:endParaRPr b="0" i="0" sz="2200" u="none" cap="none" strike="noStrike">
              <a:solidFill>
                <a:schemeClr val="dk1"/>
              </a:solidFill>
              <a:latin typeface="Calibri"/>
              <a:ea typeface="Calibri"/>
              <a:cs typeface="Calibri"/>
              <a:sym typeface="Calibri"/>
            </a:endParaRPr>
          </a:p>
        </p:txBody>
      </p:sp>
      <p:sp>
        <p:nvSpPr>
          <p:cNvPr id="362" name="Google Shape;362;p23"/>
          <p:cNvSpPr/>
          <p:nvPr/>
        </p:nvSpPr>
        <p:spPr>
          <a:xfrm>
            <a:off x="812800" y="4338141"/>
            <a:ext cx="6226500" cy="309900"/>
          </a:xfrm>
          <a:prstGeom prst="rect">
            <a:avLst/>
          </a:prstGeom>
          <a:noFill/>
          <a:ln>
            <a:noFill/>
          </a:ln>
        </p:spPr>
        <p:txBody>
          <a:bodyPr anchorCtr="0" anchor="t" bIns="0" lIns="0" spcFirstLastPara="1" rIns="0" wrap="square" tIns="0">
            <a:noAutofit/>
          </a:bodyPr>
          <a:lstStyle/>
          <a:p>
            <a:pPr indent="0" lvl="0" marL="0" marR="0" rtl="0" algn="l">
              <a:lnSpc>
                <a:spcPct val="116667"/>
              </a:lnSpc>
              <a:spcBef>
                <a:spcPts val="0"/>
              </a:spcBef>
              <a:spcAft>
                <a:spcPts val="0"/>
              </a:spcAft>
              <a:buClr>
                <a:srgbClr val="B98BFF"/>
              </a:buClr>
              <a:buSzPts val="1600"/>
              <a:buFont typeface="DM Sans"/>
              <a:buNone/>
            </a:pPr>
            <a:r>
              <a:rPr b="0" i="0" lang="en-US" sz="1600" u="none" cap="none" strike="noStrike">
                <a:solidFill>
                  <a:srgbClr val="B98BFF"/>
                </a:solidFill>
                <a:latin typeface="DM Sans"/>
                <a:ea typeface="DM Sans"/>
                <a:cs typeface="DM Sans"/>
                <a:sym typeface="DM Sans"/>
              </a:rPr>
              <a:t>Akshay Adsul · Kasun Talwatta · Solo.io</a:t>
            </a:r>
            <a:endParaRPr b="0" i="0" sz="1600" u="none" cap="none" strike="noStrike">
              <a:solidFill>
                <a:schemeClr val="dk1"/>
              </a:solidFill>
              <a:latin typeface="Calibri"/>
              <a:ea typeface="Calibri"/>
              <a:cs typeface="Calibri"/>
              <a:sym typeface="Calibri"/>
            </a:endParaRPr>
          </a:p>
        </p:txBody>
      </p:sp>
      <p:sp>
        <p:nvSpPr>
          <p:cNvPr id="363" name="Google Shape;363;p23"/>
          <p:cNvSpPr/>
          <p:nvPr/>
        </p:nvSpPr>
        <p:spPr>
          <a:xfrm>
            <a:off x="7670800" y="1268710"/>
            <a:ext cx="3606900" cy="3606900"/>
          </a:xfrm>
          <a:prstGeom prst="roundRect">
            <a:avLst>
              <a:gd fmla="val 4930" name="adj"/>
            </a:avLst>
          </a:prstGeom>
          <a:solidFill>
            <a:srgbClr val="FBFAFE"/>
          </a:solidFill>
          <a:ln>
            <a:noFill/>
          </a:ln>
          <a:effectLst>
            <a:outerShdw blurRad="508000" rotWithShape="0" algn="bl">
              <a:srgbClr val="8A3FFC">
                <a:alpha val="3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QR code linking to the talk feedback form" id="364" name="Google Shape;364;p23"/>
          <p:cNvPicPr preferRelativeResize="0"/>
          <p:nvPr/>
        </p:nvPicPr>
        <p:blipFill rotWithShape="1">
          <a:blip r:embed="rId4">
            <a:alphaModFix/>
          </a:blip>
          <a:srcRect b="0" l="0" r="0" t="0"/>
          <a:stretch/>
        </p:blipFill>
        <p:spPr>
          <a:xfrm>
            <a:off x="7950200" y="1548110"/>
            <a:ext cx="3048000" cy="3048000"/>
          </a:xfrm>
          <a:prstGeom prst="rect">
            <a:avLst/>
          </a:prstGeom>
          <a:noFill/>
          <a:ln>
            <a:noFill/>
          </a:ln>
        </p:spPr>
      </p:pic>
      <p:sp>
        <p:nvSpPr>
          <p:cNvPr id="365" name="Google Shape;365;p23"/>
          <p:cNvSpPr/>
          <p:nvPr/>
        </p:nvSpPr>
        <p:spPr>
          <a:xfrm>
            <a:off x="8166546" y="5053310"/>
            <a:ext cx="2615100" cy="256500"/>
          </a:xfrm>
          <a:prstGeom prst="rect">
            <a:avLst/>
          </a:prstGeom>
          <a:noFill/>
          <a:ln>
            <a:noFill/>
          </a:ln>
        </p:spPr>
        <p:txBody>
          <a:bodyPr anchorCtr="0" anchor="t" bIns="0" lIns="0" spcFirstLastPara="1" rIns="0" wrap="square" tIns="0">
            <a:noAutofit/>
          </a:bodyPr>
          <a:lstStyle/>
          <a:p>
            <a:pPr indent="0" lvl="0" marL="0" marR="0" rtl="0" algn="ctr">
              <a:lnSpc>
                <a:spcPct val="116667"/>
              </a:lnSpc>
              <a:spcBef>
                <a:spcPts val="0"/>
              </a:spcBef>
              <a:spcAft>
                <a:spcPts val="0"/>
              </a:spcAft>
              <a:buClr>
                <a:srgbClr val="C9C3DB"/>
              </a:buClr>
              <a:buSzPts val="1300"/>
              <a:buFont typeface="DM Mono"/>
              <a:buNone/>
            </a:pPr>
            <a:r>
              <a:rPr b="0" i="0" lang="en-US" sz="1300" u="none" cap="none" strike="noStrike">
                <a:solidFill>
                  <a:srgbClr val="C9C3DB"/>
                </a:solidFill>
                <a:latin typeface="DM Mono"/>
                <a:ea typeface="DM Mono"/>
                <a:cs typeface="DM Mono"/>
                <a:sym typeface="DM Mono"/>
              </a:rPr>
              <a:t>Scan to rate this talk</a:t>
            </a:r>
            <a:endParaRPr b="0" i="0" sz="1300" u="none" cap="none" strike="noStrike">
              <a:solidFill>
                <a:schemeClr val="dk1"/>
              </a:solidFill>
              <a:latin typeface="Calibri"/>
              <a:ea typeface="Calibri"/>
              <a:cs typeface="Calibri"/>
              <a:sym typeface="Calibri"/>
            </a:endParaRPr>
          </a:p>
        </p:txBody>
      </p:sp>
      <p:pic>
        <p:nvPicPr>
          <p:cNvPr descr="Solo.io" id="366" name="Google Shape;366;p23"/>
          <p:cNvPicPr preferRelativeResize="0"/>
          <p:nvPr/>
        </p:nvPicPr>
        <p:blipFill rotWithShape="1">
          <a:blip r:embed="rId5">
            <a:alphaModFix/>
          </a:blip>
          <a:srcRect b="-181" l="0" r="0" t="-181"/>
          <a:stretch/>
        </p:blipFill>
        <p:spPr>
          <a:xfrm>
            <a:off x="812800" y="6223000"/>
            <a:ext cx="1016000" cy="2286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